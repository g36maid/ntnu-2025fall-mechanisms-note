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8.xml" ContentType="application/vnd.openxmlformats-officedocument.theme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presProps.xml" ContentType="application/vnd.openxmlformats-officedocument.presentationml.presProps+xml"/>
  <Override PartName="/ppt/media/image29.emf" ContentType="image/x-emf"/>
  <Override PartName="/ppt/media/image27.png" ContentType="image/png"/>
  <Override PartName="/ppt/media/image25.emf" ContentType="image/x-emf"/>
  <Override PartName="/ppt/media/image24.emf" ContentType="image/x-emf"/>
  <Override PartName="/ppt/media/image1.jpeg" ContentType="image/jpeg"/>
  <Override PartName="/ppt/media/image3.png" ContentType="image/png"/>
  <Override PartName="/ppt/media/image35.png" ContentType="image/png"/>
  <Override PartName="/ppt/media/image23.wmf" ContentType="image/x-wmf"/>
  <Override PartName="/ppt/media/image9.jpeg" ContentType="image/jpeg"/>
  <Override PartName="/ppt/media/image28.png" ContentType="image/png"/>
  <Override PartName="/ppt/media/image4.wmf" ContentType="image/x-wmf"/>
  <Override PartName="/ppt/media/image38.png" ContentType="image/png"/>
  <Override PartName="/ppt/media/image50.png" ContentType="image/png"/>
  <Override PartName="/ppt/media/image11.png" ContentType="image/png"/>
  <Override PartName="/ppt/media/image6.jpeg" ContentType="image/jpeg"/>
  <Override PartName="/ppt/media/image18.png" ContentType="image/png"/>
  <Override PartName="/ppt/media/image40.png" ContentType="image/png"/>
  <Override PartName="/ppt/media/image14.png" ContentType="image/png"/>
  <Override PartName="/ppt/media/image15.png" ContentType="image/png"/>
  <Override PartName="/ppt/media/image44.png" ContentType="image/png"/>
  <Override PartName="/ppt/media/image36.png" ContentType="image/png"/>
  <Override PartName="/ppt/media/image21.png" ContentType="image/png"/>
  <Override PartName="/ppt/media/image10.jpeg" ContentType="image/jpeg"/>
  <Override PartName="/ppt/media/image45.png" ContentType="image/png"/>
  <Override PartName="/ppt/media/image37.png" ContentType="image/png"/>
  <Override PartName="/ppt/media/image8.jpeg" ContentType="image/jpeg"/>
  <Override PartName="/ppt/media/image47.wmf" ContentType="image/x-wmf"/>
  <Override PartName="/ppt/media/image48.jpeg" ContentType="image/jpeg"/>
  <Override PartName="/ppt/media/image17.png" ContentType="image/png"/>
  <Override PartName="/ppt/media/image54.jpeg" ContentType="image/jpeg"/>
  <Override PartName="/ppt/media/image20.png" ContentType="image/png"/>
  <Override PartName="/ppt/media/image52.png" ContentType="image/png"/>
  <Override PartName="/ppt/media/image39.png" ContentType="image/png"/>
  <Override PartName="/ppt/media/image34.emf" ContentType="image/x-emf"/>
  <Override PartName="/ppt/media/image30.emf" ContentType="image/x-emf"/>
  <Override PartName="/ppt/media/image2.png" ContentType="image/png"/>
  <Override PartName="/ppt/media/image41.png" ContentType="image/png"/>
  <Override PartName="/ppt/media/image49.png" ContentType="image/png"/>
  <Override PartName="/ppt/media/image26.emf" ContentType="image/x-emf"/>
  <Override PartName="/ppt/media/image5.jpeg" ContentType="image/jpeg"/>
  <Override PartName="/ppt/media/image46.png" ContentType="image/png"/>
  <Override PartName="/ppt/media/image43.png" ContentType="image/png"/>
  <Override PartName="/ppt/media/image53.wmf" ContentType="image/x-wmf"/>
  <Override PartName="/ppt/media/image33.png" ContentType="image/png"/>
  <Override PartName="/ppt/media/image19.png" ContentType="image/png"/>
  <Override PartName="/ppt/media/image22.jpeg" ContentType="image/jpeg"/>
  <Override PartName="/ppt/media/image7.jpeg" ContentType="image/jpeg"/>
  <Override PartName="/ppt/media/image31.png" ContentType="image/png"/>
  <Override PartName="/ppt/media/image13.gif" ContentType="image/gif"/>
  <Override PartName="/ppt/media/image32.png" ContentType="image/png"/>
  <Override PartName="/ppt/media/image16.png" ContentType="image/png"/>
  <Override PartName="/ppt/media/image42.png" ContentType="image/png"/>
  <Override PartName="/ppt/media/image51.png" ContentType="image/png"/>
  <Override PartName="/ppt/media/image12.gif" ContentType="image/gif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presentation.xml" ContentType="application/vnd.openxmlformats-officedocument.presentationml.presentation.main+xml"/>
  <Override PartName="/ppt/embeddings/oleObject1.bin" ContentType="application/vnd.openxmlformats-officedocument.oleObject"/>
  <Override PartName="/ppt/slides/slide29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7.xml" ContentType="application/vnd.openxmlformats-officedocument.presentationml.slide+xml"/>
  <Override PartName="/ppt/slides/slide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7.xml" ContentType="application/vnd.openxmlformats-officedocument.presentationml.slide+xml"/>
  <Override PartName="/ppt/slides/slide9.xml" ContentType="application/vnd.openxmlformats-officedocument.presentationml.slide+xml"/>
  <Override PartName="/ppt/slides/slide3.xml" ContentType="application/vnd.openxmlformats-officedocument.presentationml.slide+xml"/>
  <Override PartName="/ppt/slides/slide34.xml" ContentType="application/vnd.openxmlformats-officedocument.presentationml.slide+xml"/>
  <Override PartName="/ppt/slides/slide36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38.xml" ContentType="application/vnd.openxmlformats-officedocument.presentationml.slide+xml"/>
  <Override PartName="/ppt/slides/slide18.xml" ContentType="application/vnd.openxmlformats-officedocument.presentationml.slide+xml"/>
  <Override PartName="/ppt/slides/slide41.xml" ContentType="application/vnd.openxmlformats-officedocument.presentationml.slide+xml"/>
  <Override PartName="/ppt/slides/slide4.xml" ContentType="application/vnd.openxmlformats-officedocument.presentationml.slide+xml"/>
  <Override PartName="/ppt/slides/slide37.xml" ContentType="application/vnd.openxmlformats-officedocument.presentationml.slide+xml"/>
  <Override PartName="/ppt/slides/slide16.xml" ContentType="application/vnd.openxmlformats-officedocument.presentationml.slide+xml"/>
  <Override PartName="/ppt/slides/slide40.xml" ContentType="application/vnd.openxmlformats-officedocument.presentationml.slide+xml"/>
  <Override PartName="/ppt/slides/slide2.xml" ContentType="application/vnd.openxmlformats-officedocument.presentationml.slide+xml"/>
  <Override PartName="/ppt/slides/slide23.xml" ContentType="application/vnd.openxmlformats-officedocument.presentationml.slide+xml"/>
  <Override PartName="/ppt/slides/slide5.xml" ContentType="application/vnd.openxmlformats-officedocument.presentationml.slide+xml"/>
  <Override PartName="/ppt/slides/slide20.xml" ContentType="application/vnd.openxmlformats-officedocument.presentationml.slide+xml"/>
  <Override PartName="/ppt/slides/slide27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32.xml" ContentType="application/vnd.openxmlformats-officedocument.presentationml.slide+xml"/>
  <Override PartName="/ppt/slides/_rels/slide3.xml.rels" ContentType="application/vnd.openxmlformats-package.relationships+xml"/>
  <Override PartName="/ppt/slides/_rels/slide18.xml.rels" ContentType="application/vnd.openxmlformats-package.relationships+xml"/>
  <Override PartName="/ppt/slides/_rels/slide12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19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13.xml.rels" ContentType="application/vnd.openxmlformats-package.relationships+xml"/>
  <Override PartName="/ppt/slides/_rels/slide25.xml.rels" ContentType="application/vnd.openxmlformats-package.relationships+xml"/>
  <Override PartName="/ppt/slides/_rels/slide20.xml.rels" ContentType="application/vnd.openxmlformats-package.relationships+xml"/>
  <Override PartName="/ppt/slides/_rels/slide34.xml.rels" ContentType="application/vnd.openxmlformats-package.relationships+xml"/>
  <Override PartName="/ppt/slides/_rels/slide9.xml.rels" ContentType="application/vnd.openxmlformats-package.relationships+xml"/>
  <Override PartName="/ppt/slides/_rels/slide26.xml.rels" ContentType="application/vnd.openxmlformats-package.relationships+xml"/>
  <Override PartName="/ppt/slides/_rels/slide1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_rels/slide15.xml.rels" ContentType="application/vnd.openxmlformats-package.relationships+xml"/>
  <Override PartName="/ppt/slides/_rels/slide22.xml.rels" ContentType="application/vnd.openxmlformats-package.relationships+xml"/>
  <Override PartName="/ppt/slides/_rels/slide28.xml.rels" ContentType="application/vnd.openxmlformats-package.relationships+xml"/>
  <Override PartName="/ppt/slides/_rels/slide17.xml.rels" ContentType="application/vnd.openxmlformats-package.relationships+xml"/>
  <Override PartName="/ppt/slides/_rels/slide8.xml.rels" ContentType="application/vnd.openxmlformats-package.relationships+xml"/>
  <Override PartName="/ppt/slides/_rels/slide1.xml.rels" ContentType="application/vnd.openxmlformats-package.relationships+xml"/>
  <Override PartName="/ppt/slides/_rels/slide14.xml.rels" ContentType="application/vnd.openxmlformats-package.relationships+xml"/>
  <Override PartName="/ppt/slides/_rels/slide29.xml.rels" ContentType="application/vnd.openxmlformats-package.relationships+xml"/>
  <Override PartName="/ppt/slides/_rels/slide24.xml.rels" ContentType="application/vnd.openxmlformats-package.relationships+xml"/>
  <Override PartName="/ppt/slides/_rels/slide39.xml.rels" ContentType="application/vnd.openxmlformats-package.relationships+xml"/>
  <Override PartName="/ppt/slides/_rels/slide35.xml.rels" ContentType="application/vnd.openxmlformats-package.relationships+xml"/>
  <Override PartName="/ppt/slides/_rels/slide36.xml.rels" ContentType="application/vnd.openxmlformats-package.relationships+xml"/>
  <Override PartName="/ppt/slides/_rels/slide10.xml.rels" ContentType="application/vnd.openxmlformats-package.relationships+xml"/>
  <Override PartName="/ppt/slides/_rels/slide37.xml.rels" ContentType="application/vnd.openxmlformats-package.relationships+xml"/>
  <Override PartName="/ppt/slides/_rels/slide27.xml.rels" ContentType="application/vnd.openxmlformats-package.relationships+xml"/>
  <Override PartName="/ppt/slides/_rels/slide38.xml.rels" ContentType="application/vnd.openxmlformats-package.relationships+xml"/>
  <Override PartName="/ppt/slides/_rels/slide41.xml.rels" ContentType="application/vnd.openxmlformats-package.relationships+xml"/>
  <Override PartName="/ppt/slides/_rels/slide43.xml.rels" ContentType="application/vnd.openxmlformats-package.relationships+xml"/>
  <Override PartName="/ppt/slides/_rels/slide44.xml.rels" ContentType="application/vnd.openxmlformats-package.relationships+xml"/>
  <Override PartName="/ppt/slides/_rels/slide40.xml.rels" ContentType="application/vnd.openxmlformats-package.relationships+xml"/>
  <Override PartName="/ppt/slides/_rels/slide33.xml.rels" ContentType="application/vnd.openxmlformats-package.relationships+xml"/>
  <Override PartName="/ppt/slides/_rels/slide45.xml.rels" ContentType="application/vnd.openxmlformats-package.relationships+xml"/>
  <Override PartName="/ppt/slides/_rels/slide32.xml.rels" ContentType="application/vnd.openxmlformats-package.relationships+xml"/>
  <Override PartName="/ppt/slides/_rels/slide7.xml.rels" ContentType="application/vnd.openxmlformats-package.relationships+xml"/>
  <Override PartName="/ppt/slides/_rels/slide42.xml.rels" ContentType="application/vnd.openxmlformats-package.relationships+xml"/>
  <Override PartName="/ppt/slides/_rels/slide31.xml.rels" ContentType="application/vnd.openxmlformats-package.relationships+xml"/>
  <Override PartName="/ppt/slides/_rels/slide23.xml.rels" ContentType="application/vnd.openxmlformats-package.relationships+xml"/>
  <Override PartName="/ppt/slides/_rels/slide30.xml.rels" ContentType="application/vnd.openxmlformats-package.relationships+xml"/>
  <Override PartName="/ppt/slides/slide39.xml" ContentType="application/vnd.openxmlformats-officedocument.presentationml.slide+xml"/>
  <Override PartName="/ppt/slides/slide31.xml" ContentType="application/vnd.openxmlformats-officedocument.presentationml.slide+xml"/>
  <Override PartName="/ppt/slides/slide30.xml" ContentType="application/vnd.openxmlformats-officedocument.presentationml.slide+xml"/>
  <Override PartName="/ppt/slides/slide22.xml" ContentType="application/vnd.openxmlformats-officedocument.presentationml.slide+xml"/>
  <Override PartName="/ppt/slides/slide25.xml" ContentType="application/vnd.openxmlformats-officedocument.presentationml.slide+xml"/>
  <Override PartName="/ppt/slides/slide21.xml" ContentType="application/vnd.openxmlformats-officedocument.presentationml.slide+xml"/>
  <Override PartName="/ppt/slides/slide24.xml" ContentType="application/vnd.openxmlformats-officedocument.presentationml.slide+xml"/>
  <Override PartName="/ppt/slides/slide19.xml" ContentType="application/vnd.openxmlformats-officedocument.presentationml.slide+xml"/>
  <Override PartName="/ppt/slides/slide13.xml" ContentType="application/vnd.openxmlformats-officedocument.presentationml.slide+xml"/>
  <Override PartName="/ppt/slides/slide45.xml" ContentType="application/vnd.openxmlformats-officedocument.presentationml.slide+xml"/>
  <Override PartName="/ppt/slides/slide11.xml" ContentType="application/vnd.openxmlformats-officedocument.presentationml.slide+xml"/>
  <Override PartName="/ppt/slides/slide28.xml" ContentType="application/vnd.openxmlformats-officedocument.presentationml.slide+xml"/>
  <Override PartName="/ppt/slides/slide42.xml" ContentType="application/vnd.openxmlformats-officedocument.presentationml.slide+xml"/>
  <Override PartName="/ppt/slides/slide12.xml" ContentType="application/vnd.openxmlformats-officedocument.presentationml.slide+xml"/>
  <Override PartName="/ppt/notesSlides/_rels/notesSlide14.xml.rels" ContentType="application/vnd.openxmlformats-package.relationships+xml"/>
  <Override PartName="/ppt/notesSlides/notesSlide14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8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"/>
          <p:cNvSpPr/>
          <p:nvPr/>
        </p:nvSpPr>
        <p:spPr>
          <a:xfrm>
            <a:off x="0" y="0"/>
            <a:ext cx="6858000" cy="9144000"/>
          </a:xfrm>
          <a:prstGeom prst="rect">
            <a:avLst/>
          </a:prstGeom>
          <a:solidFill>
            <a:srgbClr val="ffffff"/>
          </a:solidFill>
          <a:ln w="9360">
            <a:noFill/>
          </a:ln>
        </p:spPr>
        <p:txBody>
          <a:bodyPr lIns="90000" rIns="90000" tIns="45000" bIns="45000" anchor="ctr" anchorCtr="1">
            <a:noAutofit/>
          </a:bodyPr>
          <a:p>
            <a:endParaRPr b="1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"/>
          <p:cNvSpPr/>
          <p:nvPr/>
        </p:nvSpPr>
        <p:spPr>
          <a:xfrm>
            <a:off x="0" y="0"/>
            <a:ext cx="6858000" cy="9144000"/>
          </a:xfrm>
          <a:custGeom>
            <a:avLst/>
            <a:gdLst>
              <a:gd name="textAreaLeft" fmla="*/ 360 w 6858000"/>
              <a:gd name="textAreaRight" fmla="*/ 6857640 w 6858000"/>
              <a:gd name="textAreaTop" fmla="*/ 360 h 9144000"/>
              <a:gd name="textAreaBottom" fmla="*/ 9143640 h 9144000"/>
            </a:gdLst>
            <a:ahLst/>
            <a:cxnLst/>
            <a:rect l="textAreaLeft" t="textAreaTop" r="textAreaRight" b="textAreaBottom"/>
            <a:pathLst>
              <a:path w="21600" h="28800">
                <a:moveTo>
                  <a:pt x="5" y="0"/>
                </a:moveTo>
                <a:arcTo wR="5" hR="5" stAng="16200000" swAng="-5400000"/>
                <a:lnTo>
                  <a:pt x="0" y="28795"/>
                </a:lnTo>
                <a:arcTo wR="5" hR="5" stAng="10800000" swAng="-5400000"/>
                <a:lnTo>
                  <a:pt x="21595" y="28800"/>
                </a:lnTo>
                <a:arcTo wR="5" hR="5" stAng="5400000" swAng="-5400000"/>
                <a:lnTo>
                  <a:pt x="21600" y="5"/>
                </a:lnTo>
                <a:arcTo wR="5" hR="5" stAng="0" swAng="-5400000"/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1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"/>
          <p:cNvSpPr/>
          <p:nvPr/>
        </p:nvSpPr>
        <p:spPr>
          <a:xfrm>
            <a:off x="0" y="0"/>
            <a:ext cx="2971800" cy="45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1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1"/>
          <p:cNvSpPr>
            <a:spLocks noGrp="1"/>
          </p:cNvSpPr>
          <p:nvPr>
            <p:ph type="dt" idx="4"/>
          </p:nvPr>
        </p:nvSpPr>
        <p:spPr>
          <a:xfrm>
            <a:off x="3884760" y="0"/>
            <a:ext cx="29700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  <a:defRPr b="1" lang="zh-TW" sz="12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zh-TW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&lt;date/time&gt;</a:t>
            </a:r>
            <a:endParaRPr b="1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ldImg"/>
          </p:nvPr>
        </p:nvSpPr>
        <p:spPr>
          <a:xfrm>
            <a:off x="1371600" y="1143000"/>
            <a:ext cx="4113360" cy="3084480"/>
          </a:xfrm>
          <a:prstGeom prst="rect">
            <a:avLst/>
          </a:prstGeom>
          <a:noFill/>
          <a:ln w="12600">
            <a:solidFill>
              <a:srgbClr val="000000"/>
            </a:solidFill>
            <a:miter/>
          </a:ln>
        </p:spPr>
        <p:txBody>
          <a:bodyPr lIns="90000" rIns="90000" tIns="46800" bIns="46800" anchor="ctr">
            <a:noAutofit/>
          </a:bodyPr>
          <a:p>
            <a:pPr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4300" strike="noStrike" u="none">
                <a:solidFill>
                  <a:srgbClr val="572314"/>
                </a:solidFill>
                <a:effectLst/>
                <a:uFillTx/>
                <a:latin typeface="Gill Sans MT"/>
              </a:rPr>
              <a:t>Click to move the slide</a:t>
            </a:r>
            <a:endParaRPr b="0" lang="en-US" sz="4300" strike="noStrike" u="none">
              <a:solidFill>
                <a:srgbClr val="572314"/>
              </a:solidFill>
              <a:effectLst/>
              <a:uFillTx/>
              <a:latin typeface="Gill Sans MT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body"/>
          </p:nvPr>
        </p:nvSpPr>
        <p:spPr>
          <a:xfrm>
            <a:off x="685800" y="440028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Click to edit the notes format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"/>
          <p:cNvSpPr/>
          <p:nvPr/>
        </p:nvSpPr>
        <p:spPr>
          <a:xfrm>
            <a:off x="0" y="8685360"/>
            <a:ext cx="2971800" cy="45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1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00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r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  <a:defRPr b="1" lang="zh-TW" sz="12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fld id="{DE6CD450-E7A7-4308-8AAD-CBB2B5B2ABC8}" type="slidenum">
              <a:rPr b="1" lang="zh-TW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b="1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"/>
          <p:cNvSpPr/>
          <p:nvPr/>
        </p:nvSpPr>
        <p:spPr>
          <a:xfrm>
            <a:off x="3884760" y="8685360"/>
            <a:ext cx="2971800" cy="45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fld id="{A6550647-C6D2-4AE4-877A-A3F294912EE9}" type="slidenum">
              <a:rPr b="1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b="1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PlaceHolder 1"/>
          <p:cNvSpPr>
            <a:spLocks noGrp="1"/>
          </p:cNvSpPr>
          <p:nvPr>
            <p:ph type="sldImg"/>
          </p:nvPr>
        </p:nvSpPr>
        <p:spPr>
          <a:xfrm>
            <a:off x="1371600" y="1143000"/>
            <a:ext cx="4114800" cy="3086280"/>
          </a:xfrm>
          <a:prstGeom prst="rect">
            <a:avLst/>
          </a:prstGeom>
          <a:ln w="0">
            <a:noFill/>
          </a:ln>
        </p:spPr>
      </p:sp>
      <p:sp>
        <p:nvSpPr>
          <p:cNvPr id="252" name="PlaceHolder 2"/>
          <p:cNvSpPr>
            <a:spLocks noGrp="1"/>
          </p:cNvSpPr>
          <p:nvPr>
            <p:ph type="body"/>
          </p:nvPr>
        </p:nvSpPr>
        <p:spPr>
          <a:xfrm>
            <a:off x="685800" y="4400280"/>
            <a:ext cx="5486400" cy="3600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pn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-816120" y="-816120"/>
            <a:ext cx="1638360" cy="1638360"/>
          </a:xfrm>
          <a:custGeom>
            <a:avLst/>
            <a:gdLst>
              <a:gd name="GluePoint1X" fmla="*/ 1638300 w 1638300"/>
              <a:gd name="GluePoint1Y" fmla="*/ 819150 h 1638300"/>
              <a:gd name="GluePoint2X" fmla="*/ 1398198 w 1638300"/>
              <a:gd name="GluePoint2Y" fmla="*/ 1398555 h 1638300"/>
              <a:gd name="GluePoint3X" fmla="*/ 818645 w 1638300"/>
              <a:gd name="GluePoint3Y" fmla="*/ 1638300 h 1638300"/>
              <a:gd name="GluePoint4X" fmla="*/ 819150 w 1638300"/>
              <a:gd name="GluePoint4Y" fmla="*/ 819150 h 1638300"/>
              <a:gd name="GluePoint5X" fmla="*/ 1638300 w 1638300"/>
              <a:gd name="GluePoint5Y" fmla="*/ 819150 h 16383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l" t="t" r="r" b="b"/>
            <a:pathLst>
              <a:path w="1638300" h="1638300">
                <a:moveTo>
                  <a:pt x="1638300" y="819150"/>
                </a:moveTo>
                <a:cubicBezTo>
                  <a:pt x="1638300" y="1036490"/>
                  <a:pt x="1551928" y="1244920"/>
                  <a:pt x="1398198" y="1398555"/>
                </a:cubicBezTo>
                <a:cubicBezTo>
                  <a:pt x="1244468" y="1552190"/>
                  <a:pt x="1035985" y="1638434"/>
                  <a:pt x="818645" y="1638300"/>
                </a:cubicBezTo>
                <a:cubicBezTo>
                  <a:pt x="818813" y="1365250"/>
                  <a:pt x="818982" y="1092200"/>
                  <a:pt x="819150" y="819150"/>
                </a:cubicBezTo>
                <a:lnTo>
                  <a:pt x="1638300" y="819150"/>
                </a:lnTo>
                <a:close/>
              </a:path>
            </a:pathLst>
          </a:custGeom>
          <a:solidFill>
            <a:srgbClr val="fefaf4">
              <a:alpha val="33000"/>
            </a:srgbClr>
          </a:solidFill>
          <a:ln cap="rnd" w="3240">
            <a:solidFill>
              <a:srgbClr val="d2c39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1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"/>
          <p:cNvSpPr/>
          <p:nvPr/>
        </p:nvSpPr>
        <p:spPr>
          <a:xfrm>
            <a:off x="168120" y="20520"/>
            <a:ext cx="1703520" cy="1703520"/>
          </a:xfrm>
          <a:prstGeom prst="ellipse">
            <a:avLst/>
          </a:prstGeom>
          <a:noFill/>
          <a:ln cap="rnd" w="27360">
            <a:solidFill>
              <a:srgbClr val="fff6db"/>
            </a:solidFill>
            <a:miter/>
          </a:ln>
          <a:effectLst>
            <a:outerShdw dist="12600" dir="5400000" blurRad="0" rotWithShape="0">
              <a:srgbClr val="afa58d">
                <a:alpha val="8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1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4" name=""/>
          <p:cNvGrpSpPr/>
          <p:nvPr/>
        </p:nvGrpSpPr>
        <p:grpSpPr>
          <a:xfrm>
            <a:off x="171360" y="1042920"/>
            <a:ext cx="1155960" cy="1149480"/>
            <a:chOff x="171360" y="1042920"/>
            <a:chExt cx="1155960" cy="1149480"/>
          </a:xfrm>
        </p:grpSpPr>
        <p:pic>
          <p:nvPicPr>
            <p:cNvPr id="5" name="" descr=""/>
            <p:cNvPicPr/>
            <p:nvPr/>
          </p:nvPicPr>
          <p:blipFill>
            <a:blip r:embed="rId3"/>
            <a:stretch/>
          </p:blipFill>
          <p:spPr>
            <a:xfrm>
              <a:off x="171360" y="1042920"/>
              <a:ext cx="1155960" cy="11494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6" name=""/>
            <p:cNvSpPr/>
            <p:nvPr/>
          </p:nvSpPr>
          <p:spPr>
            <a:xfrm rot="2340000">
              <a:off x="348840" y="1216080"/>
              <a:ext cx="793800" cy="777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1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" name=""/>
          <p:cNvSpPr/>
          <p:nvPr/>
        </p:nvSpPr>
        <p:spPr>
          <a:xfrm>
            <a:off x="1012680" y="0"/>
            <a:ext cx="8131320" cy="6858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1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1434960" y="274680"/>
            <a:ext cx="7498080" cy="114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4300" strike="noStrike" u="none">
                <a:solidFill>
                  <a:srgbClr val="572314"/>
                </a:solidFill>
                <a:effectLst/>
                <a:uFillTx/>
                <a:latin typeface="Gill Sans MT"/>
              </a:rPr>
              <a:t>Click to edit the title text format</a:t>
            </a:r>
            <a:endParaRPr b="0" lang="en-US" sz="4300" strike="noStrike" u="none">
              <a:solidFill>
                <a:srgbClr val="572314"/>
              </a:solidFill>
              <a:effectLst/>
              <a:uFillTx/>
              <a:latin typeface="Gill Sans MT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1434960" y="1447920"/>
            <a:ext cx="7498080" cy="479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612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Gill Sans MT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Gill Sans MT"/>
            </a:endParaRPr>
          </a:p>
          <a:p>
            <a:pPr lvl="1" marL="343080" indent="-343080">
              <a:spcBef>
                <a:spcPts val="612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–"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Gill Sans MT"/>
              </a:rPr>
              <a:t>Second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Gill Sans MT"/>
            </a:endParaRPr>
          </a:p>
          <a:p>
            <a:pPr lvl="2" marL="343080" indent="-343080">
              <a:spcBef>
                <a:spcPts val="612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•"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Gill Sans MT"/>
              </a:rPr>
              <a:t>Third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Gill Sans MT"/>
            </a:endParaRPr>
          </a:p>
          <a:p>
            <a:pPr lvl="3" marL="343080" indent="-343080">
              <a:spcBef>
                <a:spcPts val="612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–"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Gill Sans MT"/>
              </a:rPr>
              <a:t>Fourth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Gill Sans MT"/>
            </a:endParaRPr>
          </a:p>
          <a:p>
            <a:pPr lvl="4" marL="343080" indent="-343080">
              <a:spcBef>
                <a:spcPts val="612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»"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Gill Sans MT"/>
              </a:rPr>
              <a:t>Fifth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Gill Sans MT"/>
            </a:endParaRPr>
          </a:p>
          <a:p>
            <a:pPr lvl="5" marL="343080" indent="-343080">
              <a:spcBef>
                <a:spcPts val="612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»"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Gill Sans MT"/>
              </a:rPr>
              <a:t>Sixth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Gill Sans MT"/>
            </a:endParaRPr>
          </a:p>
          <a:p>
            <a:pPr lvl="6" marL="343080" indent="-343080">
              <a:spcBef>
                <a:spcPts val="612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»"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Gill Sans MT"/>
              </a:rPr>
              <a:t>Seventh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Gill Sans MT"/>
            </a:endParaRPr>
          </a:p>
        </p:txBody>
      </p:sp>
      <p:sp>
        <p:nvSpPr>
          <p:cNvPr id="10" name=""/>
          <p:cNvSpPr/>
          <p:nvPr/>
        </p:nvSpPr>
        <p:spPr>
          <a:xfrm>
            <a:off x="3581280" y="6305400"/>
            <a:ext cx="2133720" cy="47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1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"/>
          <p:cNvSpPr/>
          <p:nvPr/>
        </p:nvSpPr>
        <p:spPr>
          <a:xfrm>
            <a:off x="5715000" y="6305400"/>
            <a:ext cx="2895480" cy="47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1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sldNum" idx="1"/>
          </p:nvPr>
        </p:nvSpPr>
        <p:spPr>
          <a:xfrm>
            <a:off x="8613720" y="6305040"/>
            <a:ext cx="455760" cy="474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ctr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  <a:defRPr b="1" lang="en-US" sz="1200" strike="noStrike" u="none">
                <a:solidFill>
                  <a:srgbClr val="b5a788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fld id="{484E15E5-AEE0-45CE-BCCF-2E00A5D90DC9}" type="slidenum">
              <a:rPr b="1" lang="en-US" sz="1200" strike="noStrike" u="none">
                <a:solidFill>
                  <a:srgbClr val="b5a788"/>
                </a:solidFill>
                <a:effectLst/>
                <a:uFillTx/>
                <a:latin typeface="Arial"/>
              </a:rPr>
              <a:t>&lt;number&gt;</a:t>
            </a:fld>
            <a:endParaRPr b="1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"/>
          <p:cNvSpPr/>
          <p:nvPr/>
        </p:nvSpPr>
        <p:spPr>
          <a:xfrm>
            <a:off x="1014480" y="0"/>
            <a:ext cx="73080" cy="68580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dist="38160" dir="10800000" blurRad="0" rotWithShape="0">
              <a:srgbClr val="706b5f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1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1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"/>
          <p:cNvSpPr/>
          <p:nvPr/>
        </p:nvSpPr>
        <p:spPr>
          <a:xfrm>
            <a:off x="-816120" y="-816120"/>
            <a:ext cx="1638360" cy="1638360"/>
          </a:xfrm>
          <a:custGeom>
            <a:avLst/>
            <a:gdLst>
              <a:gd name="GluePoint1X" fmla="*/ 1638300 w 1638300"/>
              <a:gd name="GluePoint1Y" fmla="*/ 819150 h 1638300"/>
              <a:gd name="GluePoint2X" fmla="*/ 1398198 w 1638300"/>
              <a:gd name="GluePoint2Y" fmla="*/ 1398555 h 1638300"/>
              <a:gd name="GluePoint3X" fmla="*/ 818645 w 1638300"/>
              <a:gd name="GluePoint3Y" fmla="*/ 1638300 h 1638300"/>
              <a:gd name="GluePoint4X" fmla="*/ 819150 w 1638300"/>
              <a:gd name="GluePoint4Y" fmla="*/ 819150 h 1638300"/>
              <a:gd name="GluePoint5X" fmla="*/ 1638300 w 1638300"/>
              <a:gd name="GluePoint5Y" fmla="*/ 819150 h 16383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l" t="t" r="r" b="b"/>
            <a:pathLst>
              <a:path w="1638300" h="1638300">
                <a:moveTo>
                  <a:pt x="1638300" y="819150"/>
                </a:moveTo>
                <a:cubicBezTo>
                  <a:pt x="1638300" y="1036490"/>
                  <a:pt x="1551928" y="1244920"/>
                  <a:pt x="1398198" y="1398555"/>
                </a:cubicBezTo>
                <a:cubicBezTo>
                  <a:pt x="1244468" y="1552190"/>
                  <a:pt x="1035985" y="1638434"/>
                  <a:pt x="818645" y="1638300"/>
                </a:cubicBezTo>
                <a:cubicBezTo>
                  <a:pt x="818813" y="1365250"/>
                  <a:pt x="818982" y="1092200"/>
                  <a:pt x="819150" y="819150"/>
                </a:cubicBezTo>
                <a:lnTo>
                  <a:pt x="1638300" y="819150"/>
                </a:lnTo>
                <a:close/>
              </a:path>
            </a:pathLst>
          </a:custGeom>
          <a:solidFill>
            <a:srgbClr val="fefaf4">
              <a:alpha val="33000"/>
            </a:srgbClr>
          </a:solidFill>
          <a:ln cap="rnd" w="3240">
            <a:solidFill>
              <a:srgbClr val="d2c39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1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"/>
          <p:cNvSpPr/>
          <p:nvPr/>
        </p:nvSpPr>
        <p:spPr>
          <a:xfrm>
            <a:off x="168120" y="20520"/>
            <a:ext cx="1703520" cy="1703520"/>
          </a:xfrm>
          <a:prstGeom prst="ellipse">
            <a:avLst/>
          </a:prstGeom>
          <a:noFill/>
          <a:ln cap="rnd" w="27360">
            <a:solidFill>
              <a:srgbClr val="fff6db"/>
            </a:solidFill>
            <a:miter/>
          </a:ln>
          <a:effectLst>
            <a:outerShdw dist="12600" dir="5400000" blurRad="0" rotWithShape="0">
              <a:srgbClr val="afa58d">
                <a:alpha val="8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1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6" name=""/>
          <p:cNvGrpSpPr/>
          <p:nvPr/>
        </p:nvGrpSpPr>
        <p:grpSpPr>
          <a:xfrm>
            <a:off x="171360" y="1042920"/>
            <a:ext cx="1155960" cy="1149480"/>
            <a:chOff x="171360" y="1042920"/>
            <a:chExt cx="1155960" cy="1149480"/>
          </a:xfrm>
        </p:grpSpPr>
        <p:pic>
          <p:nvPicPr>
            <p:cNvPr id="17" name="" descr=""/>
            <p:cNvPicPr/>
            <p:nvPr/>
          </p:nvPicPr>
          <p:blipFill>
            <a:blip r:embed="rId3"/>
            <a:stretch/>
          </p:blipFill>
          <p:spPr>
            <a:xfrm>
              <a:off x="171360" y="1042920"/>
              <a:ext cx="1155960" cy="11494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8" name=""/>
            <p:cNvSpPr/>
            <p:nvPr/>
          </p:nvSpPr>
          <p:spPr>
            <a:xfrm rot="2340000">
              <a:off x="348840" y="1216080"/>
              <a:ext cx="793800" cy="777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1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9" name=""/>
          <p:cNvSpPr/>
          <p:nvPr/>
        </p:nvSpPr>
        <p:spPr>
          <a:xfrm>
            <a:off x="1012680" y="0"/>
            <a:ext cx="8131320" cy="6858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1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"/>
          <p:cNvSpPr/>
          <p:nvPr/>
        </p:nvSpPr>
        <p:spPr>
          <a:xfrm>
            <a:off x="1014480" y="0"/>
            <a:ext cx="73080" cy="68580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dist="38160" dir="10800000" blurRad="0" rotWithShape="0">
              <a:srgbClr val="706b5f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1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1" name=""/>
          <p:cNvGrpSpPr/>
          <p:nvPr/>
        </p:nvGrpSpPr>
        <p:grpSpPr>
          <a:xfrm>
            <a:off x="920880" y="1414440"/>
            <a:ext cx="217440" cy="211320"/>
            <a:chOff x="920880" y="1414440"/>
            <a:chExt cx="217440" cy="211320"/>
          </a:xfrm>
        </p:grpSpPr>
        <p:pic>
          <p:nvPicPr>
            <p:cNvPr id="22" name="" descr=""/>
            <p:cNvPicPr/>
            <p:nvPr/>
          </p:nvPicPr>
          <p:blipFill>
            <a:blip r:embed="rId4"/>
            <a:stretch/>
          </p:blipFill>
          <p:spPr>
            <a:xfrm>
              <a:off x="920880" y="1414440"/>
              <a:ext cx="217440" cy="2113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23" name=""/>
            <p:cNvSpPr/>
            <p:nvPr/>
          </p:nvSpPr>
          <p:spPr>
            <a:xfrm>
              <a:off x="952560" y="1444680"/>
              <a:ext cx="147600" cy="147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1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4" name=""/>
          <p:cNvSpPr/>
          <p:nvPr/>
        </p:nvSpPr>
        <p:spPr>
          <a:xfrm>
            <a:off x="1157400" y="1344600"/>
            <a:ext cx="63360" cy="65160"/>
          </a:xfrm>
          <a:prstGeom prst="ellipse">
            <a:avLst/>
          </a:prstGeom>
          <a:noFill/>
          <a:ln cap="rnd" w="12600">
            <a:solidFill>
              <a:srgbClr val="307f93">
                <a:alpha val="60000"/>
              </a:srgbClr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360" bIns="-360" anchor="ctr">
            <a:noAutofit/>
          </a:bodyPr>
          <a:p>
            <a:endParaRPr b="1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1434960" y="274680"/>
            <a:ext cx="7498080" cy="114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4300" strike="noStrike" u="none">
                <a:solidFill>
                  <a:srgbClr val="572314"/>
                </a:solidFill>
                <a:effectLst/>
                <a:uFillTx/>
                <a:latin typeface="Gill Sans MT"/>
              </a:rPr>
              <a:t>Click to edit the title text format</a:t>
            </a:r>
            <a:endParaRPr b="0" lang="en-US" sz="4300" strike="noStrike" u="none">
              <a:solidFill>
                <a:srgbClr val="572314"/>
              </a:solidFill>
              <a:effectLst/>
              <a:uFillTx/>
              <a:latin typeface="Gill Sans MT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1434960" y="1447920"/>
            <a:ext cx="7498080" cy="479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612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Gill Sans MT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Gill Sans MT"/>
            </a:endParaRPr>
          </a:p>
          <a:p>
            <a:pPr lvl="1" marL="343080" indent="-343080">
              <a:spcBef>
                <a:spcPts val="612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–"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Gill Sans MT"/>
              </a:rPr>
              <a:t>Second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Gill Sans MT"/>
            </a:endParaRPr>
          </a:p>
          <a:p>
            <a:pPr lvl="2" marL="343080" indent="-343080">
              <a:spcBef>
                <a:spcPts val="612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•"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Gill Sans MT"/>
              </a:rPr>
              <a:t>Third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Gill Sans MT"/>
            </a:endParaRPr>
          </a:p>
          <a:p>
            <a:pPr lvl="3" marL="343080" indent="-343080">
              <a:spcBef>
                <a:spcPts val="612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–"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Gill Sans MT"/>
              </a:rPr>
              <a:t>Fourth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Gill Sans MT"/>
            </a:endParaRPr>
          </a:p>
          <a:p>
            <a:pPr lvl="4" marL="343080" indent="-343080">
              <a:spcBef>
                <a:spcPts val="612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»"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Gill Sans MT"/>
              </a:rPr>
              <a:t>Fifth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Gill Sans MT"/>
            </a:endParaRPr>
          </a:p>
          <a:p>
            <a:pPr lvl="5" marL="343080" indent="-343080">
              <a:spcBef>
                <a:spcPts val="612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»"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Gill Sans MT"/>
              </a:rPr>
              <a:t>Sixth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Gill Sans MT"/>
            </a:endParaRPr>
          </a:p>
          <a:p>
            <a:pPr lvl="6" marL="343080" indent="-343080">
              <a:spcBef>
                <a:spcPts val="612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»"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Gill Sans MT"/>
              </a:rPr>
              <a:t>Seventh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Gill Sans MT"/>
            </a:endParaRPr>
          </a:p>
        </p:txBody>
      </p:sp>
      <p:sp>
        <p:nvSpPr>
          <p:cNvPr id="27" name=""/>
          <p:cNvSpPr/>
          <p:nvPr/>
        </p:nvSpPr>
        <p:spPr>
          <a:xfrm>
            <a:off x="3581280" y="6305400"/>
            <a:ext cx="2133720" cy="47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1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"/>
          <p:cNvSpPr/>
          <p:nvPr/>
        </p:nvSpPr>
        <p:spPr>
          <a:xfrm>
            <a:off x="5715000" y="6305400"/>
            <a:ext cx="2895480" cy="47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1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sldNum" idx="2"/>
          </p:nvPr>
        </p:nvSpPr>
        <p:spPr>
          <a:xfrm>
            <a:off x="8613720" y="6305040"/>
            <a:ext cx="455760" cy="474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ctr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  <a:defRPr b="1" lang="en-US" sz="1200" strike="noStrike" u="none">
                <a:solidFill>
                  <a:srgbClr val="b5a788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fld id="{4BE57F83-921D-45C6-8685-280769B7B396}" type="slidenum">
              <a:rPr b="1" lang="en-US" sz="1200" strike="noStrike" u="none">
                <a:solidFill>
                  <a:srgbClr val="b5a788"/>
                </a:solidFill>
                <a:effectLst/>
                <a:uFillTx/>
                <a:latin typeface="Arial"/>
              </a:rPr>
              <a:t>&lt;number&gt;</a:t>
            </a:fld>
            <a:endParaRPr b="1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4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"/>
          <p:cNvSpPr/>
          <p:nvPr/>
        </p:nvSpPr>
        <p:spPr>
          <a:xfrm>
            <a:off x="1014480" y="0"/>
            <a:ext cx="8129520" cy="6858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1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"/>
          <p:cNvSpPr/>
          <p:nvPr/>
        </p:nvSpPr>
        <p:spPr>
          <a:xfrm>
            <a:off x="1014480" y="0"/>
            <a:ext cx="73080" cy="68580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dist="38160" dir="10800000" blurRad="0" rotWithShape="0">
              <a:srgbClr val="706b5f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1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1434960" y="274680"/>
            <a:ext cx="7498080" cy="114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4300" strike="noStrike" u="none">
                <a:solidFill>
                  <a:srgbClr val="572314"/>
                </a:solidFill>
                <a:effectLst/>
                <a:uFillTx/>
                <a:latin typeface="Gill Sans MT"/>
              </a:rPr>
              <a:t>Click to edit the title text format</a:t>
            </a:r>
            <a:endParaRPr b="0" lang="en-US" sz="4300" strike="noStrike" u="none">
              <a:solidFill>
                <a:srgbClr val="572314"/>
              </a:solidFill>
              <a:effectLst/>
              <a:uFillTx/>
              <a:latin typeface="Gill Sans MT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1434960" y="1447920"/>
            <a:ext cx="7498080" cy="479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612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Gill Sans MT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Gill Sans MT"/>
            </a:endParaRPr>
          </a:p>
          <a:p>
            <a:pPr lvl="1" marL="343080" indent="-343080">
              <a:spcBef>
                <a:spcPts val="612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–"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Gill Sans MT"/>
              </a:rPr>
              <a:t>Second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Gill Sans MT"/>
            </a:endParaRPr>
          </a:p>
          <a:p>
            <a:pPr lvl="2" marL="343080" indent="-343080">
              <a:spcBef>
                <a:spcPts val="612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•"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Gill Sans MT"/>
              </a:rPr>
              <a:t>Third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Gill Sans MT"/>
            </a:endParaRPr>
          </a:p>
          <a:p>
            <a:pPr lvl="3" marL="343080" indent="-343080">
              <a:spcBef>
                <a:spcPts val="612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–"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Gill Sans MT"/>
              </a:rPr>
              <a:t>Fourth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Gill Sans MT"/>
            </a:endParaRPr>
          </a:p>
          <a:p>
            <a:pPr lvl="4" marL="343080" indent="-343080">
              <a:spcBef>
                <a:spcPts val="612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»"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Gill Sans MT"/>
              </a:rPr>
              <a:t>Fifth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Gill Sans MT"/>
            </a:endParaRPr>
          </a:p>
          <a:p>
            <a:pPr lvl="5" marL="343080" indent="-343080">
              <a:spcBef>
                <a:spcPts val="612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»"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Gill Sans MT"/>
              </a:rPr>
              <a:t>Sixth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Gill Sans MT"/>
            </a:endParaRPr>
          </a:p>
          <a:p>
            <a:pPr lvl="6" marL="343080" indent="-343080">
              <a:spcBef>
                <a:spcPts val="612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»"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Gill Sans MT"/>
              </a:rPr>
              <a:t>Seventh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Gill Sans MT"/>
            </a:endParaRPr>
          </a:p>
        </p:txBody>
      </p:sp>
      <p:sp>
        <p:nvSpPr>
          <p:cNvPr id="34" name=""/>
          <p:cNvSpPr/>
          <p:nvPr/>
        </p:nvSpPr>
        <p:spPr>
          <a:xfrm>
            <a:off x="3581280" y="6305400"/>
            <a:ext cx="2133720" cy="47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1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"/>
          <p:cNvSpPr/>
          <p:nvPr/>
        </p:nvSpPr>
        <p:spPr>
          <a:xfrm>
            <a:off x="5715000" y="6305400"/>
            <a:ext cx="2895480" cy="47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1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sldNum" idx="3"/>
          </p:nvPr>
        </p:nvSpPr>
        <p:spPr>
          <a:xfrm>
            <a:off x="8613720" y="6305040"/>
            <a:ext cx="455760" cy="474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ctr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  <a:defRPr b="1" lang="en-US" sz="1200" strike="noStrike" u="none">
                <a:solidFill>
                  <a:srgbClr val="b5a788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fld id="{8BCAD1A7-9C9A-409F-9F22-B3A9A69E006F}" type="slidenum">
              <a:rPr b="1" lang="en-US" sz="1200" strike="noStrike" u="none">
                <a:solidFill>
                  <a:srgbClr val="b5a788"/>
                </a:solidFill>
                <a:effectLst/>
                <a:uFillTx/>
                <a:latin typeface="Arial"/>
              </a:rPr>
              <a:t>&lt;number&gt;</a:t>
            </a:fld>
            <a:endParaRPr b="1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oleObject" Target="../embeddings/oleObject1.bin"/><Relationship Id="rId3" Type="http://schemas.openxmlformats.org/officeDocument/2006/relationships/image" Target="../media/image4.wmf"/><Relationship Id="rId4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5.jpeg"/><Relationship Id="rId3" Type="http://schemas.openxmlformats.org/officeDocument/2006/relationships/image" Target="../media/image6.jpeg"/><Relationship Id="rId4" Type="http://schemas.openxmlformats.org/officeDocument/2006/relationships/image" Target="../media/image7.jpeg"/><Relationship Id="rId5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8.jpeg"/><Relationship Id="rId3" Type="http://schemas.openxmlformats.org/officeDocument/2006/relationships/image" Target="../media/image9.jpeg"/><Relationship Id="rId4" Type="http://schemas.openxmlformats.org/officeDocument/2006/relationships/image" Target="../media/image10.jpeg"/><Relationship Id="rId5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hyperlink" Target="file:///../../../../../A/1/1-1.swf" TargetMode="External"/><Relationship Id="rId3" Type="http://schemas.openxmlformats.org/officeDocument/2006/relationships/image" Target="../media/image11.png"/><Relationship Id="rId4" Type="http://schemas.openxmlformats.org/officeDocument/2006/relationships/image" Target="../media/image12.gif"/><Relationship Id="rId5" Type="http://schemas.openxmlformats.org/officeDocument/2006/relationships/image" Target="../media/image13.gif"/><Relationship Id="rId6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hyperlink" Target="file:///../../../../../A/1/1-2.swf" TargetMode="External"/><Relationship Id="rId3" Type="http://schemas.openxmlformats.org/officeDocument/2006/relationships/image" Target="../media/image14.png"/><Relationship Id="rId4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15.png"/><Relationship Id="rId3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3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16.png"/><Relationship Id="rId3" Type="http://schemas.openxmlformats.org/officeDocument/2006/relationships/slideLayout" Target="../slideLayouts/slideLayout3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hyperlink" Target="file:///../../../../../A/1/1-4.swf" TargetMode="External"/><Relationship Id="rId3" Type="http://schemas.openxmlformats.org/officeDocument/2006/relationships/image" Target="../media/image17.png"/><Relationship Id="rId4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18.png"/><Relationship Id="rId3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hyperlink" Target="file:///../../../../../A/1/1-6.swf" TargetMode="External"/><Relationship Id="rId3" Type="http://schemas.openxmlformats.org/officeDocument/2006/relationships/image" Target="../media/image19.png"/><Relationship Id="rId4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hyperlink" Target="file:///../../../../../A/1/1-7.swf" TargetMode="External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slideLayout" Target="../slideLayouts/slideLayout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9.jpeg"/><Relationship Id="rId3" Type="http://schemas.openxmlformats.org/officeDocument/2006/relationships/hyperlink" Target="file:///../../../../../../&#25945;&#23416;&#21205;&#30059;/&#22294;1-5&#39640;&#23565;(&#40670;&#25509;&#35320;2).wmv" TargetMode="External"/><Relationship Id="rId4" Type="http://schemas.openxmlformats.org/officeDocument/2006/relationships/hyperlink" Target="file:///../../../../../../&#25945;&#23416;&#21205;&#30059;/&#22294;1-5&#39640;&#23565;(&#40670;&#25509;&#35320;2).wmv" TargetMode="External"/><Relationship Id="rId5" Type="http://schemas.openxmlformats.org/officeDocument/2006/relationships/image" Target="../media/image9.jpeg"/><Relationship Id="rId6" Type="http://schemas.openxmlformats.org/officeDocument/2006/relationships/hyperlink" Target="file:///../../../../../../&#25945;&#23416;&#21205;&#30059;/&#22294;1-5&#39640;&#23565;(&#40670;&#25509;&#35320;1).wmv" TargetMode="External"/><Relationship Id="rId7" Type="http://schemas.openxmlformats.org/officeDocument/2006/relationships/hyperlink" Target="file:///../../../../../../&#25945;&#23416;&#21205;&#30059;/&#22294;1-5&#39640;&#23565;(&#40670;&#25509;&#35320;1).wmv" TargetMode="External"/><Relationship Id="rId8" Type="http://schemas.openxmlformats.org/officeDocument/2006/relationships/image" Target="../media/image22.jpeg"/><Relationship Id="rId9" Type="http://schemas.openxmlformats.org/officeDocument/2006/relationships/image" Target="../media/image9.jpeg"/><Relationship Id="rId10" Type="http://schemas.openxmlformats.org/officeDocument/2006/relationships/hyperlink" Target="file:///../../../../../../&#25945;&#23416;&#21205;&#30059;/&#22294;1-5&#39640;&#23565;(&#32218;&#25509;&#35320;2).wmv" TargetMode="External"/><Relationship Id="rId11" Type="http://schemas.openxmlformats.org/officeDocument/2006/relationships/hyperlink" Target="file:///../../../../../../&#25945;&#23416;&#21205;&#30059;/&#22294;1-5&#39640;&#23565;(&#32218;&#25509;&#35320;2).wmv" TargetMode="External"/><Relationship Id="rId12" Type="http://schemas.openxmlformats.org/officeDocument/2006/relationships/image" Target="../media/image9.jpeg"/><Relationship Id="rId13" Type="http://schemas.openxmlformats.org/officeDocument/2006/relationships/hyperlink" Target="file:///../../../../../../&#25945;&#23416;&#21205;&#30059;/&#22294;1-5&#39640;&#23565;(&#32218;&#25509;&#35320;1).wmv" TargetMode="External"/><Relationship Id="rId14" Type="http://schemas.openxmlformats.org/officeDocument/2006/relationships/hyperlink" Target="file:///../../../../../../&#25945;&#23416;&#21205;&#30059;/&#22294;1-5&#39640;&#23565;(&#32218;&#25509;&#35320;1).wmv" TargetMode="External"/><Relationship Id="rId15" Type="http://schemas.openxmlformats.org/officeDocument/2006/relationships/slideLayout" Target="../slideLayouts/slideLayout1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hyperlink" Target="file:///../../../../../A/1/1-6.swf" TargetMode="External"/><Relationship Id="rId3" Type="http://schemas.openxmlformats.org/officeDocument/2006/relationships/image" Target="../media/image19.png"/><Relationship Id="rId4" Type="http://schemas.openxmlformats.org/officeDocument/2006/relationships/slideLayout" Target="../slideLayouts/slideLayout1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9.jpeg"/><Relationship Id="rId3" Type="http://schemas.openxmlformats.org/officeDocument/2006/relationships/hyperlink" Target="file:///../../../../../../&#25945;&#23416;&#21205;&#30059;/&#22294;1-5&#20302;&#23565;(&#28369;&#21205;&#23565;2).wmv" TargetMode="External"/><Relationship Id="rId4" Type="http://schemas.openxmlformats.org/officeDocument/2006/relationships/hyperlink" Target="file:///../../../../../../&#25945;&#23416;&#21205;&#30059;/&#22294;1-5&#20302;&#23565;(&#28369;&#21205;&#23565;2).wmv" TargetMode="External"/><Relationship Id="rId5" Type="http://schemas.openxmlformats.org/officeDocument/2006/relationships/image" Target="../media/image9.jpeg"/><Relationship Id="rId6" Type="http://schemas.openxmlformats.org/officeDocument/2006/relationships/image" Target="../media/image9.jpeg"/><Relationship Id="rId7" Type="http://schemas.openxmlformats.org/officeDocument/2006/relationships/image" Target="../media/image9.jpeg"/><Relationship Id="rId8" Type="http://schemas.openxmlformats.org/officeDocument/2006/relationships/image" Target="../media/image22.jpeg"/><Relationship Id="rId9" Type="http://schemas.openxmlformats.org/officeDocument/2006/relationships/slideLayout" Target="../slideLayouts/slideLayout1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3.wmf"/><Relationship Id="rId3" Type="http://schemas.openxmlformats.org/officeDocument/2006/relationships/slideLayout" Target="../slideLayouts/slideLayout3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4.emf"/><Relationship Id="rId3" Type="http://schemas.openxmlformats.org/officeDocument/2006/relationships/slideLayout" Target="../slideLayouts/slideLayout1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5.emf"/><Relationship Id="rId3" Type="http://schemas.openxmlformats.org/officeDocument/2006/relationships/image" Target="../media/image26.emf"/><Relationship Id="rId4" Type="http://schemas.openxmlformats.org/officeDocument/2006/relationships/image" Target="../media/image27.png"/><Relationship Id="rId5" Type="http://schemas.openxmlformats.org/officeDocument/2006/relationships/slideLayout" Target="../slideLayouts/slideLayout1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8.png"/><Relationship Id="rId3" Type="http://schemas.openxmlformats.org/officeDocument/2006/relationships/slideLayout" Target="../slideLayouts/slideLayout1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9.emf"/><Relationship Id="rId3" Type="http://schemas.openxmlformats.org/officeDocument/2006/relationships/image" Target="../media/image30.emf"/><Relationship Id="rId4" Type="http://schemas.openxmlformats.org/officeDocument/2006/relationships/image" Target="../media/image31.png"/><Relationship Id="rId5" Type="http://schemas.openxmlformats.org/officeDocument/2006/relationships/slideLayout" Target="../slideLayouts/slideLayout1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32.png"/><Relationship Id="rId3" Type="http://schemas.openxmlformats.org/officeDocument/2006/relationships/slideLayout" Target="../slideLayouts/slideLayout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33.png"/><Relationship Id="rId3" Type="http://schemas.openxmlformats.org/officeDocument/2006/relationships/slideLayout" Target="../slideLayouts/slideLayout1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34.emf"/><Relationship Id="rId3" Type="http://schemas.openxmlformats.org/officeDocument/2006/relationships/image" Target="../media/image35.png"/><Relationship Id="rId4" Type="http://schemas.openxmlformats.org/officeDocument/2006/relationships/slideLayout" Target="../slideLayouts/slideLayout1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36.png"/><Relationship Id="rId3" Type="http://schemas.openxmlformats.org/officeDocument/2006/relationships/image" Target="../media/image37.png"/><Relationship Id="rId4" Type="http://schemas.openxmlformats.org/officeDocument/2006/relationships/image" Target="../media/image38.png"/><Relationship Id="rId5" Type="http://schemas.openxmlformats.org/officeDocument/2006/relationships/slideLayout" Target="../slideLayouts/slideLayout1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39.png"/><Relationship Id="rId3" Type="http://schemas.openxmlformats.org/officeDocument/2006/relationships/image" Target="../media/image40.png"/><Relationship Id="rId4" Type="http://schemas.openxmlformats.org/officeDocument/2006/relationships/image" Target="../media/image41.png"/><Relationship Id="rId5" Type="http://schemas.openxmlformats.org/officeDocument/2006/relationships/image" Target="../media/image42.png"/><Relationship Id="rId6" Type="http://schemas.openxmlformats.org/officeDocument/2006/relationships/image" Target="../media/image43.png"/><Relationship Id="rId7" Type="http://schemas.openxmlformats.org/officeDocument/2006/relationships/slideLayout" Target="../slideLayouts/slideLayout1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44.png"/><Relationship Id="rId3" Type="http://schemas.openxmlformats.org/officeDocument/2006/relationships/image" Target="../media/image45.png"/><Relationship Id="rId4" Type="http://schemas.openxmlformats.org/officeDocument/2006/relationships/image" Target="../media/image46.png"/><Relationship Id="rId5" Type="http://schemas.openxmlformats.org/officeDocument/2006/relationships/slideLayout" Target="../slideLayouts/slideLayout1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47.wmf"/><Relationship Id="rId3" Type="http://schemas.openxmlformats.org/officeDocument/2006/relationships/image" Target="../media/image48.jpeg"/><Relationship Id="rId4" Type="http://schemas.openxmlformats.org/officeDocument/2006/relationships/slideLayout" Target="../slideLayouts/slideLayout3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3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3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49.png"/><Relationship Id="rId3" Type="http://schemas.openxmlformats.org/officeDocument/2006/relationships/slideLayout" Target="../slideLayouts/slideLayout1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50.png"/><Relationship Id="rId3" Type="http://schemas.openxmlformats.org/officeDocument/2006/relationships/slideLayout" Target="../slideLayouts/slideLayout1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51.png"/><Relationship Id="rId3" Type="http://schemas.openxmlformats.org/officeDocument/2006/relationships/slideLayout" Target="../slideLayouts/slideLayout1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52.png"/><Relationship Id="rId3" Type="http://schemas.openxmlformats.org/officeDocument/2006/relationships/image" Target="../media/image53.wmf"/><Relationship Id="rId4" Type="http://schemas.openxmlformats.org/officeDocument/2006/relationships/image" Target="../media/image54.jpeg"/><Relationship Id="rId5" Type="http://schemas.openxmlformats.org/officeDocument/2006/relationships/slideLayout" Target="../slideLayouts/slideLayout3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"/>
          <p:cNvSpPr/>
          <p:nvPr/>
        </p:nvSpPr>
        <p:spPr>
          <a:xfrm>
            <a:off x="1500120" y="3071880"/>
            <a:ext cx="4929120" cy="20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marL="365040" indent="-28260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i="1" lang="zh-TW" sz="8000" strike="noStrike" u="none">
                <a:solidFill>
                  <a:srgbClr val="000000"/>
                </a:solidFill>
                <a:effectLst/>
                <a:uFillTx/>
                <a:latin typeface="標楷體"/>
                <a:ea typeface="標楷體"/>
              </a:rPr>
              <a:t>基本概念</a:t>
            </a:r>
            <a:endParaRPr b="1" lang="en-US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"/>
          <p:cNvSpPr/>
          <p:nvPr/>
        </p:nvSpPr>
        <p:spPr>
          <a:xfrm>
            <a:off x="0" y="0"/>
            <a:ext cx="9144000" cy="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5360" bIns="-45360" anchor="ctr">
            <a:noAutofit/>
          </a:bodyPr>
          <a:p>
            <a:endParaRPr b="1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47" name=""/>
          <p:cNvGraphicFramePr/>
          <p:nvPr/>
        </p:nvGraphicFramePr>
        <p:xfrm>
          <a:off x="5786280" y="714240"/>
          <a:ext cx="2786400" cy="2648160"/>
        </p:xfrm>
        <a:graphic>
          <a:graphicData uri="http://schemas.openxmlformats.org/presentationml/2006/ole">
            <p:oleObj r:id="rId2" spid="">
              <p:embed/>
              <p:pic>
                <p:nvPicPr>
                  <p:cNvPr id="48" name="" descr=""/>
                  <p:cNvPicPr/>
                  <p:nvPr/>
                </p:nvPicPr>
                <p:blipFill>
                  <a:blip r:embed="rId3"/>
                  <a:stretch/>
                </p:blipFill>
                <p:spPr>
                  <a:xfrm>
                    <a:off x="5786280" y="714240"/>
                    <a:ext cx="2786400" cy="264816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49" name=""/>
          <p:cNvSpPr/>
          <p:nvPr/>
        </p:nvSpPr>
        <p:spPr>
          <a:xfrm>
            <a:off x="5572080" y="35280"/>
            <a:ext cx="1357200" cy="274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04560" bIns="0" anchor="ctr">
            <a:sp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i="1" lang="en-US" sz="8000" strike="noStrike" u="none">
                <a:solidFill>
                  <a:srgbClr val="000000"/>
                </a:solidFill>
                <a:effectLst/>
                <a:uFillTx/>
                <a:latin typeface="Arial"/>
                <a:ea typeface="新細明體"/>
              </a:rPr>
              <a:t>1</a:t>
            </a:r>
            <a:endParaRPr b="1" lang="en-US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endParaRPr b="1" lang="en-US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"/>
          <p:cNvSpPr/>
          <p:nvPr/>
        </p:nvSpPr>
        <p:spPr>
          <a:xfrm>
            <a:off x="1434960" y="1447920"/>
            <a:ext cx="7499520" cy="480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lvl="1" marL="639720" indent="-236520">
              <a:lnSpc>
                <a:spcPct val="100000"/>
              </a:lnSpc>
              <a:spcBef>
                <a:spcPts val="561"/>
              </a:spcBef>
              <a:spcAft>
                <a:spcPts val="11"/>
              </a:spcAft>
              <a:buClr>
                <a:srgbClr val="3891a7"/>
              </a:buClr>
              <a:buFont typeface="Verdana"/>
              <a:buChar char="◦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Gill Sans MT"/>
                <a:ea typeface="微軟正黑體"/>
              </a:rPr>
              <a:t>機構、機器的定義</a:t>
            </a:r>
            <a:endParaRPr b="1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5040" indent="-28260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buClr>
                <a:srgbClr val="3891a7"/>
              </a:buClr>
              <a:buSzPct val="80000"/>
              <a:buFont typeface="Wingdings 2" charset="2"/>
              <a:buChar char="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zh-TW" sz="3200" strike="noStrike" u="none">
                <a:solidFill>
                  <a:srgbClr val="000000"/>
                </a:solidFill>
                <a:effectLst/>
                <a:uFillTx/>
                <a:latin typeface="Gill Sans MT"/>
                <a:ea typeface="微軟正黑體"/>
              </a:rPr>
              <a:t>機構：</a:t>
            </a:r>
            <a:endParaRPr b="1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5040" indent="-28260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buClr>
                <a:srgbClr val="3891a7"/>
              </a:buClr>
              <a:buSzPct val="80000"/>
              <a:buFont typeface="Wingdings 2" charset="2"/>
              <a:buChar char="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zh-TW" sz="3200" strike="noStrike" u="none">
                <a:solidFill>
                  <a:srgbClr val="000000"/>
                </a:solidFill>
                <a:effectLst/>
                <a:uFillTx/>
                <a:latin typeface="Gill Sans MT"/>
                <a:ea typeface="微軟正黑體"/>
              </a:rPr>
              <a:t>多個機件聯接，使機件產生固定之運動但不一定可作功，如摺椅中之“摺疊機構”。</a:t>
            </a:r>
            <a:endParaRPr b="1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5040" indent="-28260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buClr>
                <a:srgbClr val="3891a7"/>
              </a:buClr>
              <a:buSzPct val="80000"/>
              <a:buFont typeface="Wingdings 2" charset="2"/>
              <a:buChar char="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zh-TW" sz="3200" strike="noStrike" u="none">
                <a:solidFill>
                  <a:srgbClr val="000000"/>
                </a:solidFill>
                <a:effectLst/>
                <a:uFillTx/>
                <a:latin typeface="Gill Sans MT"/>
                <a:ea typeface="微軟正黑體"/>
              </a:rPr>
              <a:t>機器：</a:t>
            </a:r>
            <a:endParaRPr b="1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5040" indent="-28260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buClr>
                <a:srgbClr val="3891a7"/>
              </a:buClr>
              <a:buSzPct val="80000"/>
              <a:buFont typeface="Wingdings 2" charset="2"/>
              <a:buChar char="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zh-TW" sz="3200" strike="noStrike" u="none">
                <a:solidFill>
                  <a:srgbClr val="000000"/>
                </a:solidFill>
                <a:effectLst/>
                <a:uFillTx/>
                <a:latin typeface="Gill Sans MT"/>
                <a:ea typeface="微軟正黑體"/>
              </a:rPr>
              <a:t>兩個以上機件的組合體，可將能量轉變為有用的功。如腳踏車、縫紉機等都是機器。</a:t>
            </a:r>
            <a:endParaRPr b="1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5040" indent="-28260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endParaRPr b="1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"/>
          <p:cNvSpPr/>
          <p:nvPr/>
        </p:nvSpPr>
        <p:spPr>
          <a:xfrm>
            <a:off x="1042920" y="189000"/>
            <a:ext cx="6553440" cy="70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en-US" sz="4000" strike="noStrike" u="sng">
                <a:solidFill>
                  <a:srgbClr val="7030a0"/>
                </a:solidFill>
                <a:effectLst/>
                <a:uFillTx/>
                <a:latin typeface="Times New Roman"/>
                <a:ea typeface="標楷體"/>
              </a:rPr>
              <a:t>1.1</a:t>
            </a:r>
            <a:r>
              <a:rPr b="1" lang="zh-TW" sz="4000" strike="noStrike" u="none">
                <a:solidFill>
                  <a:srgbClr val="7030a0"/>
                </a:solidFill>
                <a:effectLst/>
                <a:uFillTx/>
                <a:latin typeface="Times New Roman"/>
                <a:ea typeface="標楷體"/>
              </a:rPr>
              <a:t>　機械、機構與機件</a:t>
            </a:r>
            <a:endParaRPr b="1" lang="en-US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2" name="" descr=""/>
          <p:cNvPicPr/>
          <p:nvPr/>
        </p:nvPicPr>
        <p:blipFill>
          <a:blip r:embed="rId2"/>
          <a:stretch/>
        </p:blipFill>
        <p:spPr>
          <a:xfrm>
            <a:off x="6732720" y="419040"/>
            <a:ext cx="2057400" cy="2057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3" name="" descr=""/>
          <p:cNvPicPr/>
          <p:nvPr/>
        </p:nvPicPr>
        <p:blipFill>
          <a:blip r:embed="rId3"/>
          <a:stretch/>
        </p:blipFill>
        <p:spPr>
          <a:xfrm>
            <a:off x="5184720" y="1076400"/>
            <a:ext cx="1681200" cy="1400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4" name="" descr=""/>
          <p:cNvPicPr/>
          <p:nvPr/>
        </p:nvPicPr>
        <p:blipFill>
          <a:blip r:embed="rId4"/>
          <a:stretch/>
        </p:blipFill>
        <p:spPr>
          <a:xfrm>
            <a:off x="50760" y="5011560"/>
            <a:ext cx="1805040" cy="180504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"/>
          <p:cNvGrpSpPr/>
          <p:nvPr/>
        </p:nvGrpSpPr>
        <p:grpSpPr>
          <a:xfrm>
            <a:off x="6597720" y="6348240"/>
            <a:ext cx="2144520" cy="432000"/>
            <a:chOff x="6597720" y="6348240"/>
            <a:chExt cx="2144520" cy="432000"/>
          </a:xfrm>
        </p:grpSpPr>
        <p:pic>
          <p:nvPicPr>
            <p:cNvPr id="56" name="" descr=""/>
            <p:cNvPicPr/>
            <p:nvPr/>
          </p:nvPicPr>
          <p:blipFill>
            <a:blip r:embed="rId2"/>
            <a:stretch/>
          </p:blipFill>
          <p:spPr>
            <a:xfrm>
              <a:off x="6597720" y="6348240"/>
              <a:ext cx="1038240" cy="43200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57" name=""/>
            <p:cNvSpPr/>
            <p:nvPr/>
          </p:nvSpPr>
          <p:spPr>
            <a:xfrm>
              <a:off x="6647040" y="6369120"/>
              <a:ext cx="988920" cy="386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 algn="ctr">
                <a:lnSpc>
                  <a:spcPct val="100000"/>
                </a:lnSpc>
                <a:spcBef>
                  <a:spcPts val="1012"/>
                </a:spcBef>
                <a:spcAft>
                  <a:spcPts val="11"/>
                </a:spcAft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  <a:tab algn="l" pos="10515600"/>
                </a:tabLst>
              </a:pPr>
              <a:r>
                <a:rPr b="1" lang="zh-TW" sz="1600" strike="noStrike" u="sng">
                  <a:solidFill>
                    <a:srgbClr val="ccccff"/>
                  </a:solidFill>
                  <a:effectLst/>
                  <a:uFillTx/>
                  <a:latin typeface="新細明體"/>
                  <a:ea typeface="新細明體"/>
                </a:rPr>
                <a:t>上一頁</a:t>
              </a:r>
              <a:endParaRPr b="1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58" name="" descr=""/>
            <p:cNvPicPr/>
            <p:nvPr/>
          </p:nvPicPr>
          <p:blipFill>
            <a:blip r:embed="rId3"/>
            <a:stretch/>
          </p:blipFill>
          <p:spPr>
            <a:xfrm>
              <a:off x="7704000" y="6348240"/>
              <a:ext cx="1038240" cy="43200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59" name=""/>
            <p:cNvSpPr/>
            <p:nvPr/>
          </p:nvSpPr>
          <p:spPr>
            <a:xfrm>
              <a:off x="7753320" y="6369120"/>
              <a:ext cx="988920" cy="386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 algn="ctr">
                <a:lnSpc>
                  <a:spcPct val="100000"/>
                </a:lnSpc>
                <a:spcBef>
                  <a:spcPts val="1012"/>
                </a:spcBef>
                <a:spcAft>
                  <a:spcPts val="11"/>
                </a:spcAft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  <a:tab algn="l" pos="10515600"/>
                </a:tabLst>
              </a:pPr>
              <a:r>
                <a:rPr b="1" lang="zh-TW" sz="1600" strike="noStrike" u="sng">
                  <a:solidFill>
                    <a:srgbClr val="ccccff"/>
                  </a:solidFill>
                  <a:effectLst/>
                  <a:uFillTx/>
                  <a:latin typeface="新細明體"/>
                  <a:ea typeface="新細明體"/>
                </a:rPr>
                <a:t>節目錄</a:t>
              </a:r>
              <a:endParaRPr b="1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60" name="" descr=""/>
          <p:cNvPicPr/>
          <p:nvPr/>
        </p:nvPicPr>
        <p:blipFill>
          <a:blip r:embed="rId4"/>
          <a:stretch/>
        </p:blipFill>
        <p:spPr>
          <a:xfrm>
            <a:off x="1744560" y="214200"/>
            <a:ext cx="5800680" cy="5705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1" name=""/>
          <p:cNvSpPr/>
          <p:nvPr/>
        </p:nvSpPr>
        <p:spPr>
          <a:xfrm>
            <a:off x="2982960" y="5884920"/>
            <a:ext cx="477036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marL="343080" indent="-343080">
              <a:lnSpc>
                <a:spcPct val="100000"/>
              </a:lnSpc>
              <a:spcBef>
                <a:spcPts val="1514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新細明體"/>
              </a:rPr>
              <a:t>《</a:t>
            </a:r>
            <a:r>
              <a:rPr b="1" lang="zh-TW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新細明體"/>
              </a:rPr>
              <a:t>圖</a:t>
            </a:r>
            <a:r>
              <a:rPr b="1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新細明體"/>
              </a:rPr>
              <a:t>1-2    </a:t>
            </a:r>
            <a:r>
              <a:rPr b="1" lang="zh-TW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新細明體"/>
              </a:rPr>
              <a:t>自行車構造</a:t>
            </a:r>
            <a:r>
              <a:rPr b="1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新細明體"/>
              </a:rPr>
              <a:t>》</a:t>
            </a:r>
            <a:endParaRPr b="1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"/>
          <p:cNvSpPr/>
          <p:nvPr/>
        </p:nvSpPr>
        <p:spPr>
          <a:xfrm>
            <a:off x="1000080" y="0"/>
            <a:ext cx="775800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en-US" sz="4000" strike="noStrike" u="sng">
                <a:solidFill>
                  <a:srgbClr val="572314"/>
                </a:solidFill>
                <a:effectLst/>
                <a:uFillTx/>
                <a:latin typeface="Times New Roman"/>
                <a:ea typeface="標楷體"/>
              </a:rPr>
              <a:t>1.1</a:t>
            </a:r>
            <a:r>
              <a:rPr b="1" lang="zh-TW" sz="4000" strike="noStrike" u="none">
                <a:solidFill>
                  <a:srgbClr val="572314"/>
                </a:solidFill>
                <a:effectLst/>
                <a:uFillTx/>
                <a:latin typeface="Times New Roman"/>
                <a:ea typeface="標楷體"/>
              </a:rPr>
              <a:t>　機械、機構與機件</a:t>
            </a:r>
            <a:endParaRPr b="1" lang="en-US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"/>
          <p:cNvSpPr/>
          <p:nvPr/>
        </p:nvSpPr>
        <p:spPr>
          <a:xfrm>
            <a:off x="857160" y="1071720"/>
            <a:ext cx="8286840" cy="557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marL="365040" indent="-28260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buClr>
                <a:srgbClr val="3891a7"/>
              </a:buClr>
              <a:buSzPct val="80000"/>
              <a:buFont typeface="Wingdings" charset="2"/>
              <a:buChar char="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en-US" sz="3200" strike="noStrike" u="sng">
                <a:solidFill>
                  <a:srgbClr val="922223"/>
                </a:solidFill>
                <a:effectLst/>
                <a:uFillTx/>
                <a:latin typeface="Times New Roman"/>
                <a:ea typeface="標楷體"/>
              </a:rPr>
              <a:t>1.1.</a:t>
            </a:r>
            <a:r>
              <a:rPr b="1" lang="en-US" sz="3200" strike="noStrike" u="sng">
                <a:solidFill>
                  <a:srgbClr val="922223"/>
                </a:solidFill>
                <a:effectLst/>
                <a:uFillTx/>
                <a:latin typeface="Times New Roman"/>
                <a:ea typeface="標楷體"/>
              </a:rPr>
              <a:t>1</a:t>
            </a:r>
            <a:r>
              <a:rPr b="1" lang="zh-TW" sz="3200" strike="noStrike" u="none">
                <a:solidFill>
                  <a:srgbClr val="922223"/>
                </a:solidFill>
                <a:effectLst/>
                <a:uFillTx/>
                <a:latin typeface="Times New Roman"/>
                <a:ea typeface="標楷體"/>
              </a:rPr>
              <a:t>　</a:t>
            </a:r>
            <a:r>
              <a:rPr b="1" lang="zh-TW" sz="3200" strike="noStrike" u="none">
                <a:solidFill>
                  <a:srgbClr val="922223"/>
                </a:solidFill>
                <a:effectLst/>
                <a:uFillTx/>
                <a:latin typeface="Times New Roman"/>
                <a:ea typeface="標楷體"/>
              </a:rPr>
              <a:t>機</a:t>
            </a:r>
            <a:r>
              <a:rPr b="1" lang="zh-TW" sz="3200" strike="noStrike" u="none">
                <a:solidFill>
                  <a:srgbClr val="922223"/>
                </a:solidFill>
                <a:effectLst/>
                <a:uFillTx/>
                <a:latin typeface="Times New Roman"/>
                <a:ea typeface="標楷體"/>
              </a:rPr>
              <a:t>械</a:t>
            </a:r>
            <a:r>
              <a:rPr b="1" lang="en-US" sz="3200" strike="noStrike" u="none">
                <a:solidFill>
                  <a:srgbClr val="922223"/>
                </a:solidFill>
                <a:effectLst/>
                <a:uFillTx/>
                <a:latin typeface="Times New Roman"/>
                <a:ea typeface="標楷體"/>
              </a:rPr>
              <a:t> </a:t>
            </a:r>
            <a:r>
              <a:rPr b="1" lang="en-US" sz="3200" strike="noStrike" u="none">
                <a:solidFill>
                  <a:srgbClr val="922223"/>
                </a:solidFill>
                <a:effectLst/>
                <a:uFillTx/>
                <a:latin typeface="Times New Roman"/>
                <a:ea typeface="標楷體"/>
              </a:rPr>
              <a:t>(ma</a:t>
            </a:r>
            <a:r>
              <a:rPr b="1" lang="en-US" sz="3200" strike="noStrike" u="none">
                <a:solidFill>
                  <a:srgbClr val="922223"/>
                </a:solidFill>
                <a:effectLst/>
                <a:uFillTx/>
                <a:latin typeface="Times New Roman"/>
                <a:ea typeface="標楷體"/>
              </a:rPr>
              <a:t>chin</a:t>
            </a:r>
            <a:r>
              <a:rPr b="1" lang="en-US" sz="3200" strike="noStrike" u="none">
                <a:solidFill>
                  <a:srgbClr val="922223"/>
                </a:solidFill>
                <a:effectLst/>
                <a:uFillTx/>
                <a:latin typeface="Times New Roman"/>
                <a:ea typeface="標楷體"/>
              </a:rPr>
              <a:t>e)</a:t>
            </a:r>
            <a:endParaRPr b="1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39720" indent="-236520">
              <a:lnSpc>
                <a:spcPct val="100000"/>
              </a:lnSpc>
              <a:spcBef>
                <a:spcPts val="561"/>
              </a:spcBef>
              <a:spcAft>
                <a:spcPts val="11"/>
              </a:spcAft>
              <a:buClr>
                <a:srgbClr val="3891a7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將</a:t>
            </a: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一</a:t>
            </a: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些</a:t>
            </a: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固</a:t>
            </a: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定</a:t>
            </a: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及</a:t>
            </a: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活</a:t>
            </a: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動</a:t>
            </a: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的</a:t>
            </a: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剛</a:t>
            </a: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性</a:t>
            </a: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物</a:t>
            </a: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體，</a:t>
            </a: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配</a:t>
            </a: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置</a:t>
            </a: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在</a:t>
            </a: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產</a:t>
            </a: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生</a:t>
            </a: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能</a:t>
            </a: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量</a:t>
            </a: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的</a:t>
            </a: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動</a:t>
            </a: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力</a:t>
            </a: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源</a:t>
            </a: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與</a:t>
            </a: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輸</a:t>
            </a: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出</a:t>
            </a: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能</a:t>
            </a: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量</a:t>
            </a: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的</a:t>
            </a: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作</a:t>
            </a: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功</a:t>
            </a: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物</a:t>
            </a: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之</a:t>
            </a: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間，</a:t>
            </a: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做</a:t>
            </a: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為</a:t>
            </a: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彼</a:t>
            </a: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此</a:t>
            </a: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能</a:t>
            </a: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量</a:t>
            </a: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轉</a:t>
            </a: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換</a:t>
            </a: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的</a:t>
            </a: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工</a:t>
            </a: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具，</a:t>
            </a: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使</a:t>
            </a: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彼</a:t>
            </a: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此</a:t>
            </a: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能</a:t>
            </a: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相</a:t>
            </a: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互</a:t>
            </a: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適</a:t>
            </a: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應</a:t>
            </a: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各</a:t>
            </a: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得</a:t>
            </a: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其</a:t>
            </a: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所，</a:t>
            </a: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此</a:t>
            </a: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即</a:t>
            </a: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所</a:t>
            </a: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謂</a:t>
            </a: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的</a:t>
            </a: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“ </a:t>
            </a: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機</a:t>
            </a: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械 </a:t>
            </a: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”</a:t>
            </a: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或</a:t>
            </a: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“ </a:t>
            </a: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機</a:t>
            </a: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器 </a:t>
            </a: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”</a:t>
            </a:r>
            <a:r>
              <a:rPr b="1" lang="en-US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 </a:t>
            </a: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。</a:t>
            </a:r>
            <a:endParaRPr b="1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39720" indent="-236520">
              <a:lnSpc>
                <a:spcPct val="100000"/>
              </a:lnSpc>
              <a:spcBef>
                <a:spcPts val="561"/>
              </a:spcBef>
              <a:spcAft>
                <a:spcPts val="11"/>
              </a:spcAft>
              <a:buClr>
                <a:srgbClr val="3891a7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一</a:t>
            </a: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部</a:t>
            </a: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機</a:t>
            </a: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械</a:t>
            </a: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之</a:t>
            </a: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組</a:t>
            </a: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成，</a:t>
            </a: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至</a:t>
            </a: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少</a:t>
            </a: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應</a:t>
            </a: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包</a:t>
            </a: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括</a:t>
            </a: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以</a:t>
            </a: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下</a:t>
            </a: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三</a:t>
            </a: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個</a:t>
            </a: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部</a:t>
            </a: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分：</a:t>
            </a:r>
            <a:endParaRPr b="1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371600" indent="-51444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buClr>
                <a:srgbClr val="feb80a"/>
              </a:buClr>
              <a:buFont typeface="Times New Roman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zh-TW" sz="2400" strike="noStrike" u="none">
                <a:solidFill>
                  <a:srgbClr val="ff0000"/>
                </a:solidFill>
                <a:effectLst/>
                <a:uFillTx/>
                <a:latin typeface="Times New Roman"/>
                <a:ea typeface="標楷體"/>
              </a:rPr>
              <a:t>接</a:t>
            </a:r>
            <a:r>
              <a:rPr b="1" lang="zh-TW" sz="2400" strike="noStrike" u="none">
                <a:solidFill>
                  <a:srgbClr val="ff0000"/>
                </a:solidFill>
                <a:effectLst/>
                <a:uFillTx/>
                <a:latin typeface="Times New Roman"/>
                <a:ea typeface="標楷體"/>
              </a:rPr>
              <a:t>受</a:t>
            </a:r>
            <a:r>
              <a:rPr b="1" lang="zh-TW" sz="2400" strike="noStrike" u="none">
                <a:solidFill>
                  <a:srgbClr val="ff0000"/>
                </a:solidFill>
                <a:effectLst/>
                <a:uFillTx/>
                <a:latin typeface="Times New Roman"/>
                <a:ea typeface="標楷體"/>
              </a:rPr>
              <a:t>能</a:t>
            </a:r>
            <a:r>
              <a:rPr b="1" lang="zh-TW" sz="2400" strike="noStrike" u="none">
                <a:solidFill>
                  <a:srgbClr val="ff0000"/>
                </a:solidFill>
                <a:effectLst/>
                <a:uFillTx/>
                <a:latin typeface="Times New Roman"/>
                <a:ea typeface="標楷體"/>
              </a:rPr>
              <a:t>量</a:t>
            </a:r>
            <a:r>
              <a:rPr b="1" lang="zh-TW" sz="2400" strike="noStrike" u="none">
                <a:solidFill>
                  <a:srgbClr val="ff0000"/>
                </a:solidFill>
                <a:effectLst/>
                <a:uFillTx/>
                <a:latin typeface="Times New Roman"/>
                <a:ea typeface="標楷體"/>
              </a:rPr>
              <a:t>的</a:t>
            </a:r>
            <a:r>
              <a:rPr b="1" lang="zh-TW" sz="2400" strike="noStrike" u="none">
                <a:solidFill>
                  <a:srgbClr val="ff0000"/>
                </a:solidFill>
                <a:effectLst/>
                <a:uFillTx/>
                <a:latin typeface="Times New Roman"/>
                <a:ea typeface="標楷體"/>
              </a:rPr>
              <a:t>部</a:t>
            </a:r>
            <a:r>
              <a:rPr b="1" lang="zh-TW" sz="2400" strike="noStrike" u="none">
                <a:solidFill>
                  <a:srgbClr val="ff0000"/>
                </a:solidFill>
                <a:effectLst/>
                <a:uFillTx/>
                <a:latin typeface="Times New Roman"/>
                <a:ea typeface="標楷體"/>
              </a:rPr>
              <a:t>分</a:t>
            </a:r>
            <a:r>
              <a:rPr b="1" lang="zh-TW" sz="2400" strike="noStrike" u="none">
                <a:solidFill>
                  <a:srgbClr val="ff0000"/>
                </a:solidFill>
                <a:effectLst/>
                <a:uFillTx/>
                <a:latin typeface="Times New Roman"/>
                <a:ea typeface="標楷體"/>
              </a:rPr>
              <a:t>。</a:t>
            </a:r>
            <a:endParaRPr b="1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371600" indent="-51444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buClr>
                <a:srgbClr val="feb80a"/>
              </a:buClr>
              <a:buFont typeface="Times New Roman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zh-TW" sz="2400" strike="noStrike" u="none">
                <a:solidFill>
                  <a:srgbClr val="ff0000"/>
                </a:solidFill>
                <a:effectLst/>
                <a:uFillTx/>
                <a:latin typeface="Times New Roman"/>
                <a:ea typeface="標楷體"/>
              </a:rPr>
              <a:t>將</a:t>
            </a:r>
            <a:r>
              <a:rPr b="1" lang="zh-TW" sz="2400" strike="noStrike" u="none">
                <a:solidFill>
                  <a:srgbClr val="ff0000"/>
                </a:solidFill>
                <a:effectLst/>
                <a:uFillTx/>
                <a:latin typeface="Times New Roman"/>
                <a:ea typeface="標楷體"/>
              </a:rPr>
              <a:t>接</a:t>
            </a:r>
            <a:r>
              <a:rPr b="1" lang="zh-TW" sz="2400" strike="noStrike" u="none">
                <a:solidFill>
                  <a:srgbClr val="ff0000"/>
                </a:solidFill>
                <a:effectLst/>
                <a:uFillTx/>
                <a:latin typeface="Times New Roman"/>
                <a:ea typeface="標楷體"/>
              </a:rPr>
              <a:t>受</a:t>
            </a:r>
            <a:r>
              <a:rPr b="1" lang="zh-TW" sz="2400" strike="noStrike" u="none">
                <a:solidFill>
                  <a:srgbClr val="ff0000"/>
                </a:solidFill>
                <a:effectLst/>
                <a:uFillTx/>
                <a:latin typeface="Times New Roman"/>
                <a:ea typeface="標楷體"/>
              </a:rPr>
              <a:t>之</a:t>
            </a:r>
            <a:r>
              <a:rPr b="1" lang="zh-TW" sz="2400" strike="noStrike" u="none">
                <a:solidFill>
                  <a:srgbClr val="ff0000"/>
                </a:solidFill>
                <a:effectLst/>
                <a:uFillTx/>
                <a:latin typeface="Times New Roman"/>
                <a:ea typeface="標楷體"/>
              </a:rPr>
              <a:t>能</a:t>
            </a:r>
            <a:r>
              <a:rPr b="1" lang="zh-TW" sz="2400" strike="noStrike" u="none">
                <a:solidFill>
                  <a:srgbClr val="ff0000"/>
                </a:solidFill>
                <a:effectLst/>
                <a:uFillTx/>
                <a:latin typeface="Times New Roman"/>
                <a:ea typeface="標楷體"/>
              </a:rPr>
              <a:t>量</a:t>
            </a:r>
            <a:r>
              <a:rPr b="1" lang="zh-TW" sz="2400" strike="noStrike" u="none">
                <a:solidFill>
                  <a:srgbClr val="ff0000"/>
                </a:solidFill>
                <a:effectLst/>
                <a:uFillTx/>
                <a:latin typeface="Times New Roman"/>
                <a:ea typeface="標楷體"/>
              </a:rPr>
              <a:t>加</a:t>
            </a:r>
            <a:r>
              <a:rPr b="1" lang="zh-TW" sz="2400" strike="noStrike" u="none">
                <a:solidFill>
                  <a:srgbClr val="ff0000"/>
                </a:solidFill>
                <a:effectLst/>
                <a:uFillTx/>
                <a:latin typeface="Times New Roman"/>
                <a:ea typeface="標楷體"/>
              </a:rPr>
              <a:t>以</a:t>
            </a:r>
            <a:r>
              <a:rPr b="1" lang="zh-TW" sz="2400" strike="noStrike" u="none">
                <a:solidFill>
                  <a:srgbClr val="ff0000"/>
                </a:solidFill>
                <a:effectLst/>
                <a:uFillTx/>
                <a:latin typeface="Times New Roman"/>
                <a:ea typeface="標楷體"/>
              </a:rPr>
              <a:t>轉</a:t>
            </a:r>
            <a:r>
              <a:rPr b="1" lang="zh-TW" sz="2400" strike="noStrike" u="none">
                <a:solidFill>
                  <a:srgbClr val="ff0000"/>
                </a:solidFill>
                <a:effectLst/>
                <a:uFillTx/>
                <a:latin typeface="Times New Roman"/>
                <a:ea typeface="標楷體"/>
              </a:rPr>
              <a:t>換</a:t>
            </a:r>
            <a:r>
              <a:rPr b="1" lang="zh-TW" sz="2400" strike="noStrike" u="none">
                <a:solidFill>
                  <a:srgbClr val="ff0000"/>
                </a:solidFill>
                <a:effectLst/>
                <a:uFillTx/>
                <a:latin typeface="Times New Roman"/>
                <a:ea typeface="標楷體"/>
              </a:rPr>
              <a:t>或</a:t>
            </a:r>
            <a:r>
              <a:rPr b="1" lang="zh-TW" sz="2400" strike="noStrike" u="none">
                <a:solidFill>
                  <a:srgbClr val="ff0000"/>
                </a:solidFill>
                <a:effectLst/>
                <a:uFillTx/>
                <a:latin typeface="Times New Roman"/>
                <a:ea typeface="標楷體"/>
              </a:rPr>
              <a:t>傳</a:t>
            </a:r>
            <a:r>
              <a:rPr b="1" lang="zh-TW" sz="2400" strike="noStrike" u="none">
                <a:solidFill>
                  <a:srgbClr val="ff0000"/>
                </a:solidFill>
                <a:effectLst/>
                <a:uFillTx/>
                <a:latin typeface="Times New Roman"/>
                <a:ea typeface="標楷體"/>
              </a:rPr>
              <a:t>遞</a:t>
            </a:r>
            <a:r>
              <a:rPr b="1" lang="zh-TW" sz="2400" strike="noStrike" u="none">
                <a:solidFill>
                  <a:srgbClr val="ff0000"/>
                </a:solidFill>
                <a:effectLst/>
                <a:uFillTx/>
                <a:latin typeface="Times New Roman"/>
                <a:ea typeface="標楷體"/>
              </a:rPr>
              <a:t>的</a:t>
            </a:r>
            <a:r>
              <a:rPr b="1" lang="zh-TW" sz="2400" strike="noStrike" u="none">
                <a:solidFill>
                  <a:srgbClr val="ff0000"/>
                </a:solidFill>
                <a:effectLst/>
                <a:uFillTx/>
                <a:latin typeface="Times New Roman"/>
                <a:ea typeface="標楷體"/>
              </a:rPr>
              <a:t>部</a:t>
            </a:r>
            <a:r>
              <a:rPr b="1" lang="zh-TW" sz="2400" strike="noStrike" u="none">
                <a:solidFill>
                  <a:srgbClr val="ff0000"/>
                </a:solidFill>
                <a:effectLst/>
                <a:uFillTx/>
                <a:latin typeface="Times New Roman"/>
                <a:ea typeface="標楷體"/>
              </a:rPr>
              <a:t>分</a:t>
            </a:r>
            <a:r>
              <a:rPr b="1" lang="zh-TW" sz="2400" strike="noStrike" u="none">
                <a:solidFill>
                  <a:srgbClr val="ff0000"/>
                </a:solidFill>
                <a:effectLst/>
                <a:uFillTx/>
                <a:latin typeface="Times New Roman"/>
                <a:ea typeface="標楷體"/>
              </a:rPr>
              <a:t>。</a:t>
            </a:r>
            <a:endParaRPr b="1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371600" indent="-51444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buClr>
                <a:srgbClr val="feb80a"/>
              </a:buClr>
              <a:buFont typeface="Times New Roman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zh-TW" sz="2400" strike="noStrike" u="none">
                <a:solidFill>
                  <a:srgbClr val="ff0000"/>
                </a:solidFill>
                <a:effectLst/>
                <a:uFillTx/>
                <a:latin typeface="Times New Roman"/>
                <a:ea typeface="標楷體"/>
              </a:rPr>
              <a:t>產</a:t>
            </a:r>
            <a:r>
              <a:rPr b="1" lang="zh-TW" sz="2400" strike="noStrike" u="none">
                <a:solidFill>
                  <a:srgbClr val="ff0000"/>
                </a:solidFill>
                <a:effectLst/>
                <a:uFillTx/>
                <a:latin typeface="Times New Roman"/>
                <a:ea typeface="標楷體"/>
              </a:rPr>
              <a:t>生</a:t>
            </a:r>
            <a:r>
              <a:rPr b="1" lang="zh-TW" sz="2400" strike="noStrike" u="none">
                <a:solidFill>
                  <a:srgbClr val="ff0000"/>
                </a:solidFill>
                <a:effectLst/>
                <a:uFillTx/>
                <a:latin typeface="Times New Roman"/>
                <a:ea typeface="標楷體"/>
              </a:rPr>
              <a:t>“</a:t>
            </a:r>
            <a:r>
              <a:rPr b="1" lang="zh-TW" sz="2400" strike="noStrike" u="none">
                <a:solidFill>
                  <a:srgbClr val="ff0000"/>
                </a:solidFill>
                <a:effectLst/>
                <a:uFillTx/>
                <a:latin typeface="Times New Roman"/>
                <a:ea typeface="標楷體"/>
              </a:rPr>
              <a:t> </a:t>
            </a:r>
            <a:r>
              <a:rPr b="1" lang="zh-TW" sz="2400" strike="noStrike" u="none">
                <a:solidFill>
                  <a:srgbClr val="ff0000"/>
                </a:solidFill>
                <a:effectLst/>
                <a:uFillTx/>
                <a:latin typeface="Times New Roman"/>
                <a:ea typeface="標楷體"/>
              </a:rPr>
              <a:t>功</a:t>
            </a:r>
            <a:r>
              <a:rPr b="1" lang="zh-TW" sz="2400" strike="noStrike" u="none">
                <a:solidFill>
                  <a:srgbClr val="ff0000"/>
                </a:solidFill>
                <a:effectLst/>
                <a:uFillTx/>
                <a:latin typeface="Times New Roman"/>
                <a:ea typeface="標楷體"/>
              </a:rPr>
              <a:t> </a:t>
            </a:r>
            <a:r>
              <a:rPr b="1" lang="zh-TW" sz="2400" strike="noStrike" u="none">
                <a:solidFill>
                  <a:srgbClr val="ff0000"/>
                </a:solidFill>
                <a:effectLst/>
                <a:uFillTx/>
                <a:latin typeface="Times New Roman"/>
                <a:ea typeface="標楷體"/>
              </a:rPr>
              <a:t>”</a:t>
            </a:r>
            <a:r>
              <a:rPr b="1" lang="zh-TW" sz="2400" strike="noStrike" u="none">
                <a:solidFill>
                  <a:srgbClr val="ff0000"/>
                </a:solidFill>
                <a:effectLst/>
                <a:uFillTx/>
                <a:latin typeface="Times New Roman"/>
                <a:ea typeface="標楷體"/>
              </a:rPr>
              <a:t>或</a:t>
            </a:r>
            <a:r>
              <a:rPr b="1" lang="zh-TW" sz="2400" strike="noStrike" u="none">
                <a:solidFill>
                  <a:srgbClr val="ff0000"/>
                </a:solidFill>
                <a:effectLst/>
                <a:uFillTx/>
                <a:latin typeface="Times New Roman"/>
                <a:ea typeface="標楷體"/>
              </a:rPr>
              <a:t>預</a:t>
            </a:r>
            <a:r>
              <a:rPr b="1" lang="zh-TW" sz="2400" strike="noStrike" u="none">
                <a:solidFill>
                  <a:srgbClr val="ff0000"/>
                </a:solidFill>
                <a:effectLst/>
                <a:uFillTx/>
                <a:latin typeface="Times New Roman"/>
                <a:ea typeface="標楷體"/>
              </a:rPr>
              <a:t>期</a:t>
            </a:r>
            <a:r>
              <a:rPr b="1" lang="zh-TW" sz="2400" strike="noStrike" u="none">
                <a:solidFill>
                  <a:srgbClr val="ff0000"/>
                </a:solidFill>
                <a:effectLst/>
                <a:uFillTx/>
                <a:latin typeface="Times New Roman"/>
                <a:ea typeface="標楷體"/>
              </a:rPr>
              <a:t>效</a:t>
            </a:r>
            <a:r>
              <a:rPr b="1" lang="zh-TW" sz="2400" strike="noStrike" u="none">
                <a:solidFill>
                  <a:srgbClr val="ff0000"/>
                </a:solidFill>
                <a:effectLst/>
                <a:uFillTx/>
                <a:latin typeface="Times New Roman"/>
                <a:ea typeface="標楷體"/>
              </a:rPr>
              <a:t>果</a:t>
            </a:r>
            <a:r>
              <a:rPr b="1" lang="zh-TW" sz="2400" strike="noStrike" u="none">
                <a:solidFill>
                  <a:srgbClr val="ff0000"/>
                </a:solidFill>
                <a:effectLst/>
                <a:uFillTx/>
                <a:latin typeface="Times New Roman"/>
                <a:ea typeface="標楷體"/>
              </a:rPr>
              <a:t>的</a:t>
            </a:r>
            <a:r>
              <a:rPr b="1" lang="zh-TW" sz="2400" strike="noStrike" u="none">
                <a:solidFill>
                  <a:srgbClr val="ff0000"/>
                </a:solidFill>
                <a:effectLst/>
                <a:uFillTx/>
                <a:latin typeface="Times New Roman"/>
                <a:ea typeface="標楷體"/>
              </a:rPr>
              <a:t>部</a:t>
            </a:r>
            <a:r>
              <a:rPr b="1" lang="zh-TW" sz="2400" strike="noStrike" u="none">
                <a:solidFill>
                  <a:srgbClr val="ff0000"/>
                </a:solidFill>
                <a:effectLst/>
                <a:uFillTx/>
                <a:latin typeface="Times New Roman"/>
                <a:ea typeface="標楷體"/>
              </a:rPr>
              <a:t>分</a:t>
            </a:r>
            <a:r>
              <a:rPr b="1" lang="zh-TW" sz="2400" strike="noStrike" u="none">
                <a:solidFill>
                  <a:srgbClr val="ff0000"/>
                </a:solidFill>
                <a:effectLst/>
                <a:uFillTx/>
                <a:latin typeface="Times New Roman"/>
                <a:ea typeface="標楷體"/>
              </a:rPr>
              <a:t>。</a:t>
            </a:r>
            <a:endParaRPr b="1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39720" indent="-236520">
              <a:lnSpc>
                <a:spcPct val="100000"/>
              </a:lnSpc>
              <a:spcBef>
                <a:spcPts val="561"/>
              </a:spcBef>
              <a:spcAft>
                <a:spcPts val="11"/>
              </a:spcAft>
              <a:buClr>
                <a:srgbClr val="3891a7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在</a:t>
            </a: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機</a:t>
            </a: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器</a:t>
            </a: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中</a:t>
            </a: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本</a:t>
            </a: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身</a:t>
            </a: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固</a:t>
            </a: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定</a:t>
            </a: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不</a:t>
            </a: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動</a:t>
            </a: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但</a:t>
            </a: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支</a:t>
            </a: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撐</a:t>
            </a: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活</a:t>
            </a: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動</a:t>
            </a: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元</a:t>
            </a: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件</a:t>
            </a: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的</a:t>
            </a: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部</a:t>
            </a: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分</a:t>
            </a: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稱</a:t>
            </a: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為</a:t>
            </a: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機</a:t>
            </a: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架</a:t>
            </a:r>
            <a:r>
              <a:rPr b="1" lang="en-US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 </a:t>
            </a:r>
            <a:r>
              <a:rPr b="1" lang="en-US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(fr</a:t>
            </a:r>
            <a:r>
              <a:rPr b="1" lang="en-US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am</a:t>
            </a:r>
            <a:r>
              <a:rPr b="1" lang="en-US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e)</a:t>
            </a:r>
            <a:endParaRPr b="1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5040" indent="-28260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endParaRPr b="1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dur="indefinite" nodeType="clickEffect" fill="hold">
                      <p:stCondLst>
                        <p:cond delay="indefinite"/>
                      </p:stCondLst>
                      <p:childTnLst>
                        <p:par>
                          <p:cTn id="4" dur="indefinite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" dur="indefinite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dur="indefinite" nodeType="clickEffect" fill="hold">
                      <p:stCondLst>
                        <p:cond delay="indefinite"/>
                      </p:stCondLst>
                      <p:childTnLst>
                        <p:par>
                          <p:cTn id="8" dur="indefinite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9" dur="indefinite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dur="indefinite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dur="indefinite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dur="indefinite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dur="indefinite" nodeType="clickEffect" fill="hold">
                      <p:stCondLst>
                        <p:cond delay="indefinite"/>
                      </p:stCondLst>
                      <p:childTnLst>
                        <p:par>
                          <p:cTn id="18" dur="indefinite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9" dur="indefinite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"/>
          <p:cNvSpPr/>
          <p:nvPr/>
        </p:nvSpPr>
        <p:spPr>
          <a:xfrm>
            <a:off x="1000080" y="214200"/>
            <a:ext cx="8143920" cy="642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marL="365040" indent="-28260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buClr>
                <a:srgbClr val="3891a7"/>
              </a:buClr>
              <a:buSzPct val="80000"/>
              <a:buFont typeface="Wingdings" charset="2"/>
              <a:buChar char="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en-US" sz="3200" strike="noStrike" u="sng">
                <a:solidFill>
                  <a:srgbClr val="922223"/>
                </a:solidFill>
                <a:effectLst/>
                <a:uFillTx/>
                <a:latin typeface="Times New Roman"/>
                <a:ea typeface="標楷體"/>
              </a:rPr>
              <a:t>1.1.2</a:t>
            </a:r>
            <a:r>
              <a:rPr b="1" lang="zh-TW" sz="3200" strike="noStrike" u="none">
                <a:solidFill>
                  <a:srgbClr val="922223"/>
                </a:solidFill>
                <a:effectLst/>
                <a:uFillTx/>
                <a:latin typeface="Times New Roman"/>
                <a:ea typeface="標楷體"/>
              </a:rPr>
              <a:t>　機　構</a:t>
            </a:r>
            <a:r>
              <a:rPr b="1" lang="en-US" sz="3200" strike="noStrike" u="none">
                <a:solidFill>
                  <a:srgbClr val="922223"/>
                </a:solidFill>
                <a:effectLst/>
                <a:uFillTx/>
                <a:latin typeface="Times New Roman"/>
                <a:ea typeface="標楷體"/>
              </a:rPr>
              <a:t> </a:t>
            </a:r>
            <a:r>
              <a:rPr b="1" lang="en-US" sz="3200" strike="noStrike" u="none">
                <a:solidFill>
                  <a:srgbClr val="922223"/>
                </a:solidFill>
                <a:effectLst/>
                <a:uFillTx/>
                <a:latin typeface="Times New Roman"/>
                <a:ea typeface="標楷體"/>
              </a:rPr>
              <a:t>(mechanism)</a:t>
            </a:r>
            <a:endParaRPr b="1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39720" indent="-236520" algn="just">
              <a:lnSpc>
                <a:spcPct val="100000"/>
              </a:lnSpc>
              <a:spcBef>
                <a:spcPts val="561"/>
              </a:spcBef>
              <a:spcAft>
                <a:spcPts val="11"/>
              </a:spcAft>
              <a:buClr>
                <a:srgbClr val="3891a7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連桿 </a:t>
            </a:r>
            <a:r>
              <a:rPr b="1" lang="en-US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(link)--</a:t>
            </a: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在一部機器</a:t>
            </a: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中，對其它物體有相對運</a:t>
            </a: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動者稱之。</a:t>
            </a:r>
            <a:endParaRPr b="1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39720" indent="-236520" algn="just">
              <a:lnSpc>
                <a:spcPct val="100000"/>
              </a:lnSpc>
              <a:spcBef>
                <a:spcPts val="561"/>
              </a:spcBef>
              <a:spcAft>
                <a:spcPts val="11"/>
              </a:spcAft>
              <a:buClr>
                <a:srgbClr val="3891a7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zh-TW" sz="2800" strike="noStrike" u="none">
                <a:solidFill>
                  <a:srgbClr val="c00000"/>
                </a:solidFill>
                <a:effectLst/>
                <a:uFillTx/>
                <a:latin typeface="Times New Roman"/>
                <a:ea typeface="標楷體"/>
              </a:rPr>
              <a:t>運動鏈</a:t>
            </a:r>
            <a:r>
              <a:rPr b="1" lang="en-US" sz="2800" strike="noStrike" u="none">
                <a:solidFill>
                  <a:srgbClr val="c00000"/>
                </a:solidFill>
                <a:effectLst/>
                <a:uFillTx/>
                <a:latin typeface="Times New Roman"/>
                <a:ea typeface="標楷體"/>
              </a:rPr>
              <a:t> </a:t>
            </a:r>
            <a:r>
              <a:rPr b="1" lang="en-US" sz="2800" strike="noStrike" u="none">
                <a:solidFill>
                  <a:srgbClr val="c00000"/>
                </a:solidFill>
                <a:effectLst/>
                <a:uFillTx/>
                <a:latin typeface="Times New Roman"/>
                <a:ea typeface="標楷體"/>
              </a:rPr>
              <a:t>(kinematic chain) </a:t>
            </a:r>
            <a:r>
              <a:rPr b="1" lang="en-US" sz="2800" strike="noStrike" u="none">
                <a:solidFill>
                  <a:srgbClr val="c00000"/>
                </a:solidFill>
                <a:effectLst/>
                <a:uFillTx/>
                <a:latin typeface="Times New Roman"/>
                <a:ea typeface="標楷體"/>
              </a:rPr>
              <a:t>--</a:t>
            </a:r>
            <a:r>
              <a:rPr b="1" lang="zh-TW" sz="2800" strike="noStrike" u="none">
                <a:solidFill>
                  <a:srgbClr val="c00000"/>
                </a:solidFill>
                <a:effectLst/>
                <a:uFillTx/>
                <a:latin typeface="Times New Roman"/>
                <a:ea typeface="標楷體"/>
              </a:rPr>
              <a:t>是指一組連桿系統，也</a:t>
            </a:r>
            <a:r>
              <a:rPr b="1" lang="zh-TW" sz="2800" strike="noStrike" u="none">
                <a:solidFill>
                  <a:srgbClr val="c00000"/>
                </a:solidFill>
                <a:effectLst/>
                <a:uFillTx/>
                <a:latin typeface="Times New Roman"/>
                <a:ea typeface="標楷體"/>
              </a:rPr>
              <a:t>就是一群連在一起或相互</a:t>
            </a:r>
            <a:r>
              <a:rPr b="1" lang="zh-TW" sz="2800" strike="noStrike" u="none">
                <a:solidFill>
                  <a:srgbClr val="c00000"/>
                </a:solidFill>
                <a:effectLst/>
                <a:uFillTx/>
                <a:latin typeface="Times New Roman"/>
                <a:ea typeface="標楷體"/>
              </a:rPr>
              <a:t>接觸，而可以做相對運動</a:t>
            </a:r>
            <a:r>
              <a:rPr b="1" lang="zh-TW" sz="2800" strike="noStrike" u="none">
                <a:solidFill>
                  <a:srgbClr val="c00000"/>
                </a:solidFill>
                <a:effectLst/>
                <a:uFillTx/>
                <a:latin typeface="Times New Roman"/>
                <a:ea typeface="標楷體"/>
              </a:rPr>
              <a:t>的剛體。</a:t>
            </a:r>
            <a:endParaRPr b="1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39720" indent="-236520" algn="just">
              <a:lnSpc>
                <a:spcPct val="100000"/>
              </a:lnSpc>
              <a:spcBef>
                <a:spcPts val="561"/>
              </a:spcBef>
              <a:spcAft>
                <a:spcPts val="11"/>
              </a:spcAft>
              <a:buClr>
                <a:srgbClr val="3891a7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剛體</a:t>
            </a:r>
            <a:r>
              <a:rPr b="1" lang="en-US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 </a:t>
            </a:r>
            <a:r>
              <a:rPr b="1" lang="en-US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(rigid body)--</a:t>
            </a: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係指</a:t>
            </a: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不因外力而發生變形之物</a:t>
            </a: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體。</a:t>
            </a:r>
            <a:r>
              <a:rPr b="1" lang="en-US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(</a:t>
            </a:r>
            <a:r>
              <a:rPr b="1" lang="zh-TW" sz="2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在機動學中，並不考慮機</a:t>
            </a:r>
            <a:r>
              <a:rPr b="1" lang="zh-TW" sz="2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器上任何結構的變形。</a:t>
            </a:r>
            <a:r>
              <a:rPr b="1" lang="en-US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)</a:t>
            </a:r>
            <a:endParaRPr b="1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39720" indent="-236520" algn="just">
              <a:lnSpc>
                <a:spcPct val="100000"/>
              </a:lnSpc>
              <a:spcBef>
                <a:spcPts val="561"/>
              </a:spcBef>
              <a:spcAft>
                <a:spcPts val="11"/>
              </a:spcAft>
              <a:buClr>
                <a:srgbClr val="3891a7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zh-TW" sz="2800" strike="noStrike" u="none">
                <a:solidFill>
                  <a:srgbClr val="c00000"/>
                </a:solidFill>
                <a:effectLst/>
                <a:uFillTx/>
                <a:latin typeface="Times New Roman"/>
                <a:ea typeface="標楷體"/>
              </a:rPr>
              <a:t>若運動鏈其中的一根連桿</a:t>
            </a:r>
            <a:r>
              <a:rPr b="1" lang="zh-TW" sz="2800" strike="noStrike" u="none">
                <a:solidFill>
                  <a:srgbClr val="c00000"/>
                </a:solidFill>
                <a:effectLst/>
                <a:uFillTx/>
                <a:latin typeface="Times New Roman"/>
                <a:ea typeface="標楷體"/>
              </a:rPr>
              <a:t>固定，而其它任一根連桿</a:t>
            </a:r>
            <a:r>
              <a:rPr b="1" lang="zh-TW" sz="2800" strike="noStrike" u="none">
                <a:solidFill>
                  <a:srgbClr val="c00000"/>
                </a:solidFill>
                <a:effectLst/>
                <a:uFillTx/>
                <a:latin typeface="Times New Roman"/>
                <a:ea typeface="標楷體"/>
              </a:rPr>
              <a:t>移動至新位置時，將導致</a:t>
            </a:r>
            <a:r>
              <a:rPr b="1" lang="zh-TW" sz="2800" strike="noStrike" u="none">
                <a:solidFill>
                  <a:srgbClr val="c00000"/>
                </a:solidFill>
                <a:effectLst/>
                <a:uFillTx/>
                <a:latin typeface="Times New Roman"/>
                <a:ea typeface="標楷體"/>
              </a:rPr>
              <a:t>其餘連桿移動至可預知的</a:t>
            </a:r>
            <a:r>
              <a:rPr b="1" lang="zh-TW" sz="2800" strike="noStrike" u="none">
                <a:solidFill>
                  <a:srgbClr val="c00000"/>
                </a:solidFill>
                <a:effectLst/>
                <a:uFillTx/>
                <a:latin typeface="Times New Roman"/>
                <a:ea typeface="標楷體"/>
              </a:rPr>
              <a:t>位置，則此系統稱之為“ </a:t>
            </a:r>
            <a:r>
              <a:rPr b="1" lang="zh-TW" sz="2800" strike="noStrike" u="none">
                <a:solidFill>
                  <a:srgbClr val="c00000"/>
                </a:solidFill>
                <a:effectLst/>
                <a:uFillTx/>
                <a:latin typeface="Times New Roman"/>
                <a:ea typeface="標楷體"/>
              </a:rPr>
              <a:t>拘束運動鏈 </a:t>
            </a:r>
            <a:r>
              <a:rPr b="1" lang="zh-TW" sz="2800" strike="noStrike" u="none">
                <a:solidFill>
                  <a:srgbClr val="c00000"/>
                </a:solidFill>
                <a:effectLst/>
                <a:uFillTx/>
                <a:latin typeface="Times New Roman"/>
                <a:ea typeface="標楷體"/>
              </a:rPr>
              <a:t>”</a:t>
            </a:r>
            <a:r>
              <a:rPr b="1" lang="en-US" sz="2800" strike="noStrike" u="none">
                <a:solidFill>
                  <a:srgbClr val="c00000"/>
                </a:solidFill>
                <a:effectLst/>
                <a:uFillTx/>
                <a:latin typeface="Times New Roman"/>
                <a:ea typeface="標楷體"/>
              </a:rPr>
              <a:t>(constrained kinematic </a:t>
            </a:r>
            <a:r>
              <a:rPr b="1" lang="en-US" sz="2800" strike="noStrike" u="none">
                <a:solidFill>
                  <a:srgbClr val="c00000"/>
                </a:solidFill>
                <a:effectLst/>
                <a:uFillTx/>
                <a:latin typeface="Times New Roman"/>
                <a:ea typeface="標楷體"/>
              </a:rPr>
              <a:t>chain)</a:t>
            </a:r>
            <a:r>
              <a:rPr b="1" lang="zh-TW" sz="2800" strike="noStrike" u="none">
                <a:solidFill>
                  <a:srgbClr val="c00000"/>
                </a:solidFill>
                <a:effectLst/>
                <a:uFillTx/>
                <a:latin typeface="Times New Roman"/>
                <a:ea typeface="標楷體"/>
              </a:rPr>
              <a:t> </a:t>
            </a:r>
            <a:r>
              <a:rPr b="1" lang="zh-TW" sz="2800" strike="noStrike" u="none">
                <a:solidFill>
                  <a:srgbClr val="c00000"/>
                </a:solidFill>
                <a:effectLst/>
                <a:uFillTx/>
                <a:latin typeface="Times New Roman"/>
                <a:ea typeface="標楷體"/>
              </a:rPr>
              <a:t>，或稱機構</a:t>
            </a:r>
            <a:r>
              <a:rPr b="1" lang="en-US" sz="2800" strike="noStrike" u="none">
                <a:solidFill>
                  <a:srgbClr val="c00000"/>
                </a:solidFill>
                <a:effectLst/>
                <a:uFillTx/>
                <a:latin typeface="Times New Roman"/>
                <a:ea typeface="標楷體"/>
              </a:rPr>
              <a:t> </a:t>
            </a:r>
            <a:r>
              <a:rPr b="1" lang="en-US" sz="2800" strike="noStrike" u="none">
                <a:solidFill>
                  <a:srgbClr val="c00000"/>
                </a:solidFill>
                <a:effectLst/>
                <a:uFillTx/>
                <a:latin typeface="Times New Roman"/>
                <a:ea typeface="標楷體"/>
              </a:rPr>
              <a:t>(mechanism)</a:t>
            </a:r>
            <a:r>
              <a:rPr b="1" lang="zh-TW" sz="2800" strike="noStrike" u="none">
                <a:solidFill>
                  <a:srgbClr val="c00000"/>
                </a:solidFill>
                <a:effectLst/>
                <a:uFillTx/>
                <a:latin typeface="Times New Roman"/>
                <a:ea typeface="標楷體"/>
              </a:rPr>
              <a:t>，如圖</a:t>
            </a:r>
            <a:r>
              <a:rPr b="1" lang="en-US" sz="2800" strike="noStrike" u="none">
                <a:solidFill>
                  <a:srgbClr val="c00000"/>
                </a:solidFill>
                <a:effectLst/>
                <a:uFillTx/>
                <a:latin typeface="Times New Roman"/>
                <a:ea typeface="標楷體"/>
              </a:rPr>
              <a:t> </a:t>
            </a:r>
            <a:r>
              <a:rPr b="1" lang="en-US" sz="2800" strike="noStrike" u="none">
                <a:solidFill>
                  <a:srgbClr val="c00000"/>
                </a:solidFill>
                <a:effectLst/>
                <a:uFillTx/>
                <a:latin typeface="Times New Roman"/>
                <a:ea typeface="標楷體"/>
              </a:rPr>
              <a:t>1.1 </a:t>
            </a:r>
            <a:r>
              <a:rPr b="1" lang="zh-TW" sz="2800" strike="noStrike" u="none">
                <a:solidFill>
                  <a:srgbClr val="c00000"/>
                </a:solidFill>
                <a:effectLst/>
                <a:uFillTx/>
                <a:latin typeface="Times New Roman"/>
                <a:ea typeface="標楷體"/>
              </a:rPr>
              <a:t>所示。</a:t>
            </a:r>
            <a:endParaRPr b="1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iming>
    <p:tnLst>
      <p:par>
        <p:cTn id="21" dur="indefinite" restart="never" nodeType="tmRoot">
          <p:childTnLst>
            <p:seq>
              <p:cTn id="22" dur="indefinite" nodeType="mainSeq">
                <p:childTnLst>
                  <p:par>
                    <p:cTn id="23" dur="indefinite" nodeType="clickEffect" fill="hold">
                      <p:stCondLst>
                        <p:cond delay="indefinite"/>
                      </p:stCondLst>
                      <p:childTnLst>
                        <p:par>
                          <p:cTn id="24" dur="indefinite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5" dur="indefinite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dur="indefinite" nodeType="clickEffect" fill="hold">
                      <p:stCondLst>
                        <p:cond delay="indefinite"/>
                      </p:stCondLst>
                      <p:childTnLst>
                        <p:par>
                          <p:cTn id="28" dur="indefinite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9" dur="indefinite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dur="indefinite" nodeType="clickEffect" fill="hold">
                      <p:stCondLst>
                        <p:cond delay="indefinite"/>
                      </p:stCondLst>
                      <p:childTnLst>
                        <p:par>
                          <p:cTn id="32" dur="indefinite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3" dur="indefinite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dur="indefinite" nodeType="clickEffect" fill="hold">
                      <p:stCondLst>
                        <p:cond delay="indefinite"/>
                      </p:stCondLst>
                      <p:childTnLst>
                        <p:par>
                          <p:cTn id="36" dur="indefinite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7" dur="indefinite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"/>
          <p:cNvSpPr/>
          <p:nvPr/>
        </p:nvSpPr>
        <p:spPr>
          <a:xfrm>
            <a:off x="1428840" y="285840"/>
            <a:ext cx="7358040" cy="9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b">
            <a:no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zh-TW" sz="3200" strike="noStrike" u="none">
                <a:solidFill>
                  <a:srgbClr val="c00000"/>
                </a:solidFill>
                <a:effectLst/>
                <a:uFillTx/>
                <a:latin typeface="Times New Roman"/>
                <a:ea typeface="標楷體"/>
              </a:rPr>
              <a:t>拘束運動鏈</a:t>
            </a:r>
            <a:r>
              <a:rPr b="1" lang="en-US" sz="3200" strike="noStrike" u="none">
                <a:solidFill>
                  <a:srgbClr val="c00000"/>
                </a:solidFill>
                <a:effectLst/>
                <a:uFillTx/>
                <a:latin typeface="Times New Roman"/>
                <a:ea typeface="標楷體"/>
              </a:rPr>
              <a:t>(</a:t>
            </a:r>
            <a:r>
              <a:rPr b="1" lang="zh-TW" sz="3200" strike="noStrike" u="none">
                <a:solidFill>
                  <a:srgbClr val="c00000"/>
                </a:solidFill>
                <a:effectLst/>
                <a:uFillTx/>
                <a:latin typeface="Times New Roman"/>
                <a:ea typeface="標楷體"/>
              </a:rPr>
              <a:t>或稱機構</a:t>
            </a:r>
            <a:r>
              <a:rPr b="1" lang="en-US" sz="3200" strike="noStrike" u="none">
                <a:solidFill>
                  <a:srgbClr val="c00000"/>
                </a:solidFill>
                <a:effectLst/>
                <a:uFillTx/>
                <a:latin typeface="Times New Roman"/>
                <a:ea typeface="標楷體"/>
              </a:rPr>
              <a:t>)</a:t>
            </a:r>
            <a:r>
              <a:rPr b="1" lang="zh-TW" sz="3200" strike="noStrike" u="none">
                <a:solidFill>
                  <a:srgbClr val="c00000"/>
                </a:solidFill>
                <a:effectLst/>
                <a:uFillTx/>
                <a:latin typeface="Times New Roman"/>
                <a:ea typeface="標楷體"/>
              </a:rPr>
              <a:t>之一例   </a:t>
            </a:r>
            <a:r>
              <a:rPr b="1" lang="en-US" sz="1400" strike="noStrike" u="sng">
                <a:solidFill>
                  <a:srgbClr val="ccccff"/>
                </a:solidFill>
                <a:effectLst/>
                <a:uFillTx/>
                <a:latin typeface="Times New Roman"/>
                <a:ea typeface="標楷體"/>
                <a:hlinkClick r:id="rId2"/>
              </a:rPr>
              <a:t>PLAY</a:t>
            </a:r>
            <a:endParaRPr b="1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6" name="" descr=""/>
          <p:cNvPicPr/>
          <p:nvPr/>
        </p:nvPicPr>
        <p:blipFill>
          <a:blip r:embed="rId3"/>
          <a:stretch/>
        </p:blipFill>
        <p:spPr>
          <a:xfrm>
            <a:off x="1428840" y="1857240"/>
            <a:ext cx="7319880" cy="2487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7" name="" descr=""/>
          <p:cNvPicPr/>
          <p:nvPr/>
        </p:nvPicPr>
        <p:blipFill>
          <a:blip r:embed="rId4"/>
          <a:stretch/>
        </p:blipFill>
        <p:spPr>
          <a:xfrm>
            <a:off x="5219640" y="4332240"/>
            <a:ext cx="3048120" cy="2286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8" name="" descr=""/>
          <p:cNvPicPr/>
          <p:nvPr/>
        </p:nvPicPr>
        <p:blipFill>
          <a:blip r:embed="rId5"/>
          <a:stretch/>
        </p:blipFill>
        <p:spPr>
          <a:xfrm>
            <a:off x="1547640" y="4292640"/>
            <a:ext cx="3048120" cy="228600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"/>
          <p:cNvSpPr/>
          <p:nvPr/>
        </p:nvSpPr>
        <p:spPr>
          <a:xfrm>
            <a:off x="1000080" y="0"/>
            <a:ext cx="8143920" cy="264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marL="365040" indent="-28260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buClr>
                <a:srgbClr val="3891a7"/>
              </a:buClr>
              <a:buSzPct val="80000"/>
              <a:buFont typeface="Wingdings" charset="2"/>
              <a:buChar char="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en-US" sz="3200" strike="noStrike" u="sng">
                <a:solidFill>
                  <a:srgbClr val="c00000"/>
                </a:solidFill>
                <a:effectLst/>
                <a:uFillTx/>
                <a:latin typeface="Times New Roman"/>
                <a:ea typeface="標楷體"/>
              </a:rPr>
              <a:t>1.1.2</a:t>
            </a:r>
            <a:r>
              <a:rPr b="1" lang="zh-TW" sz="3200" strike="noStrike" u="none">
                <a:solidFill>
                  <a:srgbClr val="c00000"/>
                </a:solidFill>
                <a:effectLst/>
                <a:uFillTx/>
                <a:latin typeface="Times New Roman"/>
                <a:ea typeface="標楷體"/>
              </a:rPr>
              <a:t>　機　構</a:t>
            </a:r>
            <a:r>
              <a:rPr b="1" lang="en-US" sz="3200" strike="noStrike" u="none">
                <a:solidFill>
                  <a:srgbClr val="c00000"/>
                </a:solidFill>
                <a:effectLst/>
                <a:uFillTx/>
                <a:latin typeface="Times New Roman"/>
                <a:ea typeface="標楷體"/>
              </a:rPr>
              <a:t> </a:t>
            </a:r>
            <a:r>
              <a:rPr b="1" lang="en-US" sz="3200" strike="noStrike" u="none">
                <a:solidFill>
                  <a:srgbClr val="c00000"/>
                </a:solidFill>
                <a:effectLst/>
                <a:uFillTx/>
                <a:latin typeface="Times New Roman"/>
                <a:ea typeface="標楷體"/>
              </a:rPr>
              <a:t>(mechanism)</a:t>
            </a:r>
            <a:r>
              <a:rPr b="1" lang="zh-TW" sz="3200" strike="noStrike" u="none">
                <a:solidFill>
                  <a:srgbClr val="c00000"/>
                </a:solidFill>
                <a:effectLst/>
                <a:uFillTx/>
                <a:latin typeface="Times New Roman"/>
                <a:ea typeface="標楷體"/>
              </a:rPr>
              <a:t>（續）</a:t>
            </a:r>
            <a:endParaRPr b="1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39720" indent="-236520">
              <a:lnSpc>
                <a:spcPct val="100000"/>
              </a:lnSpc>
              <a:spcBef>
                <a:spcPts val="561"/>
              </a:spcBef>
              <a:spcAft>
                <a:spcPts val="11"/>
              </a:spcAft>
              <a:buClr>
                <a:srgbClr val="3891a7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如果其中一根連桿固定，但根據其它任一根連桿移動並無法預知其餘連桿的位置，則稱此系統為無拘束運動鏈</a:t>
            </a:r>
            <a:r>
              <a:rPr b="1" lang="en-US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 </a:t>
            </a:r>
            <a:r>
              <a:rPr b="1" lang="en-US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(unconstrained kinematic chain)</a:t>
            </a: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。如圖</a:t>
            </a:r>
            <a:r>
              <a:rPr b="1" lang="en-US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 </a:t>
            </a:r>
            <a:r>
              <a:rPr b="1" lang="en-US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1.2 </a:t>
            </a: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所示。                  </a:t>
            </a:r>
            <a:r>
              <a:rPr b="1" lang="en-US" sz="900" strike="noStrike" u="sng">
                <a:solidFill>
                  <a:srgbClr val="ccccff"/>
                </a:solidFill>
                <a:effectLst/>
                <a:uFillTx/>
                <a:latin typeface="Times New Roman"/>
                <a:ea typeface="標楷體"/>
                <a:hlinkClick r:id="rId2"/>
              </a:rPr>
              <a:t>PLAY</a:t>
            </a:r>
            <a:endParaRPr b="1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0" name="" descr=""/>
          <p:cNvPicPr/>
          <p:nvPr/>
        </p:nvPicPr>
        <p:blipFill>
          <a:blip r:embed="rId3"/>
          <a:stretch/>
        </p:blipFill>
        <p:spPr>
          <a:xfrm>
            <a:off x="1979640" y="2852640"/>
            <a:ext cx="6118200" cy="280836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"/>
          <p:cNvSpPr/>
          <p:nvPr/>
        </p:nvSpPr>
        <p:spPr>
          <a:xfrm>
            <a:off x="1000080" y="0"/>
            <a:ext cx="8001000" cy="264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marL="365040" indent="-282600" algn="just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buClr>
                <a:srgbClr val="3891a7"/>
              </a:buClr>
              <a:buSzPct val="80000"/>
              <a:buFont typeface="Wingdings" charset="2"/>
              <a:buChar char="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en-US" sz="3200" strike="noStrike" u="sng">
                <a:solidFill>
                  <a:srgbClr val="c00000"/>
                </a:solidFill>
                <a:effectLst/>
                <a:uFillTx/>
                <a:latin typeface="Times New Roman"/>
                <a:ea typeface="標楷體"/>
              </a:rPr>
              <a:t>1.1.2</a:t>
            </a:r>
            <a:r>
              <a:rPr b="1" lang="zh-TW" sz="3200" strike="noStrike" u="none">
                <a:solidFill>
                  <a:srgbClr val="c00000"/>
                </a:solidFill>
                <a:effectLst/>
                <a:uFillTx/>
                <a:latin typeface="Times New Roman"/>
                <a:ea typeface="標楷體"/>
              </a:rPr>
              <a:t>　機　構</a:t>
            </a:r>
            <a:r>
              <a:rPr b="1" lang="en-US" sz="3200" strike="noStrike" u="none">
                <a:solidFill>
                  <a:srgbClr val="c00000"/>
                </a:solidFill>
                <a:effectLst/>
                <a:uFillTx/>
                <a:latin typeface="Times New Roman"/>
                <a:ea typeface="標楷體"/>
              </a:rPr>
              <a:t> </a:t>
            </a:r>
            <a:r>
              <a:rPr b="1" lang="en-US" sz="3200" strike="noStrike" u="none">
                <a:solidFill>
                  <a:srgbClr val="c00000"/>
                </a:solidFill>
                <a:effectLst/>
                <a:uFillTx/>
                <a:latin typeface="Times New Roman"/>
                <a:ea typeface="標楷體"/>
              </a:rPr>
              <a:t>(mechanism)</a:t>
            </a:r>
            <a:r>
              <a:rPr b="1" lang="zh-TW" sz="3200" strike="noStrike" u="none">
                <a:solidFill>
                  <a:srgbClr val="c00000"/>
                </a:solidFill>
                <a:effectLst/>
                <a:uFillTx/>
                <a:latin typeface="Times New Roman"/>
                <a:ea typeface="標楷體"/>
              </a:rPr>
              <a:t>（續）</a:t>
            </a:r>
            <a:endParaRPr b="1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39720" indent="-236520" algn="just">
              <a:lnSpc>
                <a:spcPct val="100000"/>
              </a:lnSpc>
              <a:spcBef>
                <a:spcPts val="561"/>
              </a:spcBef>
              <a:spcAft>
                <a:spcPts val="11"/>
              </a:spcAft>
              <a:buClr>
                <a:srgbClr val="3891a7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結構 </a:t>
            </a:r>
            <a:r>
              <a:rPr b="1" lang="en-US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(structure) </a:t>
            </a: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或架構</a:t>
            </a:r>
            <a:r>
              <a:rPr b="1" lang="en-US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 </a:t>
            </a:r>
            <a:r>
              <a:rPr b="1" lang="en-US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(truss)--</a:t>
            </a: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如圖</a:t>
            </a:r>
            <a:r>
              <a:rPr b="1" lang="en-US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 </a:t>
            </a:r>
            <a:r>
              <a:rPr b="1" lang="en-US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1.3 </a:t>
            </a: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中，三根連桿互相釘在一起，此種裝置不能構成一組運動鏈，因為其元件之間，沒有相對運動，所以不是機構。</a:t>
            </a:r>
            <a:endParaRPr b="1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"/>
          <p:cNvSpPr/>
          <p:nvPr/>
        </p:nvSpPr>
        <p:spPr>
          <a:xfrm>
            <a:off x="1938240" y="2509920"/>
            <a:ext cx="9144000" cy="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5360" bIns="-45360" anchor="ctr">
            <a:noAutofit/>
          </a:bodyPr>
          <a:p>
            <a:endParaRPr b="1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3" name="" descr=""/>
          <p:cNvPicPr/>
          <p:nvPr/>
        </p:nvPicPr>
        <p:blipFill>
          <a:blip r:embed="rId2"/>
          <a:stretch/>
        </p:blipFill>
        <p:spPr>
          <a:xfrm>
            <a:off x="1938240" y="2924280"/>
            <a:ext cx="5973840" cy="237960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"/>
          <p:cNvSpPr/>
          <p:nvPr/>
        </p:nvSpPr>
        <p:spPr>
          <a:xfrm>
            <a:off x="1000080" y="0"/>
            <a:ext cx="8143920" cy="65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marL="365040" indent="-282600" algn="just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buClr>
                <a:srgbClr val="3891a7"/>
              </a:buClr>
              <a:buSzPct val="80000"/>
              <a:buFont typeface="Wingdings" charset="2"/>
              <a:buChar char="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en-US" sz="3200" strike="noStrike" u="sng">
                <a:solidFill>
                  <a:srgbClr val="c00000"/>
                </a:solidFill>
                <a:effectLst/>
                <a:uFillTx/>
                <a:latin typeface="Times New Roman"/>
                <a:ea typeface="標楷體"/>
              </a:rPr>
              <a:t>1.1.2</a:t>
            </a:r>
            <a:r>
              <a:rPr b="1" lang="zh-TW" sz="3200" strike="noStrike" u="none">
                <a:solidFill>
                  <a:srgbClr val="c00000"/>
                </a:solidFill>
                <a:effectLst/>
                <a:uFillTx/>
                <a:latin typeface="Times New Roman"/>
                <a:ea typeface="標楷體"/>
              </a:rPr>
              <a:t>　機　構</a:t>
            </a:r>
            <a:r>
              <a:rPr b="1" lang="en-US" sz="3200" strike="noStrike" u="none">
                <a:solidFill>
                  <a:srgbClr val="c00000"/>
                </a:solidFill>
                <a:effectLst/>
                <a:uFillTx/>
                <a:latin typeface="Times New Roman"/>
                <a:ea typeface="標楷體"/>
              </a:rPr>
              <a:t> </a:t>
            </a:r>
            <a:r>
              <a:rPr b="1" lang="en-US" sz="3200" strike="noStrike" u="none">
                <a:solidFill>
                  <a:srgbClr val="c00000"/>
                </a:solidFill>
                <a:effectLst/>
                <a:uFillTx/>
                <a:latin typeface="Times New Roman"/>
                <a:ea typeface="標楷體"/>
              </a:rPr>
              <a:t>(mechanism)</a:t>
            </a:r>
            <a:r>
              <a:rPr b="1" lang="zh-TW" sz="3200" strike="noStrike" u="none">
                <a:solidFill>
                  <a:srgbClr val="c00000"/>
                </a:solidFill>
                <a:effectLst/>
                <a:uFillTx/>
                <a:latin typeface="Times New Roman"/>
                <a:ea typeface="標楷體"/>
              </a:rPr>
              <a:t>（續）</a:t>
            </a:r>
            <a:endParaRPr b="1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39720" indent="-236520" algn="just">
              <a:lnSpc>
                <a:spcPct val="100000"/>
              </a:lnSpc>
              <a:spcBef>
                <a:spcPts val="561"/>
              </a:spcBef>
              <a:spcAft>
                <a:spcPts val="11"/>
              </a:spcAft>
              <a:buClr>
                <a:srgbClr val="3891a7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雖然所有的機器都是機構，但並非機構就是機器，許多儀器是機構而非機器，因為它們無法產生有效功，也不轉換能量。</a:t>
            </a:r>
            <a:endParaRPr b="1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39720" indent="-236520" algn="just">
              <a:lnSpc>
                <a:spcPct val="100000"/>
              </a:lnSpc>
              <a:spcBef>
                <a:spcPts val="561"/>
              </a:spcBef>
              <a:spcAft>
                <a:spcPts val="11"/>
              </a:spcAft>
              <a:buClr>
                <a:srgbClr val="3891a7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機構與機械之異同</a:t>
            </a:r>
            <a:endParaRPr b="1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885960" indent="-228600" algn="just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buClr>
                <a:srgbClr val="feb80a"/>
              </a:buClr>
              <a:buFont typeface="Wingdings" charset="2"/>
              <a:buChar char="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zh-TW" sz="2400" strike="noStrike" u="none">
                <a:solidFill>
                  <a:srgbClr val="c00000"/>
                </a:solidFill>
                <a:effectLst/>
                <a:uFillTx/>
                <a:latin typeface="Times New Roman"/>
                <a:ea typeface="標楷體"/>
              </a:rPr>
              <a:t>機構只是用來傳遞或變換</a:t>
            </a:r>
            <a:r>
              <a:rPr b="1" lang="zh-TW" sz="2400" strike="noStrike" u="sng">
                <a:solidFill>
                  <a:srgbClr val="00b0f0"/>
                </a:solidFill>
                <a:effectLst/>
                <a:uFillTx/>
                <a:latin typeface="Times New Roman"/>
                <a:ea typeface="標楷體"/>
              </a:rPr>
              <a:t>運動</a:t>
            </a:r>
            <a:r>
              <a:rPr b="1" lang="zh-TW" sz="2400" strike="noStrike" u="none">
                <a:solidFill>
                  <a:srgbClr val="c00000"/>
                </a:solidFill>
                <a:effectLst/>
                <a:uFillTx/>
                <a:latin typeface="Times New Roman"/>
                <a:ea typeface="標楷體"/>
              </a:rPr>
              <a:t>之機件組合，而機械卻是用來傳遞或變換</a:t>
            </a:r>
            <a:r>
              <a:rPr b="1" lang="zh-TW" sz="2400" strike="noStrike" u="sng">
                <a:solidFill>
                  <a:srgbClr val="00b0f0"/>
                </a:solidFill>
                <a:effectLst/>
                <a:uFillTx/>
                <a:latin typeface="Times New Roman"/>
                <a:ea typeface="標楷體"/>
              </a:rPr>
              <a:t>能量</a:t>
            </a:r>
            <a:r>
              <a:rPr b="1" lang="zh-TW" sz="2400" strike="noStrike" u="none">
                <a:solidFill>
                  <a:srgbClr val="c00000"/>
                </a:solidFill>
                <a:effectLst/>
                <a:uFillTx/>
                <a:latin typeface="Times New Roman"/>
                <a:ea typeface="標楷體"/>
              </a:rPr>
              <a:t>之機件組合。</a:t>
            </a:r>
            <a:endParaRPr b="1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885960" indent="-228600" algn="just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buClr>
                <a:srgbClr val="feb80a"/>
              </a:buClr>
              <a:buFont typeface="Wingdings" charset="2"/>
              <a:buChar char="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zh-TW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兩者相同之處為各機件之間，必須要有相對之運動。</a:t>
            </a:r>
            <a:endParaRPr b="1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885960" indent="-228600" algn="just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buClr>
                <a:srgbClr val="feb80a"/>
              </a:buClr>
              <a:buFont typeface="Wingdings" charset="2"/>
              <a:buChar char="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zh-TW" sz="2400" strike="noStrike" u="none">
                <a:solidFill>
                  <a:srgbClr val="c00000"/>
                </a:solidFill>
                <a:effectLst/>
                <a:uFillTx/>
                <a:latin typeface="Times New Roman"/>
                <a:ea typeface="標楷體"/>
              </a:rPr>
              <a:t>不同之處為在機械本身必須作功，而機構不一定要作功。</a:t>
            </a:r>
            <a:endParaRPr b="1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885960" indent="-228600" algn="just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buClr>
                <a:srgbClr val="feb80a"/>
              </a:buClr>
              <a:buFont typeface="Wingdings" charset="2"/>
              <a:buChar char="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zh-TW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所謂機械能做功，並不是指機械本身能產生能量而作功，必須有外界之能源加諸於機械，方能使其作功。</a:t>
            </a:r>
            <a:endParaRPr b="1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iming>
    <p:tnLst>
      <p:par>
        <p:cTn id="39" dur="indefinite" restart="never" nodeType="tmRoot">
          <p:childTnLst>
            <p:seq>
              <p:cTn id="40" dur="indefinite" nodeType="mainSeq">
                <p:childTnLst>
                  <p:par>
                    <p:cTn id="41" dur="indefinite" nodeType="clickEffect" fill="hold">
                      <p:stCondLst>
                        <p:cond delay="indefinite"/>
                      </p:stCondLst>
                      <p:childTnLst>
                        <p:par>
                          <p:cTn id="42" dur="indefinite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3" dur="indefinite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dur="indefinite" nodeType="clickEffect" fill="hold">
                      <p:stCondLst>
                        <p:cond delay="indefinite"/>
                      </p:stCondLst>
                      <p:childTnLst>
                        <p:par>
                          <p:cTn id="46" dur="indefinite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7" dur="indefinite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dur="indefinite" nodeType="clickEffect" fill="hold">
                      <p:stCondLst>
                        <p:cond delay="indefinite"/>
                      </p:stCondLst>
                      <p:childTnLst>
                        <p:par>
                          <p:cTn id="50" dur="indefinite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1" dur="indefinite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dur="indefinite" nodeType="clickEffect" fill="hold">
                      <p:stCondLst>
                        <p:cond delay="indefinite"/>
                      </p:stCondLst>
                      <p:childTnLst>
                        <p:par>
                          <p:cTn id="54" dur="indefinite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5" dur="indefinite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dur="indefinite" nodeType="clickEffect" fill="hold">
                      <p:stCondLst>
                        <p:cond delay="indefinite"/>
                      </p:stCondLst>
                      <p:childTnLst>
                        <p:par>
                          <p:cTn id="58" dur="indefinite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9" dur="indefinite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dur="indefinite" nodeType="clickEffect" fill="hold">
                      <p:stCondLst>
                        <p:cond delay="indefinite"/>
                      </p:stCondLst>
                      <p:childTnLst>
                        <p:par>
                          <p:cTn id="62" dur="indefinite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63" dur="indefinite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"/>
          <p:cNvSpPr/>
          <p:nvPr/>
        </p:nvSpPr>
        <p:spPr>
          <a:xfrm>
            <a:off x="1434960" y="274680"/>
            <a:ext cx="7499520" cy="11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en-US" sz="4300" strike="noStrike" u="none">
                <a:solidFill>
                  <a:srgbClr val="572314"/>
                </a:solidFill>
                <a:effectLst/>
                <a:uFillTx/>
                <a:latin typeface="Gill Sans MT"/>
                <a:ea typeface="微軟正黑體"/>
              </a:rPr>
              <a:t>1.1.3</a:t>
            </a:r>
            <a:r>
              <a:rPr b="1" lang="zh-TW" sz="4300" strike="noStrike" u="none">
                <a:solidFill>
                  <a:srgbClr val="572314"/>
                </a:solidFill>
                <a:effectLst/>
                <a:uFillTx/>
                <a:latin typeface="Gill Sans MT"/>
                <a:ea typeface="微軟正黑體"/>
              </a:rPr>
              <a:t>　機構學</a:t>
            </a:r>
            <a:endParaRPr b="1" lang="en-US" sz="4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"/>
          <p:cNvSpPr/>
          <p:nvPr/>
        </p:nvSpPr>
        <p:spPr>
          <a:xfrm>
            <a:off x="1434960" y="1447920"/>
            <a:ext cx="7499520" cy="480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marL="365040" indent="-28260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buClr>
                <a:srgbClr val="3891a7"/>
              </a:buClr>
              <a:buSzPct val="80000"/>
              <a:buFont typeface="Wingdings 2" charset="2"/>
              <a:buChar char="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zh-TW" sz="3200" strike="noStrike" u="none">
                <a:solidFill>
                  <a:srgbClr val="000000"/>
                </a:solidFill>
                <a:effectLst/>
                <a:uFillTx/>
                <a:latin typeface="Gill Sans MT"/>
                <a:ea typeface="微軟正黑體"/>
              </a:rPr>
              <a:t>	</a:t>
            </a:r>
            <a:r>
              <a:rPr b="1" lang="zh-TW" sz="3200" strike="noStrike" u="none">
                <a:solidFill>
                  <a:srgbClr val="000000"/>
                </a:solidFill>
                <a:effectLst/>
                <a:uFillTx/>
                <a:latin typeface="Gill Sans MT"/>
                <a:ea typeface="微軟正黑體"/>
              </a:rPr>
              <a:t>機構學為研究機械運動之科學，一般分為純粹機構學及構造機構學或稱機械設計。</a:t>
            </a:r>
            <a:endParaRPr b="1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39720" indent="-236520">
              <a:lnSpc>
                <a:spcPct val="100000"/>
              </a:lnSpc>
              <a:spcBef>
                <a:spcPts val="561"/>
              </a:spcBef>
              <a:spcAft>
                <a:spcPts val="11"/>
              </a:spcAft>
              <a:buClr>
                <a:srgbClr val="3891a7"/>
              </a:buClr>
              <a:buFont typeface="Verdana"/>
              <a:buChar char="◦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en-US" sz="2800" strike="noStrike" u="none">
                <a:solidFill>
                  <a:srgbClr val="000000"/>
                </a:solidFill>
                <a:effectLst/>
                <a:uFillTx/>
                <a:latin typeface="Gill Sans MT"/>
                <a:ea typeface="微軟正黑體"/>
              </a:rPr>
              <a:t>1. </a:t>
            </a:r>
            <a:r>
              <a:rPr b="1" lang="en-US" sz="2800" strike="noStrike" u="none">
                <a:solidFill>
                  <a:srgbClr val="000000"/>
                </a:solidFill>
                <a:effectLst/>
                <a:uFillTx/>
                <a:latin typeface="Gill Sans MT"/>
                <a:ea typeface="微軟正黑體"/>
              </a:rPr>
              <a:t>	</a:t>
            </a: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Gill Sans MT"/>
                <a:ea typeface="微軟正黑體"/>
              </a:rPr>
              <a:t>純粹機構學</a:t>
            </a:r>
            <a:endParaRPr b="1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3840" indent="-70812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buClr>
                <a:srgbClr val="feb80a"/>
              </a:buClr>
              <a:buFont typeface="Wingdings 2" charset="2"/>
              <a:buChar char="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zh-TW" sz="2400" strike="noStrike" u="none">
                <a:solidFill>
                  <a:srgbClr val="000000"/>
                </a:solidFill>
                <a:effectLst/>
                <a:uFillTx/>
                <a:latin typeface="Gill Sans MT"/>
                <a:ea typeface="微軟正黑體"/>
              </a:rPr>
              <a:t>一、就現有機構分析其各點之路徑、法線、切線曲率中心、速度及加速度，</a:t>
            </a:r>
            <a:endParaRPr b="1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3840" indent="-70812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buClr>
                <a:srgbClr val="feb80a"/>
              </a:buClr>
              <a:buFont typeface="Wingdings 2" charset="2"/>
              <a:buChar char="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zh-TW" sz="2400" strike="noStrike" u="none">
                <a:solidFill>
                  <a:srgbClr val="000000"/>
                </a:solidFill>
                <a:effectLst/>
                <a:uFillTx/>
                <a:latin typeface="Gill Sans MT"/>
                <a:ea typeface="微軟正黑體"/>
              </a:rPr>
              <a:t>二、為原始機構加以組合或發展使之作某特定之運動，不考慮構件之強度、精細、大小。</a:t>
            </a:r>
            <a:endParaRPr b="1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"/>
          <p:cNvSpPr/>
          <p:nvPr/>
        </p:nvSpPr>
        <p:spPr>
          <a:xfrm>
            <a:off x="1434960" y="1447920"/>
            <a:ext cx="7499520" cy="480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lvl="1" marL="639720" indent="-236520">
              <a:lnSpc>
                <a:spcPct val="100000"/>
              </a:lnSpc>
              <a:spcBef>
                <a:spcPts val="561"/>
              </a:spcBef>
              <a:spcAft>
                <a:spcPts val="11"/>
              </a:spcAft>
              <a:buClr>
                <a:srgbClr val="3891a7"/>
              </a:buClr>
              <a:buFont typeface="Verdana"/>
              <a:buChar char="◦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en-US" sz="2800" strike="noStrike" u="none">
                <a:solidFill>
                  <a:srgbClr val="000000"/>
                </a:solidFill>
                <a:effectLst/>
                <a:uFillTx/>
                <a:latin typeface="Gill Sans MT"/>
                <a:ea typeface="微軟正黑體"/>
              </a:rPr>
              <a:t>2.</a:t>
            </a:r>
            <a:r>
              <a:rPr b="1" lang="en-US" sz="2800" strike="noStrike" u="none">
                <a:solidFill>
                  <a:srgbClr val="000000"/>
                </a:solidFill>
                <a:effectLst/>
                <a:uFillTx/>
                <a:latin typeface="Gill Sans MT"/>
                <a:ea typeface="微軟正黑體"/>
              </a:rPr>
              <a:t>	</a:t>
            </a: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Gill Sans MT"/>
                <a:ea typeface="微軟正黑體"/>
              </a:rPr>
              <a:t>構造機構學</a:t>
            </a:r>
            <a:r>
              <a:rPr b="1" lang="en-US" sz="2800" strike="noStrike" u="none">
                <a:solidFill>
                  <a:srgbClr val="000000"/>
                </a:solidFill>
                <a:effectLst/>
                <a:uFillTx/>
                <a:latin typeface="Gill Sans MT"/>
                <a:ea typeface="微軟正黑體"/>
              </a:rPr>
              <a:t>(</a:t>
            </a:r>
            <a:r>
              <a:rPr b="1" lang="zh-TW" sz="2800" strike="noStrike" u="none">
                <a:solidFill>
                  <a:srgbClr val="ff0000"/>
                </a:solidFill>
                <a:effectLst/>
                <a:uFillTx/>
                <a:latin typeface="Gill Sans MT"/>
                <a:ea typeface="微軟正黑體"/>
              </a:rPr>
              <a:t>機械設計</a:t>
            </a:r>
            <a:r>
              <a:rPr b="1" lang="en-US" sz="2800" strike="noStrike" u="none">
                <a:solidFill>
                  <a:srgbClr val="000000"/>
                </a:solidFill>
                <a:effectLst/>
                <a:uFillTx/>
                <a:latin typeface="Gill Sans MT"/>
                <a:ea typeface="微軟正黑體"/>
              </a:rPr>
              <a:t>)</a:t>
            </a:r>
            <a:endParaRPr b="1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885960" indent="-22860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buClr>
                <a:srgbClr val="feb80a"/>
              </a:buClr>
              <a:buFont typeface="Wingdings 2" charset="2"/>
              <a:buChar char="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zh-TW" sz="2400" strike="noStrike" u="none">
                <a:solidFill>
                  <a:srgbClr val="000000"/>
                </a:solidFill>
                <a:effectLst/>
                <a:uFillTx/>
                <a:latin typeface="Gill Sans MT"/>
                <a:ea typeface="微軟正黑體"/>
              </a:rPr>
              <a:t>主要是研究機件各部份受力的大小，並考慮到適於製造、容易裝配、保養與維護等各項問題。故又被稱為機械設計。</a:t>
            </a:r>
            <a:endParaRPr b="1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885960" indent="-22860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endParaRPr b="1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39720" indent="-236520">
              <a:lnSpc>
                <a:spcPct val="100000"/>
              </a:lnSpc>
              <a:spcBef>
                <a:spcPts val="56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endParaRPr b="1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"/>
          <p:cNvSpPr/>
          <p:nvPr/>
        </p:nvSpPr>
        <p:spPr>
          <a:xfrm>
            <a:off x="1000080" y="500040"/>
            <a:ext cx="8001000" cy="600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marL="365040" indent="-282600" algn="just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buClr>
                <a:srgbClr val="3891a7"/>
              </a:buClr>
              <a:buSzPct val="80000"/>
              <a:buFont typeface="Wingdings" charset="2"/>
              <a:buChar char="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en-US" sz="3200" strike="noStrike" u="sng">
                <a:solidFill>
                  <a:srgbClr val="c00000"/>
                </a:solidFill>
                <a:effectLst/>
                <a:uFillTx/>
                <a:latin typeface="Times New Roman"/>
                <a:ea typeface="標楷體"/>
              </a:rPr>
              <a:t>1.1.3</a:t>
            </a:r>
            <a:r>
              <a:rPr b="1" lang="zh-TW" sz="3200" strike="noStrike" u="none">
                <a:solidFill>
                  <a:srgbClr val="c00000"/>
                </a:solidFill>
                <a:effectLst/>
                <a:uFillTx/>
                <a:latin typeface="Times New Roman"/>
                <a:ea typeface="標楷體"/>
              </a:rPr>
              <a:t>　機　件</a:t>
            </a:r>
            <a:endParaRPr b="1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39720" indent="-236520" algn="just">
              <a:lnSpc>
                <a:spcPct val="100000"/>
              </a:lnSpc>
              <a:spcBef>
                <a:spcPts val="561"/>
              </a:spcBef>
              <a:spcAft>
                <a:spcPts val="11"/>
              </a:spcAft>
              <a:buClr>
                <a:srgbClr val="3891a7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機械或機構均由剛體或抗力體所組成，這類自成個體之剛體或抗力體，通常稱作機件</a:t>
            </a:r>
            <a:r>
              <a:rPr b="1" lang="en-US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 </a:t>
            </a:r>
            <a:r>
              <a:rPr b="1" lang="en-US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(machine parts)</a:t>
            </a: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 </a:t>
            </a: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。</a:t>
            </a:r>
            <a:endParaRPr b="1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39720" indent="-236520" algn="just">
              <a:lnSpc>
                <a:spcPct val="100000"/>
              </a:lnSpc>
              <a:spcBef>
                <a:spcPts val="56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endParaRPr b="1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39720" indent="-236520" algn="just">
              <a:lnSpc>
                <a:spcPct val="100000"/>
              </a:lnSpc>
              <a:spcBef>
                <a:spcPts val="561"/>
              </a:spcBef>
              <a:spcAft>
                <a:spcPts val="11"/>
              </a:spcAft>
              <a:buClr>
                <a:srgbClr val="3891a7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機件可分為</a:t>
            </a:r>
            <a:r>
              <a:rPr b="1" lang="zh-TW" sz="2800" strike="noStrike" u="none">
                <a:solidFill>
                  <a:srgbClr val="ff0000"/>
                </a:solidFill>
                <a:effectLst/>
                <a:uFillTx/>
                <a:latin typeface="Times New Roman"/>
                <a:ea typeface="標楷體"/>
              </a:rPr>
              <a:t>靜止機件</a:t>
            </a: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及</a:t>
            </a:r>
            <a:r>
              <a:rPr b="1" lang="zh-TW" sz="2800" strike="noStrike" u="none">
                <a:solidFill>
                  <a:srgbClr val="ff0000"/>
                </a:solidFill>
                <a:effectLst/>
                <a:uFillTx/>
                <a:latin typeface="Times New Roman"/>
                <a:ea typeface="標楷體"/>
              </a:rPr>
              <a:t>活動機件</a:t>
            </a: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，用以支撐或覆蓋其它機件，承擔負荷、傳遞力量或引導其它機件活動者為屬於靜止機件。可以傳遞一定動作至其它機件為屬於活動機件 。</a:t>
            </a:r>
            <a:endParaRPr b="1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iming>
    <p:tnLst>
      <p:par>
        <p:cTn id="65" dur="indefinite" restart="never" nodeType="tmRoot">
          <p:childTnLst>
            <p:seq>
              <p:cTn id="66" dur="indefinite" nodeType="mainSeq">
                <p:childTnLst>
                  <p:par>
                    <p:cTn id="67" dur="indefinite" nodeType="clickEffect" fill="hold">
                      <p:stCondLst>
                        <p:cond delay="indefinite"/>
                      </p:stCondLst>
                      <p:childTnLst>
                        <p:par>
                          <p:cTn id="68" dur="indefinite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69" dur="indefinite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"/>
          <p:cNvSpPr/>
          <p:nvPr/>
        </p:nvSpPr>
        <p:spPr>
          <a:xfrm>
            <a:off x="1434960" y="274680"/>
            <a:ext cx="7499520" cy="11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en-US" sz="3900" strike="noStrike" u="none">
                <a:solidFill>
                  <a:srgbClr val="572314"/>
                </a:solidFill>
                <a:effectLst/>
                <a:uFillTx/>
                <a:latin typeface="Gill Sans MT"/>
                <a:ea typeface="微軟正黑體"/>
              </a:rPr>
              <a:t>1.1.3</a:t>
            </a:r>
            <a:r>
              <a:rPr b="1" lang="zh-TW" sz="3900" strike="noStrike" u="none">
                <a:solidFill>
                  <a:srgbClr val="572314"/>
                </a:solidFill>
                <a:effectLst/>
                <a:uFillTx/>
                <a:latin typeface="Gill Sans MT"/>
                <a:ea typeface="微軟正黑體"/>
              </a:rPr>
              <a:t>　機件、機構與機器的定義</a:t>
            </a:r>
            <a:endParaRPr b="1" lang="en-US" sz="3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"/>
          <p:cNvSpPr/>
          <p:nvPr/>
        </p:nvSpPr>
        <p:spPr>
          <a:xfrm>
            <a:off x="1434960" y="1447920"/>
            <a:ext cx="7499520" cy="480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marL="365040" indent="-28260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buClr>
                <a:srgbClr val="3891a7"/>
              </a:buClr>
              <a:buSzPct val="80000"/>
              <a:buFont typeface="Wingdings 2" charset="2"/>
              <a:buChar char="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zh-TW" sz="3200" strike="noStrike" u="none">
                <a:solidFill>
                  <a:srgbClr val="000000"/>
                </a:solidFill>
                <a:effectLst/>
                <a:uFillTx/>
                <a:latin typeface="Gill Sans MT"/>
                <a:ea typeface="微軟正黑體"/>
              </a:rPr>
              <a:t>	</a:t>
            </a:r>
            <a:r>
              <a:rPr b="1" lang="zh-TW" sz="3200" strike="noStrike" u="none">
                <a:solidFill>
                  <a:srgbClr val="000000"/>
                </a:solidFill>
                <a:effectLst/>
                <a:uFillTx/>
                <a:latin typeface="Gill Sans MT"/>
                <a:ea typeface="微軟正黑體"/>
              </a:rPr>
              <a:t>機件：構成機構及機器最基本元件，分為：</a:t>
            </a:r>
            <a:endParaRPr b="1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096920" indent="-173160">
              <a:lnSpc>
                <a:spcPct val="100000"/>
              </a:lnSpc>
              <a:spcBef>
                <a:spcPts val="513"/>
              </a:spcBef>
              <a:spcAft>
                <a:spcPts val="11"/>
              </a:spcAft>
              <a:buClr>
                <a:srgbClr val="c32d2e"/>
              </a:buClr>
              <a:buFont typeface="Wingdings 2" charset="2"/>
              <a:buChar char="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en-US" sz="2000" strike="noStrike" u="none">
                <a:solidFill>
                  <a:srgbClr val="000000"/>
                </a:solidFill>
                <a:effectLst/>
                <a:uFillTx/>
                <a:latin typeface="Gill Sans MT"/>
                <a:ea typeface="微軟正黑體"/>
              </a:rPr>
              <a:t>(1)</a:t>
            </a:r>
            <a:r>
              <a:rPr b="1" lang="en-US" sz="2000" strike="noStrike" u="none">
                <a:solidFill>
                  <a:srgbClr val="000000"/>
                </a:solidFill>
                <a:effectLst/>
                <a:uFillTx/>
                <a:latin typeface="Gill Sans MT"/>
                <a:ea typeface="微軟正黑體"/>
              </a:rPr>
              <a:t>	</a:t>
            </a:r>
            <a:r>
              <a:rPr b="1" lang="zh-TW" sz="2000" strike="noStrike" u="none">
                <a:solidFill>
                  <a:srgbClr val="000000"/>
                </a:solidFill>
                <a:effectLst/>
                <a:uFillTx/>
                <a:latin typeface="Gill Sans MT"/>
                <a:ea typeface="微軟正黑體"/>
              </a:rPr>
              <a:t>固定用機件：支持或限制機件，如機架、軸承</a:t>
            </a:r>
            <a:endParaRPr b="1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096920" indent="-173160">
              <a:lnSpc>
                <a:spcPct val="100000"/>
              </a:lnSpc>
              <a:spcBef>
                <a:spcPts val="513"/>
              </a:spcBef>
              <a:spcAft>
                <a:spcPts val="11"/>
              </a:spcAft>
              <a:buClr>
                <a:srgbClr val="c32d2e"/>
              </a:buClr>
              <a:buFont typeface="Wingdings 2" charset="2"/>
              <a:buChar char="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en-US" sz="2000" strike="noStrike" u="none">
                <a:solidFill>
                  <a:srgbClr val="000000"/>
                </a:solidFill>
                <a:effectLst/>
                <a:uFillTx/>
                <a:latin typeface="Gill Sans MT"/>
                <a:ea typeface="微軟正黑體"/>
              </a:rPr>
              <a:t>(2)</a:t>
            </a:r>
            <a:r>
              <a:rPr b="1" lang="en-US" sz="2000" strike="noStrike" u="none">
                <a:solidFill>
                  <a:srgbClr val="000000"/>
                </a:solidFill>
                <a:effectLst/>
                <a:uFillTx/>
                <a:latin typeface="Gill Sans MT"/>
                <a:ea typeface="微軟正黑體"/>
              </a:rPr>
              <a:t>	</a:t>
            </a:r>
            <a:r>
              <a:rPr b="1" lang="zh-TW" sz="2000" strike="noStrike" u="none">
                <a:solidFill>
                  <a:srgbClr val="000000"/>
                </a:solidFill>
                <a:effectLst/>
                <a:uFillTx/>
                <a:latin typeface="Gill Sans MT"/>
                <a:ea typeface="微軟正黑體"/>
              </a:rPr>
              <a:t>結合用機件：連結各機件。如螺帽、螺栓。</a:t>
            </a:r>
            <a:endParaRPr b="1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096920" indent="-173160">
              <a:lnSpc>
                <a:spcPct val="100000"/>
              </a:lnSpc>
              <a:spcBef>
                <a:spcPts val="513"/>
              </a:spcBef>
              <a:spcAft>
                <a:spcPts val="11"/>
              </a:spcAft>
              <a:buClr>
                <a:srgbClr val="c32d2e"/>
              </a:buClr>
              <a:buFont typeface="Wingdings 2" charset="2"/>
              <a:buChar char="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en-US" sz="2000" strike="noStrike" u="none">
                <a:solidFill>
                  <a:srgbClr val="000000"/>
                </a:solidFill>
                <a:effectLst/>
                <a:uFillTx/>
                <a:latin typeface="Gill Sans MT"/>
                <a:ea typeface="微軟正黑體"/>
              </a:rPr>
              <a:t>(3)</a:t>
            </a:r>
            <a:r>
              <a:rPr b="1" lang="en-US" sz="2000" strike="noStrike" u="none">
                <a:solidFill>
                  <a:srgbClr val="000000"/>
                </a:solidFill>
                <a:effectLst/>
                <a:uFillTx/>
                <a:latin typeface="Gill Sans MT"/>
                <a:ea typeface="微軟正黑體"/>
              </a:rPr>
              <a:t>	</a:t>
            </a:r>
            <a:r>
              <a:rPr b="1" lang="zh-TW" sz="2000" strike="noStrike" u="none">
                <a:solidFill>
                  <a:srgbClr val="000000"/>
                </a:solidFill>
                <a:effectLst/>
                <a:uFillTx/>
                <a:latin typeface="Gill Sans MT"/>
                <a:ea typeface="微軟正黑體"/>
              </a:rPr>
              <a:t>運動傳達用機件：傳達動力。如齒輪或軸。</a:t>
            </a:r>
            <a:endParaRPr b="1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096920" indent="-173160">
              <a:lnSpc>
                <a:spcPct val="100000"/>
              </a:lnSpc>
              <a:spcBef>
                <a:spcPts val="513"/>
              </a:spcBef>
              <a:spcAft>
                <a:spcPts val="11"/>
              </a:spcAft>
              <a:buClr>
                <a:srgbClr val="c32d2e"/>
              </a:buClr>
              <a:buFont typeface="Wingdings 2" charset="2"/>
              <a:buChar char="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en-US" sz="2000" strike="noStrike" u="none">
                <a:solidFill>
                  <a:srgbClr val="000000"/>
                </a:solidFill>
                <a:effectLst/>
                <a:uFillTx/>
                <a:latin typeface="Gill Sans MT"/>
                <a:ea typeface="微軟正黑體"/>
              </a:rPr>
              <a:t>(4)</a:t>
            </a:r>
            <a:r>
              <a:rPr b="1" lang="en-US" sz="2000" strike="noStrike" u="none">
                <a:solidFill>
                  <a:srgbClr val="000000"/>
                </a:solidFill>
                <a:effectLst/>
                <a:uFillTx/>
                <a:latin typeface="Gill Sans MT"/>
                <a:ea typeface="微軟正黑體"/>
              </a:rPr>
              <a:t>	</a:t>
            </a:r>
            <a:r>
              <a:rPr b="1" lang="zh-TW" sz="2000" strike="noStrike" u="none">
                <a:solidFill>
                  <a:srgbClr val="000000"/>
                </a:solidFill>
                <a:effectLst/>
                <a:uFillTx/>
                <a:latin typeface="Gill Sans MT"/>
                <a:ea typeface="微軟正黑體"/>
              </a:rPr>
              <a:t>控制用機件：緩衝振動或傳達力量，如彈簧、連桿。</a:t>
            </a:r>
            <a:endParaRPr b="1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096920" indent="-173160">
              <a:lnSpc>
                <a:spcPct val="100000"/>
              </a:lnSpc>
              <a:spcBef>
                <a:spcPts val="513"/>
              </a:spcBef>
              <a:spcAft>
                <a:spcPts val="11"/>
              </a:spcAft>
              <a:buClr>
                <a:srgbClr val="c32d2e"/>
              </a:buClr>
              <a:buFont typeface="Wingdings 2" charset="2"/>
              <a:buChar char="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en-US" sz="2000" strike="noStrike" u="none">
                <a:solidFill>
                  <a:srgbClr val="000000"/>
                </a:solidFill>
                <a:effectLst/>
                <a:uFillTx/>
                <a:latin typeface="Gill Sans MT"/>
                <a:ea typeface="微軟正黑體"/>
              </a:rPr>
              <a:t>(5)</a:t>
            </a:r>
            <a:r>
              <a:rPr b="1" lang="en-US" sz="2000" strike="noStrike" u="none">
                <a:solidFill>
                  <a:srgbClr val="000000"/>
                </a:solidFill>
                <a:effectLst/>
                <a:uFillTx/>
                <a:latin typeface="Gill Sans MT"/>
                <a:ea typeface="微軟正黑體"/>
              </a:rPr>
              <a:t>	</a:t>
            </a:r>
            <a:r>
              <a:rPr b="1" lang="zh-TW" sz="2000" strike="noStrike" u="none">
                <a:solidFill>
                  <a:srgbClr val="000000"/>
                </a:solidFill>
                <a:effectLst/>
                <a:uFillTx/>
                <a:latin typeface="Gill Sans MT"/>
                <a:ea typeface="微軟正黑體"/>
              </a:rPr>
              <a:t>流體輸送機件：泵浦、電磁閥、油壓馬達。</a:t>
            </a:r>
            <a:endParaRPr b="1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"/>
          <p:cNvSpPr/>
          <p:nvPr/>
        </p:nvSpPr>
        <p:spPr>
          <a:xfrm>
            <a:off x="1547640" y="5468760"/>
            <a:ext cx="5867640" cy="2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zh-TW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標楷體"/>
              </a:rPr>
              <a:t>圖</a:t>
            </a:r>
            <a:r>
              <a:rPr b="1" lang="en-US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標楷體"/>
              </a:rPr>
              <a:t>1.1  </a:t>
            </a:r>
            <a:r>
              <a:rPr b="1" lang="zh-TW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標楷體"/>
              </a:rPr>
              <a:t>機構與機器的組成關係 </a:t>
            </a:r>
            <a:endParaRPr b="1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"/>
          <p:cNvSpPr/>
          <p:nvPr/>
        </p:nvSpPr>
        <p:spPr>
          <a:xfrm>
            <a:off x="4010040" y="826920"/>
            <a:ext cx="830160" cy="331920"/>
          </a:xfrm>
          <a:prstGeom prst="flowChartProcess">
            <a:avLst/>
          </a:prstGeom>
          <a:noFill/>
          <a:ln w="1908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zh-TW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標楷體"/>
              </a:rPr>
              <a:t>機  件</a:t>
            </a:r>
            <a:endParaRPr b="1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"/>
          <p:cNvSpPr/>
          <p:nvPr/>
        </p:nvSpPr>
        <p:spPr>
          <a:xfrm>
            <a:off x="3587760" y="1530360"/>
            <a:ext cx="1660680" cy="830160"/>
          </a:xfrm>
          <a:prstGeom prst="flowChartDecision">
            <a:avLst/>
          </a:prstGeom>
          <a:noFill/>
          <a:ln w="1908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zh-TW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標楷體"/>
              </a:rPr>
              <a:t>拘 束 運 動？</a:t>
            </a:r>
            <a:endParaRPr b="1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"/>
          <p:cNvSpPr/>
          <p:nvPr/>
        </p:nvSpPr>
        <p:spPr>
          <a:xfrm>
            <a:off x="4010040" y="2725560"/>
            <a:ext cx="830160" cy="331920"/>
          </a:xfrm>
          <a:prstGeom prst="flowChartProcess">
            <a:avLst/>
          </a:prstGeom>
          <a:noFill/>
          <a:ln w="1908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zh-TW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標楷體"/>
              </a:rPr>
              <a:t>機  構</a:t>
            </a:r>
            <a:endParaRPr b="1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"/>
          <p:cNvSpPr/>
          <p:nvPr/>
        </p:nvSpPr>
        <p:spPr>
          <a:xfrm>
            <a:off x="4430880" y="1177920"/>
            <a:ext cx="1440" cy="352440"/>
          </a:xfrm>
          <a:prstGeom prst="line">
            <a:avLst/>
          </a:prstGeom>
          <a:ln w="19080">
            <a:solidFill>
              <a:srgbClr val="ff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1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"/>
          <p:cNvSpPr/>
          <p:nvPr/>
        </p:nvSpPr>
        <p:spPr>
          <a:xfrm>
            <a:off x="4430880" y="2373480"/>
            <a:ext cx="1440" cy="352080"/>
          </a:xfrm>
          <a:prstGeom prst="line">
            <a:avLst/>
          </a:prstGeom>
          <a:ln w="19080">
            <a:solidFill>
              <a:srgbClr val="ff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1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"/>
          <p:cNvSpPr/>
          <p:nvPr/>
        </p:nvSpPr>
        <p:spPr>
          <a:xfrm>
            <a:off x="3587760" y="3429000"/>
            <a:ext cx="1660680" cy="830160"/>
          </a:xfrm>
          <a:prstGeom prst="flowChartDecision">
            <a:avLst/>
          </a:prstGeom>
          <a:noFill/>
          <a:ln w="1908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zh-TW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標楷體"/>
              </a:rPr>
              <a:t>輸出有效功？</a:t>
            </a:r>
            <a:endParaRPr b="1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"/>
          <p:cNvSpPr/>
          <p:nvPr/>
        </p:nvSpPr>
        <p:spPr>
          <a:xfrm>
            <a:off x="4430880" y="3076560"/>
            <a:ext cx="1440" cy="352440"/>
          </a:xfrm>
          <a:prstGeom prst="line">
            <a:avLst/>
          </a:prstGeom>
          <a:ln w="19080">
            <a:solidFill>
              <a:srgbClr val="ff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1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"/>
          <p:cNvSpPr/>
          <p:nvPr/>
        </p:nvSpPr>
        <p:spPr>
          <a:xfrm>
            <a:off x="4430880" y="4273560"/>
            <a:ext cx="1440" cy="351000"/>
          </a:xfrm>
          <a:prstGeom prst="line">
            <a:avLst/>
          </a:prstGeom>
          <a:ln w="19080">
            <a:solidFill>
              <a:srgbClr val="ff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1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"/>
          <p:cNvSpPr/>
          <p:nvPr/>
        </p:nvSpPr>
        <p:spPr>
          <a:xfrm>
            <a:off x="4010040" y="4624560"/>
            <a:ext cx="830160" cy="333360"/>
          </a:xfrm>
          <a:prstGeom prst="flowChartProcess">
            <a:avLst/>
          </a:prstGeom>
          <a:noFill/>
          <a:ln w="1908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zh-TW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標楷體"/>
              </a:rPr>
              <a:t>機  器</a:t>
            </a:r>
            <a:endParaRPr b="1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"/>
          <p:cNvSpPr/>
          <p:nvPr/>
        </p:nvSpPr>
        <p:spPr>
          <a:xfrm>
            <a:off x="5556240" y="1177920"/>
            <a:ext cx="831960" cy="333360"/>
          </a:xfrm>
          <a:prstGeom prst="flowChartAlternateProcess">
            <a:avLst/>
          </a:prstGeom>
          <a:noFill/>
          <a:ln w="19080">
            <a:solidFill>
              <a:srgbClr val="feb80a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zh-TW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標楷體"/>
              </a:rPr>
              <a:t>接 頭</a:t>
            </a:r>
            <a:endParaRPr b="1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"/>
          <p:cNvSpPr/>
          <p:nvPr/>
        </p:nvSpPr>
        <p:spPr>
          <a:xfrm>
            <a:off x="5556240" y="3076560"/>
            <a:ext cx="831960" cy="333360"/>
          </a:xfrm>
          <a:prstGeom prst="flowChartAlternateProcess">
            <a:avLst/>
          </a:prstGeom>
          <a:noFill/>
          <a:ln w="19080">
            <a:solidFill>
              <a:srgbClr val="feb80a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zh-TW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標楷體"/>
              </a:rPr>
              <a:t>控 制</a:t>
            </a:r>
            <a:endParaRPr b="1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"/>
          <p:cNvSpPr/>
          <p:nvPr/>
        </p:nvSpPr>
        <p:spPr>
          <a:xfrm>
            <a:off x="2532240" y="3076560"/>
            <a:ext cx="830160" cy="333360"/>
          </a:xfrm>
          <a:prstGeom prst="flowChartAlternateProcess">
            <a:avLst/>
          </a:prstGeom>
          <a:noFill/>
          <a:ln w="19080">
            <a:solidFill>
              <a:srgbClr val="feb80a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zh-TW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標楷體"/>
              </a:rPr>
              <a:t>動力源</a:t>
            </a:r>
            <a:endParaRPr b="1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"/>
          <p:cNvSpPr/>
          <p:nvPr/>
        </p:nvSpPr>
        <p:spPr>
          <a:xfrm>
            <a:off x="4430880" y="1319040"/>
            <a:ext cx="1125360" cy="1800"/>
          </a:xfrm>
          <a:prstGeom prst="line">
            <a:avLst/>
          </a:prstGeom>
          <a:ln w="19080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t">
            <a:noAutofit/>
          </a:bodyPr>
          <a:p>
            <a:endParaRPr b="1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"/>
          <p:cNvSpPr/>
          <p:nvPr/>
        </p:nvSpPr>
        <p:spPr>
          <a:xfrm>
            <a:off x="3376440" y="3218040"/>
            <a:ext cx="1125720" cy="1440"/>
          </a:xfrm>
          <a:prstGeom prst="line">
            <a:avLst/>
          </a:prstGeom>
          <a:ln w="19080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5360" bIns="-45360" anchor="t">
            <a:noAutofit/>
          </a:bodyPr>
          <a:p>
            <a:endParaRPr b="1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"/>
          <p:cNvSpPr/>
          <p:nvPr/>
        </p:nvSpPr>
        <p:spPr>
          <a:xfrm>
            <a:off x="4430880" y="3218040"/>
            <a:ext cx="1125360" cy="1440"/>
          </a:xfrm>
          <a:prstGeom prst="line">
            <a:avLst/>
          </a:prstGeom>
          <a:ln w="19080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5360" bIns="-45360" anchor="t">
            <a:noAutofit/>
          </a:bodyPr>
          <a:p>
            <a:endParaRPr b="1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"/>
          <p:cNvSpPr/>
          <p:nvPr/>
        </p:nvSpPr>
        <p:spPr>
          <a:xfrm>
            <a:off x="4324320" y="6242040"/>
            <a:ext cx="40680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en-US" sz="700" strike="noStrike" u="none">
                <a:solidFill>
                  <a:srgbClr val="000000"/>
                </a:solidFill>
                <a:effectLst/>
                <a:uFillTx/>
                <a:latin typeface="Arial"/>
                <a:ea typeface="標楷體"/>
              </a:rPr>
              <a:t>01-02</a:t>
            </a:r>
            <a:endParaRPr b="1" lang="en-US" sz="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"/>
          <p:cNvSpPr/>
          <p:nvPr/>
        </p:nvSpPr>
        <p:spPr>
          <a:xfrm>
            <a:off x="1000080" y="0"/>
            <a:ext cx="7686720" cy="100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en-US" sz="4000" strike="noStrike" u="sng">
                <a:solidFill>
                  <a:srgbClr val="c00000"/>
                </a:solidFill>
                <a:effectLst/>
                <a:uFillTx/>
                <a:latin typeface="Times New Roman"/>
                <a:ea typeface="標楷體"/>
              </a:rPr>
              <a:t>1.2</a:t>
            </a:r>
            <a:r>
              <a:rPr b="1" lang="zh-TW" sz="4000" strike="noStrike" u="none">
                <a:solidFill>
                  <a:srgbClr val="c00000"/>
                </a:solidFill>
                <a:effectLst/>
                <a:uFillTx/>
                <a:latin typeface="Times New Roman"/>
                <a:ea typeface="標楷體"/>
              </a:rPr>
              <a:t>　機動學</a:t>
            </a:r>
            <a:endParaRPr b="1" lang="en-US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"/>
          <p:cNvSpPr/>
          <p:nvPr/>
        </p:nvSpPr>
        <p:spPr>
          <a:xfrm>
            <a:off x="857160" y="1071720"/>
            <a:ext cx="8286840" cy="578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marL="365040" indent="-282600">
              <a:lnSpc>
                <a:spcPct val="90000"/>
              </a:lnSpc>
              <a:spcBef>
                <a:spcPts val="612"/>
              </a:spcBef>
              <a:spcAft>
                <a:spcPts val="11"/>
              </a:spcAft>
              <a:buClr>
                <a:srgbClr val="3891a7"/>
              </a:buClr>
              <a:buSzPct val="80000"/>
              <a:buFont typeface="Wingdings 2" charset="2"/>
              <a:buChar char="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zh-TW" sz="3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機械</a:t>
            </a:r>
            <a:r>
              <a:rPr b="1" lang="zh-TW" sz="3000" strike="noStrike" u="none">
                <a:solidFill>
                  <a:srgbClr val="00b0f0"/>
                </a:solidFill>
                <a:effectLst/>
                <a:uFillTx/>
                <a:latin typeface="Times New Roman"/>
                <a:ea typeface="標楷體"/>
              </a:rPr>
              <a:t>運動學</a:t>
            </a:r>
            <a:r>
              <a:rPr b="1" lang="en-US" sz="3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 </a:t>
            </a:r>
            <a:r>
              <a:rPr b="1" lang="en-US" sz="3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(kinematics of machines)</a:t>
            </a:r>
            <a:endParaRPr b="1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11280" algn="just">
              <a:lnSpc>
                <a:spcPct val="90000"/>
              </a:lnSpc>
              <a:spcBef>
                <a:spcPts val="56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zh-TW" sz="2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探討機械元件之間相對運動的學問</a:t>
            </a:r>
            <a:r>
              <a:rPr b="1" lang="en-US" sz="2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(</a:t>
            </a:r>
            <a:r>
              <a:rPr b="1" lang="zh-TW" sz="2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位移、速度及加速度</a:t>
            </a:r>
            <a:r>
              <a:rPr b="1" lang="en-US" sz="2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)</a:t>
            </a:r>
            <a:r>
              <a:rPr b="1" lang="zh-TW" sz="2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，並不考慮各機件受力之大小，也不管各機件本身質量之多寡。</a:t>
            </a:r>
            <a:endParaRPr b="1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5040" indent="-282600">
              <a:lnSpc>
                <a:spcPct val="90000"/>
              </a:lnSpc>
              <a:spcBef>
                <a:spcPts val="1213"/>
              </a:spcBef>
              <a:spcAft>
                <a:spcPts val="11"/>
              </a:spcAft>
              <a:buClr>
                <a:srgbClr val="3891a7"/>
              </a:buClr>
              <a:buSzPct val="80000"/>
              <a:buFont typeface="Wingdings 2" charset="2"/>
              <a:buChar char="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zh-TW" sz="3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機械</a:t>
            </a:r>
            <a:r>
              <a:rPr b="1" lang="zh-TW" sz="3000" strike="noStrike" u="none">
                <a:solidFill>
                  <a:srgbClr val="00b0f0"/>
                </a:solidFill>
                <a:effectLst/>
                <a:uFillTx/>
                <a:latin typeface="Times New Roman"/>
                <a:ea typeface="標楷體"/>
              </a:rPr>
              <a:t>動力學</a:t>
            </a:r>
            <a:r>
              <a:rPr b="1" lang="en-US" sz="3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 </a:t>
            </a:r>
            <a:r>
              <a:rPr b="1" lang="en-US" sz="3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(dynamics of machines)</a:t>
            </a:r>
            <a:endParaRPr b="1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11280" algn="just">
              <a:lnSpc>
                <a:spcPct val="90000"/>
              </a:lnSpc>
              <a:spcBef>
                <a:spcPts val="56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zh-TW" sz="2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研究作用在機械元件上的力與經由此力所造成的運動</a:t>
            </a:r>
            <a:r>
              <a:rPr b="1" lang="en-US" sz="2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(</a:t>
            </a:r>
            <a:r>
              <a:rPr b="1" lang="zh-TW" sz="2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力、質量、物體的尺寸大小與力施於物體上後產生的運動變化</a:t>
            </a:r>
            <a:r>
              <a:rPr b="1" lang="en-US" sz="2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)</a:t>
            </a:r>
            <a:r>
              <a:rPr b="1" lang="zh-TW" sz="2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，通常在確定運轉中的元件是否達到平衡，或是強度是否安全時，都必須作動力分析。</a:t>
            </a:r>
            <a:endParaRPr b="1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11280" algn="just">
              <a:lnSpc>
                <a:spcPct val="90000"/>
              </a:lnSpc>
              <a:spcBef>
                <a:spcPts val="1213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zh-TW" sz="2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近代機動學又可分為</a:t>
            </a:r>
            <a:r>
              <a:rPr b="1" lang="zh-TW" sz="2600" strike="noStrike" u="none">
                <a:solidFill>
                  <a:srgbClr val="ff0000"/>
                </a:solidFill>
                <a:effectLst/>
                <a:uFillTx/>
                <a:latin typeface="Times New Roman"/>
                <a:ea typeface="標楷體"/>
              </a:rPr>
              <a:t>機動分析學</a:t>
            </a:r>
            <a:r>
              <a:rPr b="1" lang="en-US" sz="2600" strike="noStrike" u="none">
                <a:solidFill>
                  <a:srgbClr val="ff0000"/>
                </a:solidFill>
                <a:effectLst/>
                <a:uFillTx/>
                <a:latin typeface="Times New Roman"/>
                <a:ea typeface="標楷體"/>
              </a:rPr>
              <a:t> </a:t>
            </a:r>
            <a:r>
              <a:rPr b="1" lang="en-US" sz="2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(mechanism analysis) </a:t>
            </a:r>
            <a:r>
              <a:rPr b="1" lang="zh-TW" sz="2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與</a:t>
            </a:r>
            <a:r>
              <a:rPr b="1" lang="zh-TW" sz="2600" strike="noStrike" u="none">
                <a:solidFill>
                  <a:srgbClr val="ff0000"/>
                </a:solidFill>
                <a:effectLst/>
                <a:uFillTx/>
                <a:latin typeface="Times New Roman"/>
                <a:ea typeface="標楷體"/>
              </a:rPr>
              <a:t>機動合成學</a:t>
            </a:r>
            <a:r>
              <a:rPr b="1" lang="en-US" sz="2600" strike="noStrike" u="none">
                <a:solidFill>
                  <a:srgbClr val="ff0000"/>
                </a:solidFill>
                <a:effectLst/>
                <a:uFillTx/>
                <a:latin typeface="Times New Roman"/>
                <a:ea typeface="標楷體"/>
              </a:rPr>
              <a:t> </a:t>
            </a:r>
            <a:r>
              <a:rPr b="1" lang="en-US" sz="2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(mechanism synthesis)</a:t>
            </a:r>
            <a:r>
              <a:rPr b="1" lang="zh-TW" sz="2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。前者重點在於分析已有機構之運動性質及法則；後者研究如何藉指定之運動條件，合成所需之機構。</a:t>
            </a:r>
            <a:endParaRPr b="1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iming>
    <p:tnLst>
      <p:par>
        <p:cTn id="71" dur="indefinite" restart="never" nodeType="tmRoot">
          <p:childTnLst>
            <p:seq>
              <p:cTn id="72" dur="indefinite" nodeType="mainSeq">
                <p:childTnLst>
                  <p:par>
                    <p:cTn id="73" dur="indefinite" nodeType="clickEffect" fill="hold">
                      <p:stCondLst>
                        <p:cond delay="indefinite"/>
                      </p:stCondLst>
                      <p:childTnLst>
                        <p:par>
                          <p:cTn id="74" dur="indefinite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75" dur="indefinite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dur="indefinite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dur="indefinite" nodeType="clickEffect" fill="hold">
                      <p:stCondLst>
                        <p:cond delay="indefinite"/>
                      </p:stCondLst>
                      <p:childTnLst>
                        <p:par>
                          <p:cTn id="80" dur="indefinite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81" dur="indefinite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dur="indefinite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dur="indefinite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"/>
          <p:cNvSpPr/>
          <p:nvPr/>
        </p:nvSpPr>
        <p:spPr>
          <a:xfrm>
            <a:off x="773280" y="826920"/>
            <a:ext cx="7526160" cy="494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marL="268200" indent="-268200"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en-US" sz="1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◎</a:t>
            </a:r>
            <a:r>
              <a:rPr b="1" lang="zh-TW" sz="1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機構學可分為機構的</a:t>
            </a:r>
            <a:r>
              <a:rPr b="1" lang="zh-TW" sz="16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分析</a:t>
            </a:r>
            <a:r>
              <a:rPr b="1" lang="en-US" sz="1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(</a:t>
            </a:r>
            <a:r>
              <a:rPr b="1" lang="en-US" sz="1600" strike="noStrike" u="none">
                <a:solidFill>
                  <a:srgbClr val="feb80a"/>
                </a:solidFill>
                <a:effectLst/>
                <a:uFillTx/>
                <a:latin typeface="Times New Roman"/>
                <a:ea typeface="標楷體"/>
              </a:rPr>
              <a:t>Analysis</a:t>
            </a:r>
            <a:r>
              <a:rPr b="1" lang="en-US" sz="1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)</a:t>
            </a:r>
            <a:r>
              <a:rPr b="1" lang="zh-TW" sz="1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與</a:t>
            </a:r>
            <a:r>
              <a:rPr b="1" lang="zh-TW" sz="16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合成</a:t>
            </a:r>
            <a:r>
              <a:rPr b="1" lang="en-US" sz="1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(</a:t>
            </a:r>
            <a:r>
              <a:rPr b="1" lang="en-US" sz="1600" strike="noStrike" u="none">
                <a:solidFill>
                  <a:srgbClr val="feb80a"/>
                </a:solidFill>
                <a:effectLst/>
                <a:uFillTx/>
                <a:latin typeface="Times New Roman"/>
                <a:ea typeface="標楷體"/>
              </a:rPr>
              <a:t>Synthesis</a:t>
            </a:r>
            <a:r>
              <a:rPr b="1" lang="en-US" sz="1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)</a:t>
            </a:r>
            <a:r>
              <a:rPr b="1" lang="zh-TW" sz="1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兩大類。</a:t>
            </a:r>
            <a:endParaRPr b="1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8200" indent="-268200"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zh-TW" sz="1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◎機構分析包括機構的構造分析</a:t>
            </a:r>
            <a:r>
              <a:rPr b="1" lang="en-US" sz="1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(</a:t>
            </a:r>
            <a:r>
              <a:rPr b="1" lang="en-US" sz="1600" strike="noStrike" u="none">
                <a:solidFill>
                  <a:srgbClr val="feb80a"/>
                </a:solidFill>
                <a:effectLst/>
                <a:uFillTx/>
                <a:latin typeface="Times New Roman"/>
                <a:ea typeface="標楷體"/>
              </a:rPr>
              <a:t>Structural</a:t>
            </a:r>
            <a:r>
              <a:rPr b="1" lang="en-US" sz="1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 </a:t>
            </a:r>
            <a:r>
              <a:rPr b="1" lang="en-US" sz="1600" strike="noStrike" u="none">
                <a:solidFill>
                  <a:srgbClr val="feb80a"/>
                </a:solidFill>
                <a:effectLst/>
                <a:uFillTx/>
                <a:latin typeface="Times New Roman"/>
                <a:ea typeface="標楷體"/>
              </a:rPr>
              <a:t>analysis</a:t>
            </a:r>
            <a:r>
              <a:rPr b="1" lang="en-US" sz="1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)</a:t>
            </a:r>
            <a:r>
              <a:rPr b="1" lang="zh-TW" sz="1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與運動分析</a:t>
            </a:r>
            <a:r>
              <a:rPr b="1" lang="en-US" sz="1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(</a:t>
            </a:r>
            <a:r>
              <a:rPr b="1" lang="en-US" sz="1600" strike="noStrike" u="none">
                <a:solidFill>
                  <a:srgbClr val="feb80a"/>
                </a:solidFill>
                <a:effectLst/>
                <a:uFillTx/>
                <a:latin typeface="Times New Roman"/>
                <a:ea typeface="標楷體"/>
              </a:rPr>
              <a:t>Kinematic </a:t>
            </a:r>
            <a:endParaRPr b="1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8200" indent="-268200"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en-US" sz="1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    </a:t>
            </a:r>
            <a:r>
              <a:rPr b="1" lang="en-US" sz="1600" strike="noStrike" u="none">
                <a:solidFill>
                  <a:srgbClr val="feb80a"/>
                </a:solidFill>
                <a:effectLst/>
                <a:uFillTx/>
                <a:latin typeface="Times New Roman"/>
                <a:ea typeface="標楷體"/>
              </a:rPr>
              <a:t>analysis</a:t>
            </a:r>
            <a:r>
              <a:rPr b="1" lang="en-US" sz="1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)</a:t>
            </a:r>
            <a:r>
              <a:rPr b="1" lang="zh-TW" sz="1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，是分析已有機構的可動性與運動狀態。</a:t>
            </a:r>
            <a:endParaRPr b="1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8200" indent="-268200"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zh-TW" sz="1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◎機構合成包括機構的構造合成</a:t>
            </a:r>
            <a:r>
              <a:rPr b="1" lang="en-US" sz="1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(</a:t>
            </a:r>
            <a:r>
              <a:rPr b="1" lang="en-US" sz="1600" strike="noStrike" u="none">
                <a:solidFill>
                  <a:srgbClr val="feb80a"/>
                </a:solidFill>
                <a:effectLst/>
                <a:uFillTx/>
                <a:latin typeface="Times New Roman"/>
                <a:ea typeface="標楷體"/>
              </a:rPr>
              <a:t>Structural</a:t>
            </a:r>
            <a:r>
              <a:rPr b="1" lang="en-US" sz="1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 </a:t>
            </a:r>
            <a:r>
              <a:rPr b="1" lang="en-US" sz="1600" strike="noStrike" u="none">
                <a:solidFill>
                  <a:srgbClr val="feb80a"/>
                </a:solidFill>
                <a:effectLst/>
                <a:uFillTx/>
                <a:latin typeface="Times New Roman"/>
                <a:ea typeface="標楷體"/>
              </a:rPr>
              <a:t>synthesis</a:t>
            </a:r>
            <a:r>
              <a:rPr b="1" lang="en-US" sz="1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)</a:t>
            </a:r>
            <a:r>
              <a:rPr b="1" lang="zh-TW" sz="1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與運動合成</a:t>
            </a:r>
            <a:r>
              <a:rPr b="1" lang="en-US" sz="1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(</a:t>
            </a:r>
            <a:r>
              <a:rPr b="1" lang="en-US" sz="1600" strike="noStrike" u="none">
                <a:solidFill>
                  <a:srgbClr val="feb80a"/>
                </a:solidFill>
                <a:effectLst/>
                <a:uFillTx/>
                <a:latin typeface="Times New Roman"/>
                <a:ea typeface="標楷體"/>
              </a:rPr>
              <a:t>Kinematic</a:t>
            </a:r>
            <a:r>
              <a:rPr b="1" lang="en-US" sz="1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 </a:t>
            </a:r>
            <a:endParaRPr b="1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8200" indent="-268200"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en-US" sz="1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    </a:t>
            </a:r>
            <a:r>
              <a:rPr b="1" lang="en-US" sz="1600" strike="noStrike" u="none">
                <a:solidFill>
                  <a:srgbClr val="feb80a"/>
                </a:solidFill>
                <a:effectLst/>
                <a:uFillTx/>
                <a:latin typeface="Times New Roman"/>
                <a:ea typeface="標楷體"/>
              </a:rPr>
              <a:t>synthesis</a:t>
            </a:r>
            <a:r>
              <a:rPr b="1" lang="en-US" sz="1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)</a:t>
            </a:r>
            <a:r>
              <a:rPr b="1" lang="zh-TW" sz="1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，是指依照機構之可動性與運動上的要求，設計出合乎所求的機構</a:t>
            </a:r>
            <a:endParaRPr b="1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8200" indent="-268200"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zh-TW" sz="1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    構造與幾何尺寸。</a:t>
            </a:r>
            <a:endParaRPr b="1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8200" indent="-268200"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zh-TW" sz="1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 </a:t>
            </a:r>
            <a:endParaRPr b="1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8200" indent="-268200"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zh-TW" sz="1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 </a:t>
            </a:r>
            <a:endParaRPr b="1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8200" indent="-268200"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zh-TW" sz="1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 </a:t>
            </a:r>
            <a:endParaRPr b="1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8200" indent="-268200"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zh-TW" sz="1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 </a:t>
            </a:r>
            <a:endParaRPr b="1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8200" indent="-268200"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zh-TW" sz="1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 </a:t>
            </a:r>
            <a:endParaRPr b="1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8200" indent="-268200"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endParaRPr b="1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8200" indent="-268200"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endParaRPr b="1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8200" indent="-268200"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zh-TW" sz="1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 </a:t>
            </a:r>
            <a:endParaRPr b="1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8200" indent="-268200"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zh-TW" sz="1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 </a:t>
            </a:r>
            <a:endParaRPr b="1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8200" indent="-268200"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zh-TW" sz="1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◎「機動學」</a:t>
            </a:r>
            <a:r>
              <a:rPr b="1" lang="en-US" sz="1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Mechanisms, Kinematics of Mechanisms, and Dynamics of Machinery</a:t>
            </a:r>
            <a:endParaRPr b="1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8200" indent="-268200"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en-US" sz="1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◎</a:t>
            </a:r>
            <a:r>
              <a:rPr b="1" lang="zh-TW" sz="1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「機器」</a:t>
            </a:r>
            <a:r>
              <a:rPr b="1" lang="en-US" sz="1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Machine</a:t>
            </a:r>
            <a:r>
              <a:rPr b="1" lang="en-US" sz="1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	</a:t>
            </a:r>
            <a:r>
              <a:rPr b="1" lang="en-US" sz="1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	</a:t>
            </a:r>
            <a:r>
              <a:rPr b="1" lang="zh-TW" sz="1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「機器設計」</a:t>
            </a:r>
            <a:r>
              <a:rPr b="1" lang="en-US" sz="1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Machine Design</a:t>
            </a:r>
            <a:endParaRPr b="1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8200" indent="-268200"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en-US" sz="1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◎</a:t>
            </a:r>
            <a:r>
              <a:rPr b="1" lang="zh-TW" sz="1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「機械」</a:t>
            </a:r>
            <a:r>
              <a:rPr b="1" lang="en-US" sz="1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Mechanical</a:t>
            </a:r>
            <a:r>
              <a:rPr b="1" lang="en-US" sz="1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	</a:t>
            </a:r>
            <a:r>
              <a:rPr b="1" lang="zh-TW" sz="1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「機械設計」</a:t>
            </a:r>
            <a:r>
              <a:rPr b="1" lang="en-US" sz="1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Mechanical Design</a:t>
            </a:r>
            <a:endParaRPr b="1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8200" indent="-268200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en-US" sz="1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	</a:t>
            </a:r>
            <a:r>
              <a:rPr b="1" lang="en-US" sz="1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	</a:t>
            </a:r>
            <a:r>
              <a:rPr b="1" lang="en-US" sz="1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	</a:t>
            </a:r>
            <a:r>
              <a:rPr b="1" lang="en-US" sz="1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        </a:t>
            </a:r>
            <a:r>
              <a:rPr b="1" lang="zh-TW" sz="1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「機械工程設計」</a:t>
            </a:r>
            <a:r>
              <a:rPr b="1" lang="en-US" sz="1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(Mechanical Engineering Design)</a:t>
            </a:r>
            <a:r>
              <a:rPr b="1" lang="en-US" sz="1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 </a:t>
            </a:r>
            <a:endParaRPr b="1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"/>
          <p:cNvSpPr/>
          <p:nvPr/>
        </p:nvSpPr>
        <p:spPr>
          <a:xfrm>
            <a:off x="3657600" y="2373480"/>
            <a:ext cx="1266840" cy="563400"/>
          </a:xfrm>
          <a:prstGeom prst="flowChartProcess">
            <a:avLst/>
          </a:pr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zh-TW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標楷體"/>
              </a:rPr>
              <a:t>機構學</a:t>
            </a:r>
            <a:endParaRPr b="1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"/>
          <p:cNvSpPr/>
          <p:nvPr/>
        </p:nvSpPr>
        <p:spPr>
          <a:xfrm>
            <a:off x="2251080" y="3639960"/>
            <a:ext cx="1265400" cy="562320"/>
          </a:xfrm>
          <a:prstGeom prst="flowChartProcess">
            <a:avLst/>
          </a:pr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zh-TW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標楷體"/>
              </a:rPr>
              <a:t>合       成</a:t>
            </a:r>
            <a:endParaRPr b="1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en-U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標楷體"/>
              </a:rPr>
              <a:t>SYNTHESIS</a:t>
            </a:r>
            <a:endParaRPr b="1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"/>
          <p:cNvSpPr/>
          <p:nvPr/>
        </p:nvSpPr>
        <p:spPr>
          <a:xfrm>
            <a:off x="5064120" y="3639960"/>
            <a:ext cx="1266840" cy="562320"/>
          </a:xfrm>
          <a:prstGeom prst="flowChartProcess">
            <a:avLst/>
          </a:pr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zh-TW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標楷體"/>
              </a:rPr>
              <a:t>分      析</a:t>
            </a:r>
            <a:endParaRPr b="1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en-U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標楷體"/>
              </a:rPr>
              <a:t>ANALYSIS</a:t>
            </a:r>
            <a:endParaRPr b="1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"/>
          <p:cNvSpPr/>
          <p:nvPr/>
        </p:nvSpPr>
        <p:spPr>
          <a:xfrm flipV="1">
            <a:off x="2813040" y="3288960"/>
            <a:ext cx="1440" cy="35244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1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"/>
          <p:cNvSpPr/>
          <p:nvPr/>
        </p:nvSpPr>
        <p:spPr>
          <a:xfrm flipV="1">
            <a:off x="5697360" y="3288960"/>
            <a:ext cx="1800" cy="35244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1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"/>
          <p:cNvSpPr/>
          <p:nvPr/>
        </p:nvSpPr>
        <p:spPr>
          <a:xfrm>
            <a:off x="2813040" y="3287880"/>
            <a:ext cx="2884320" cy="144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5360" bIns="-45360" anchor="t">
            <a:noAutofit/>
          </a:bodyPr>
          <a:p>
            <a:endParaRPr b="1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"/>
          <p:cNvSpPr/>
          <p:nvPr/>
        </p:nvSpPr>
        <p:spPr>
          <a:xfrm>
            <a:off x="4290840" y="2936880"/>
            <a:ext cx="1800" cy="35100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1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"/>
          <p:cNvSpPr/>
          <p:nvPr/>
        </p:nvSpPr>
        <p:spPr>
          <a:xfrm>
            <a:off x="4324320" y="6242040"/>
            <a:ext cx="40680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en-US" sz="700" strike="noStrike" u="none">
                <a:solidFill>
                  <a:srgbClr val="000000"/>
                </a:solidFill>
                <a:effectLst/>
                <a:uFillTx/>
                <a:latin typeface="Arial"/>
                <a:ea typeface="標楷體"/>
              </a:rPr>
              <a:t>01-08</a:t>
            </a:r>
            <a:endParaRPr b="1" lang="en-US" sz="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"/>
          <p:cNvSpPr/>
          <p:nvPr/>
        </p:nvSpPr>
        <p:spPr>
          <a:xfrm>
            <a:off x="2181240" y="5398920"/>
            <a:ext cx="4572000" cy="2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zh-TW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標楷體"/>
              </a:rPr>
              <a:t>圖</a:t>
            </a:r>
            <a:r>
              <a:rPr b="1" lang="en-US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標楷體"/>
              </a:rPr>
              <a:t>1.2  </a:t>
            </a:r>
            <a:r>
              <a:rPr b="1" lang="zh-TW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標楷體"/>
              </a:rPr>
              <a:t>機構與機器設計的流程 </a:t>
            </a:r>
            <a:endParaRPr b="1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"/>
          <p:cNvSpPr/>
          <p:nvPr/>
        </p:nvSpPr>
        <p:spPr>
          <a:xfrm>
            <a:off x="1828800" y="826920"/>
            <a:ext cx="1476360" cy="351000"/>
          </a:xfrm>
          <a:prstGeom prst="flowChartProcess">
            <a:avLst/>
          </a:pr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zh-TW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標楷體"/>
              </a:rPr>
              <a:t>確定工作目的</a:t>
            </a:r>
            <a:endParaRPr b="1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"/>
          <p:cNvSpPr/>
          <p:nvPr/>
        </p:nvSpPr>
        <p:spPr>
          <a:xfrm>
            <a:off x="1828800" y="1459080"/>
            <a:ext cx="1476360" cy="352080"/>
          </a:xfrm>
          <a:prstGeom prst="flowChartProcess">
            <a:avLst/>
          </a:pr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zh-TW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標楷體"/>
              </a:rPr>
              <a:t>創思拓樸構造</a:t>
            </a:r>
            <a:endParaRPr b="1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"/>
          <p:cNvSpPr/>
          <p:nvPr/>
        </p:nvSpPr>
        <p:spPr>
          <a:xfrm>
            <a:off x="1828800" y="2092320"/>
            <a:ext cx="1476360" cy="352440"/>
          </a:xfrm>
          <a:prstGeom prst="flowChartProcess">
            <a:avLst/>
          </a:pr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zh-TW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標楷體"/>
              </a:rPr>
              <a:t>合成運動尺寸</a:t>
            </a:r>
            <a:endParaRPr b="1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"/>
          <p:cNvSpPr/>
          <p:nvPr/>
        </p:nvSpPr>
        <p:spPr>
          <a:xfrm>
            <a:off x="1828800" y="2725560"/>
            <a:ext cx="1476360" cy="351000"/>
          </a:xfrm>
          <a:prstGeom prst="flowChartProcess">
            <a:avLst/>
          </a:pr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zh-TW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標楷體"/>
              </a:rPr>
              <a:t>分析運動狀態</a:t>
            </a:r>
            <a:endParaRPr b="1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"/>
          <p:cNvSpPr/>
          <p:nvPr/>
        </p:nvSpPr>
        <p:spPr>
          <a:xfrm>
            <a:off x="1828800" y="3359160"/>
            <a:ext cx="1476360" cy="351000"/>
          </a:xfrm>
          <a:prstGeom prst="flowChartProcess">
            <a:avLst/>
          </a:pr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zh-TW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標楷體"/>
              </a:rPr>
              <a:t>分析受力情形</a:t>
            </a:r>
            <a:endParaRPr b="1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"/>
          <p:cNvSpPr/>
          <p:nvPr/>
        </p:nvSpPr>
        <p:spPr>
          <a:xfrm>
            <a:off x="1828800" y="3990960"/>
            <a:ext cx="1476360" cy="352440"/>
          </a:xfrm>
          <a:prstGeom prst="flowChartProcess">
            <a:avLst/>
          </a:pr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zh-TW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標楷體"/>
              </a:rPr>
              <a:t>設計負荷尺寸</a:t>
            </a:r>
            <a:endParaRPr b="1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"/>
          <p:cNvSpPr/>
          <p:nvPr/>
        </p:nvSpPr>
        <p:spPr>
          <a:xfrm>
            <a:off x="1828800" y="4624560"/>
            <a:ext cx="1476360" cy="352080"/>
          </a:xfrm>
          <a:prstGeom prst="flowChartProcess">
            <a:avLst/>
          </a:pr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zh-TW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標楷體"/>
              </a:rPr>
              <a:t>研究動態特性</a:t>
            </a:r>
            <a:endParaRPr b="1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"/>
          <p:cNvSpPr/>
          <p:nvPr/>
        </p:nvSpPr>
        <p:spPr>
          <a:xfrm>
            <a:off x="2532240" y="1177920"/>
            <a:ext cx="1440" cy="281160"/>
          </a:xfrm>
          <a:prstGeom prst="line">
            <a:avLst/>
          </a:prstGeom>
          <a:ln w="9360">
            <a:solidFill>
              <a:srgbClr val="ff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1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"/>
          <p:cNvSpPr/>
          <p:nvPr/>
        </p:nvSpPr>
        <p:spPr>
          <a:xfrm>
            <a:off x="2532240" y="1811160"/>
            <a:ext cx="1440" cy="281160"/>
          </a:xfrm>
          <a:prstGeom prst="line">
            <a:avLst/>
          </a:prstGeom>
          <a:ln w="9360">
            <a:solidFill>
              <a:srgbClr val="ff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1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"/>
          <p:cNvSpPr/>
          <p:nvPr/>
        </p:nvSpPr>
        <p:spPr>
          <a:xfrm>
            <a:off x="2532240" y="2444760"/>
            <a:ext cx="1440" cy="280800"/>
          </a:xfrm>
          <a:prstGeom prst="line">
            <a:avLst/>
          </a:prstGeom>
          <a:ln w="9360">
            <a:solidFill>
              <a:srgbClr val="ff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1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"/>
          <p:cNvSpPr/>
          <p:nvPr/>
        </p:nvSpPr>
        <p:spPr>
          <a:xfrm>
            <a:off x="2532240" y="3076560"/>
            <a:ext cx="1440" cy="282600"/>
          </a:xfrm>
          <a:prstGeom prst="line">
            <a:avLst/>
          </a:prstGeom>
          <a:ln w="9360">
            <a:solidFill>
              <a:srgbClr val="ff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1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"/>
          <p:cNvSpPr/>
          <p:nvPr/>
        </p:nvSpPr>
        <p:spPr>
          <a:xfrm>
            <a:off x="2532240" y="3710160"/>
            <a:ext cx="1440" cy="280800"/>
          </a:xfrm>
          <a:prstGeom prst="line">
            <a:avLst/>
          </a:prstGeom>
          <a:ln w="9360">
            <a:solidFill>
              <a:srgbClr val="ff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1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"/>
          <p:cNvSpPr/>
          <p:nvPr/>
        </p:nvSpPr>
        <p:spPr>
          <a:xfrm>
            <a:off x="2532240" y="4343400"/>
            <a:ext cx="1440" cy="281160"/>
          </a:xfrm>
          <a:prstGeom prst="line">
            <a:avLst/>
          </a:prstGeom>
          <a:ln w="9360">
            <a:solidFill>
              <a:srgbClr val="ff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1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"/>
          <p:cNvSpPr/>
          <p:nvPr/>
        </p:nvSpPr>
        <p:spPr>
          <a:xfrm>
            <a:off x="1053720" y="1419120"/>
            <a:ext cx="424080" cy="104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46800" rIns="46800" tIns="90000" bIns="90000" anchor="t" anchorCtr="1" vert="eaVer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zh-TW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標楷體"/>
              </a:rPr>
              <a:t>機 構 設 計</a:t>
            </a:r>
            <a:endParaRPr b="1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"/>
          <p:cNvSpPr/>
          <p:nvPr/>
        </p:nvSpPr>
        <p:spPr>
          <a:xfrm flipH="1">
            <a:off x="1267920" y="966960"/>
            <a:ext cx="561960" cy="1440"/>
          </a:xfrm>
          <a:prstGeom prst="line">
            <a:avLst/>
          </a:prstGeom>
          <a:ln w="9360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5360" bIns="-45360" anchor="t">
            <a:noAutofit/>
          </a:bodyPr>
          <a:p>
            <a:endParaRPr b="1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"/>
          <p:cNvSpPr/>
          <p:nvPr/>
        </p:nvSpPr>
        <p:spPr>
          <a:xfrm>
            <a:off x="1266840" y="2867040"/>
            <a:ext cx="561960" cy="1440"/>
          </a:xfrm>
          <a:prstGeom prst="line">
            <a:avLst/>
          </a:prstGeom>
          <a:ln w="9360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5360" bIns="-45360" anchor="t">
            <a:noAutofit/>
          </a:bodyPr>
          <a:p>
            <a:endParaRPr b="1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"/>
          <p:cNvSpPr/>
          <p:nvPr/>
        </p:nvSpPr>
        <p:spPr>
          <a:xfrm>
            <a:off x="1266840" y="966960"/>
            <a:ext cx="1440" cy="422280"/>
          </a:xfrm>
          <a:prstGeom prst="line">
            <a:avLst/>
          </a:prstGeom>
          <a:ln w="9360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1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"/>
          <p:cNvSpPr/>
          <p:nvPr/>
        </p:nvSpPr>
        <p:spPr>
          <a:xfrm flipV="1">
            <a:off x="1266840" y="2515680"/>
            <a:ext cx="1440" cy="352440"/>
          </a:xfrm>
          <a:prstGeom prst="line">
            <a:avLst/>
          </a:prstGeom>
          <a:ln w="9360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1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"/>
          <p:cNvSpPr/>
          <p:nvPr/>
        </p:nvSpPr>
        <p:spPr>
          <a:xfrm>
            <a:off x="3657240" y="2403360"/>
            <a:ext cx="424080" cy="104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46800" rIns="46800" tIns="90000" bIns="90000" anchor="t" anchorCtr="1" vert="eaVer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zh-TW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標楷體"/>
              </a:rPr>
              <a:t>機 器 設 計</a:t>
            </a:r>
            <a:endParaRPr b="1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"/>
          <p:cNvSpPr/>
          <p:nvPr/>
        </p:nvSpPr>
        <p:spPr>
          <a:xfrm flipH="1">
            <a:off x="3306600" y="966960"/>
            <a:ext cx="563760" cy="1440"/>
          </a:xfrm>
          <a:prstGeom prst="line">
            <a:avLst/>
          </a:prstGeom>
          <a:ln w="9360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5360" bIns="-45360" anchor="t">
            <a:noAutofit/>
          </a:bodyPr>
          <a:p>
            <a:endParaRPr b="1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"/>
          <p:cNvSpPr/>
          <p:nvPr/>
        </p:nvSpPr>
        <p:spPr>
          <a:xfrm>
            <a:off x="3305160" y="4835520"/>
            <a:ext cx="563400" cy="1440"/>
          </a:xfrm>
          <a:prstGeom prst="line">
            <a:avLst/>
          </a:prstGeom>
          <a:ln w="9360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5360" bIns="-45360" anchor="t">
            <a:noAutofit/>
          </a:bodyPr>
          <a:p>
            <a:endParaRPr b="1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"/>
          <p:cNvSpPr/>
          <p:nvPr/>
        </p:nvSpPr>
        <p:spPr>
          <a:xfrm flipV="1">
            <a:off x="3868560" y="3499920"/>
            <a:ext cx="1800" cy="1336680"/>
          </a:xfrm>
          <a:prstGeom prst="line">
            <a:avLst/>
          </a:prstGeom>
          <a:ln w="9360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1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"/>
          <p:cNvSpPr/>
          <p:nvPr/>
        </p:nvSpPr>
        <p:spPr>
          <a:xfrm flipV="1">
            <a:off x="3868560" y="968040"/>
            <a:ext cx="1800" cy="1336680"/>
          </a:xfrm>
          <a:prstGeom prst="line">
            <a:avLst/>
          </a:prstGeom>
          <a:ln w="9360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1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3" name="" descr=""/>
          <p:cNvPicPr/>
          <p:nvPr/>
        </p:nvPicPr>
        <p:blipFill>
          <a:blip r:embed="rId2">
            <a:lum contrast="12000"/>
          </a:blip>
          <a:srcRect l="0" t="0" r="0" b="854"/>
          <a:stretch/>
        </p:blipFill>
        <p:spPr>
          <a:xfrm>
            <a:off x="5064120" y="896760"/>
            <a:ext cx="2487600" cy="4430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4" name=""/>
          <p:cNvSpPr/>
          <p:nvPr/>
        </p:nvSpPr>
        <p:spPr>
          <a:xfrm>
            <a:off x="4324320" y="6242040"/>
            <a:ext cx="40680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en-US" sz="700" strike="noStrike" u="none">
                <a:solidFill>
                  <a:srgbClr val="000000"/>
                </a:solidFill>
                <a:effectLst/>
                <a:uFillTx/>
                <a:latin typeface="Arial"/>
                <a:ea typeface="標楷體"/>
              </a:rPr>
              <a:t>01-05</a:t>
            </a:r>
            <a:endParaRPr b="1" lang="en-US" sz="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"/>
          <p:cNvSpPr/>
          <p:nvPr/>
        </p:nvSpPr>
        <p:spPr>
          <a:xfrm>
            <a:off x="1000080" y="0"/>
            <a:ext cx="7497720" cy="85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en-US" sz="4000" strike="noStrike" u="sng">
                <a:solidFill>
                  <a:srgbClr val="c00000"/>
                </a:solidFill>
                <a:effectLst/>
                <a:uFillTx/>
                <a:latin typeface="Times New Roman"/>
                <a:ea typeface="標楷體"/>
              </a:rPr>
              <a:t>1.3</a:t>
            </a:r>
            <a:r>
              <a:rPr b="1" lang="zh-TW" sz="4000" strike="noStrike" u="none">
                <a:solidFill>
                  <a:srgbClr val="c00000"/>
                </a:solidFill>
                <a:effectLst/>
                <a:uFillTx/>
                <a:latin typeface="Times New Roman"/>
                <a:ea typeface="標楷體"/>
              </a:rPr>
              <a:t>　機件之對偶與運動鏈</a:t>
            </a:r>
            <a:endParaRPr b="1" lang="en-US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"/>
          <p:cNvSpPr/>
          <p:nvPr/>
        </p:nvSpPr>
        <p:spPr>
          <a:xfrm>
            <a:off x="1000080" y="928800"/>
            <a:ext cx="8143920" cy="250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marL="365040" indent="-28260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buClr>
                <a:srgbClr val="3891a7"/>
              </a:buClr>
              <a:buSzPct val="80000"/>
              <a:buFont typeface="Wingdings" charset="2"/>
              <a:buChar char="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en-US" sz="32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1.3.1</a:t>
            </a:r>
            <a:r>
              <a:rPr b="1" lang="zh-TW" sz="3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　運動圖</a:t>
            </a:r>
            <a:r>
              <a:rPr b="1" lang="en-US" sz="3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(kinematic diagram)</a:t>
            </a:r>
            <a:endParaRPr b="1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39720">
              <a:lnSpc>
                <a:spcPct val="100000"/>
              </a:lnSpc>
              <a:spcBef>
                <a:spcPts val="56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為了便於研究機件間各種運動，慣以簡單的線條勾繪機件，但祗著重於影響運動的尺寸長度及位置，其它均不考慮。此即所謂的運動圖。</a:t>
            </a:r>
            <a:endParaRPr b="1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39720">
              <a:lnSpc>
                <a:spcPct val="100000"/>
              </a:lnSpc>
              <a:spcBef>
                <a:spcPts val="56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en-US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                                                                     </a:t>
            </a:r>
            <a:r>
              <a:rPr b="1" lang="en-US" sz="900" strike="noStrike" u="sng">
                <a:solidFill>
                  <a:srgbClr val="ccccff"/>
                </a:solidFill>
                <a:effectLst/>
                <a:uFillTx/>
                <a:latin typeface="Times New Roman"/>
                <a:ea typeface="標楷體"/>
                <a:hlinkClick r:id="rId2"/>
              </a:rPr>
              <a:t>PLAY</a:t>
            </a:r>
            <a:endParaRPr b="1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7" name="" descr=""/>
          <p:cNvPicPr/>
          <p:nvPr/>
        </p:nvPicPr>
        <p:blipFill>
          <a:blip r:embed="rId3"/>
          <a:stretch/>
        </p:blipFill>
        <p:spPr>
          <a:xfrm>
            <a:off x="2195640" y="3068640"/>
            <a:ext cx="5060880" cy="349740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" descr=""/>
          <p:cNvPicPr/>
          <p:nvPr/>
        </p:nvPicPr>
        <p:blipFill>
          <a:blip r:embed="rId2"/>
          <a:stretch/>
        </p:blipFill>
        <p:spPr>
          <a:xfrm>
            <a:off x="1790640" y="115920"/>
            <a:ext cx="5562720" cy="660888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"/>
          <p:cNvSpPr/>
          <p:nvPr/>
        </p:nvSpPr>
        <p:spPr>
          <a:xfrm>
            <a:off x="1000080" y="0"/>
            <a:ext cx="8001000" cy="371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marL="365040" indent="-282600" algn="just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buClr>
                <a:srgbClr val="3891a7"/>
              </a:buClr>
              <a:buSzPct val="80000"/>
              <a:buFont typeface="Wingdings" charset="2"/>
              <a:buChar char="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en-US" sz="3200" strike="noStrike" u="sng">
                <a:solidFill>
                  <a:srgbClr val="964305"/>
                </a:solidFill>
                <a:effectLst/>
                <a:uFillTx/>
                <a:latin typeface="Times New Roman"/>
                <a:ea typeface="標楷體"/>
              </a:rPr>
              <a:t>1.3.2</a:t>
            </a:r>
            <a:r>
              <a:rPr b="1" lang="zh-TW" sz="3200" strike="noStrike" u="none">
                <a:solidFill>
                  <a:srgbClr val="964305"/>
                </a:solidFill>
                <a:effectLst/>
                <a:uFillTx/>
                <a:latin typeface="Times New Roman"/>
                <a:ea typeface="標楷體"/>
              </a:rPr>
              <a:t>　機件之對偶</a:t>
            </a:r>
            <a:r>
              <a:rPr b="1" lang="en-US" sz="3200" strike="noStrike" u="none">
                <a:solidFill>
                  <a:srgbClr val="964305"/>
                </a:solidFill>
                <a:effectLst/>
                <a:uFillTx/>
                <a:latin typeface="Times New Roman"/>
                <a:ea typeface="標楷體"/>
              </a:rPr>
              <a:t>(pairing)</a:t>
            </a:r>
            <a:endParaRPr b="1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39720" indent="-236520" algn="just">
              <a:lnSpc>
                <a:spcPct val="100000"/>
              </a:lnSpc>
              <a:spcBef>
                <a:spcPts val="561"/>
              </a:spcBef>
              <a:spcAft>
                <a:spcPts val="11"/>
              </a:spcAft>
              <a:buClr>
                <a:srgbClr val="3891a7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一部機器係由許多的機件所組成的，任兩物體相接觸則構成一對偶</a:t>
            </a:r>
            <a:endParaRPr b="1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39720" indent="-236520" algn="just">
              <a:lnSpc>
                <a:spcPct val="100000"/>
              </a:lnSpc>
              <a:spcBef>
                <a:spcPts val="561"/>
              </a:spcBef>
              <a:spcAft>
                <a:spcPts val="11"/>
              </a:spcAft>
              <a:buClr>
                <a:srgbClr val="3891a7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低對</a:t>
            </a:r>
            <a:r>
              <a:rPr b="1" lang="en-US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(lower pairing)</a:t>
            </a:r>
            <a:endParaRPr b="1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885960" indent="-45720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buClr>
                <a:srgbClr val="feb80a"/>
              </a:buClr>
              <a:buFont typeface="Times New Roman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zh-TW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兩物體若是</a:t>
            </a:r>
            <a:r>
              <a:rPr b="1" lang="zh-TW" sz="2400" strike="noStrike" u="none">
                <a:solidFill>
                  <a:srgbClr val="ff0000"/>
                </a:solidFill>
                <a:effectLst/>
                <a:uFillTx/>
                <a:latin typeface="Times New Roman"/>
                <a:ea typeface="標楷體"/>
              </a:rPr>
              <a:t>面與面</a:t>
            </a:r>
            <a:r>
              <a:rPr b="1" lang="zh-TW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接觸就構成低對。</a:t>
            </a:r>
            <a:endParaRPr b="1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885960" indent="-457200">
              <a:lnSpc>
                <a:spcPct val="100000"/>
              </a:lnSpc>
              <a:spcBef>
                <a:spcPts val="213"/>
              </a:spcBef>
              <a:spcAft>
                <a:spcPts val="11"/>
              </a:spcAft>
              <a:buClr>
                <a:srgbClr val="feb80a"/>
              </a:buClr>
              <a:buFont typeface="Times New Roman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zh-TW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低對包含旋轉或銷接頭如圖</a:t>
            </a:r>
            <a:r>
              <a:rPr b="1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 </a:t>
            </a:r>
            <a:r>
              <a:rPr b="1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1.6 </a:t>
            </a:r>
            <a:r>
              <a:rPr b="1" lang="zh-TW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中，</a:t>
            </a:r>
            <a:r>
              <a:rPr b="1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A</a:t>
            </a:r>
            <a:r>
              <a:rPr b="1" lang="zh-TW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、</a:t>
            </a:r>
            <a:r>
              <a:rPr b="1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B</a:t>
            </a:r>
            <a:r>
              <a:rPr b="1" lang="zh-TW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代表軸承，</a:t>
            </a:r>
            <a:r>
              <a:rPr b="1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C</a:t>
            </a:r>
            <a:r>
              <a:rPr b="1" lang="zh-TW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為活塞，</a:t>
            </a:r>
            <a:r>
              <a:rPr b="1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D</a:t>
            </a:r>
            <a:r>
              <a:rPr b="1" lang="zh-TW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為汽缸壁；在 </a:t>
            </a:r>
            <a:r>
              <a:rPr b="1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A</a:t>
            </a:r>
            <a:r>
              <a:rPr b="1" lang="zh-TW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、</a:t>
            </a:r>
            <a:r>
              <a:rPr b="1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B</a:t>
            </a:r>
            <a:r>
              <a:rPr b="1" lang="zh-TW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、</a:t>
            </a:r>
            <a:r>
              <a:rPr b="1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C</a:t>
            </a:r>
            <a:r>
              <a:rPr b="1" lang="zh-TW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及</a:t>
            </a:r>
            <a:r>
              <a:rPr b="1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D</a:t>
            </a:r>
            <a:r>
              <a:rPr b="1" lang="zh-TW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各處就存在著低對。                                                </a:t>
            </a:r>
            <a:r>
              <a:rPr b="1" lang="en-US" sz="800" strike="noStrike" u="sng">
                <a:solidFill>
                  <a:srgbClr val="ccccff"/>
                </a:solidFill>
                <a:effectLst/>
                <a:uFillTx/>
                <a:latin typeface="Times New Roman"/>
                <a:ea typeface="標楷體"/>
                <a:hlinkClick r:id="rId2"/>
              </a:rPr>
              <a:t>PLAY</a:t>
            </a:r>
            <a:endParaRPr b="1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0" name="" descr=""/>
          <p:cNvPicPr/>
          <p:nvPr/>
        </p:nvPicPr>
        <p:blipFill>
          <a:blip r:embed="rId3"/>
          <a:stretch/>
        </p:blipFill>
        <p:spPr>
          <a:xfrm>
            <a:off x="2124000" y="3789360"/>
            <a:ext cx="5981760" cy="2362320"/>
          </a:xfrm>
          <a:prstGeom prst="rect">
            <a:avLst/>
          </a:prstGeom>
          <a:noFill/>
          <a:ln w="0">
            <a:noFill/>
          </a:ln>
        </p:spPr>
      </p:pic>
    </p:spTree>
  </p:cSld>
  <p:timing>
    <p:tnLst>
      <p:par>
        <p:cTn id="87" dur="indefinite" restart="never" nodeType="tmRoot">
          <p:childTnLst>
            <p:seq>
              <p:cTn id="88" dur="indefinite" nodeType="mainSeq">
                <p:childTnLst>
                  <p:par>
                    <p:cTn id="89" dur="indefinite" nodeType="clickEffect" fill="hold">
                      <p:stCondLst>
                        <p:cond delay="indefinite"/>
                      </p:stCondLst>
                      <p:childTnLst>
                        <p:par>
                          <p:cTn id="90" dur="indefinite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91" dur="indefinite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dur="indefinite" nodeType="clickEffect" fill="hold">
                      <p:stCondLst>
                        <p:cond delay="indefinite"/>
                      </p:stCondLst>
                      <p:childTnLst>
                        <p:par>
                          <p:cTn id="94" dur="indefinite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95" dur="indefinite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dur="indefinite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dur="indefinite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"/>
          <p:cNvSpPr/>
          <p:nvPr/>
        </p:nvSpPr>
        <p:spPr>
          <a:xfrm>
            <a:off x="1000080" y="0"/>
            <a:ext cx="8001000" cy="371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marL="365040" indent="-282600" algn="just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buClr>
                <a:srgbClr val="3891a7"/>
              </a:buClr>
              <a:buSzPct val="80000"/>
              <a:buFont typeface="Wingdings" charset="2"/>
              <a:buChar char="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en-US" sz="3200" strike="noStrike" u="sng">
                <a:solidFill>
                  <a:srgbClr val="964305"/>
                </a:solidFill>
                <a:effectLst/>
                <a:uFillTx/>
                <a:latin typeface="Times New Roman"/>
                <a:ea typeface="標楷體"/>
              </a:rPr>
              <a:t>1.3.2</a:t>
            </a:r>
            <a:r>
              <a:rPr b="1" lang="zh-TW" sz="3200" strike="noStrike" u="none">
                <a:solidFill>
                  <a:srgbClr val="964305"/>
                </a:solidFill>
                <a:effectLst/>
                <a:uFillTx/>
                <a:latin typeface="Times New Roman"/>
                <a:ea typeface="標楷體"/>
              </a:rPr>
              <a:t>　機件之對偶</a:t>
            </a:r>
            <a:r>
              <a:rPr b="1" lang="en-US" sz="3200" strike="noStrike" u="none">
                <a:solidFill>
                  <a:srgbClr val="964305"/>
                </a:solidFill>
                <a:effectLst/>
                <a:uFillTx/>
                <a:latin typeface="Times New Roman"/>
                <a:ea typeface="標楷體"/>
              </a:rPr>
              <a:t>(pairing)</a:t>
            </a:r>
            <a:r>
              <a:rPr b="1" lang="zh-TW" sz="3200" strike="noStrike" u="none">
                <a:solidFill>
                  <a:srgbClr val="964305"/>
                </a:solidFill>
                <a:effectLst/>
                <a:uFillTx/>
                <a:latin typeface="Times New Roman"/>
                <a:ea typeface="標楷體"/>
              </a:rPr>
              <a:t>（續）</a:t>
            </a:r>
            <a:endParaRPr b="1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39720" indent="-236520" algn="just">
              <a:lnSpc>
                <a:spcPct val="100000"/>
              </a:lnSpc>
              <a:spcBef>
                <a:spcPts val="561"/>
              </a:spcBef>
              <a:spcAft>
                <a:spcPts val="11"/>
              </a:spcAft>
              <a:buClr>
                <a:srgbClr val="3891a7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高對</a:t>
            </a:r>
            <a:r>
              <a:rPr b="1" lang="en-US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(higher pairing)</a:t>
            </a:r>
            <a:endParaRPr b="1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885960" indent="-45720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buClr>
                <a:srgbClr val="feb80a"/>
              </a:buClr>
              <a:buFont typeface="Times New Roman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zh-TW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不考慮機件變形，若兩物體係以點或線的接觸為高對。</a:t>
            </a:r>
            <a:r>
              <a:rPr b="1" lang="zh-TW" sz="2400" strike="noStrike" u="none">
                <a:solidFill>
                  <a:srgbClr val="ff0000"/>
                </a:solidFill>
                <a:effectLst/>
                <a:uFillTx/>
                <a:latin typeface="Gill Sans MT"/>
                <a:ea typeface="微軟正黑體"/>
              </a:rPr>
              <a:t>如滾動軸承、齒輪、凸輪。</a:t>
            </a:r>
            <a:endParaRPr b="1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885960" indent="-457200">
              <a:lnSpc>
                <a:spcPct val="100000"/>
              </a:lnSpc>
              <a:spcBef>
                <a:spcPts val="213"/>
              </a:spcBef>
              <a:spcAft>
                <a:spcPts val="11"/>
              </a:spcAft>
              <a:buClr>
                <a:srgbClr val="feb80a"/>
              </a:buClr>
              <a:buFont typeface="Times New Roman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zh-TW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如圖</a:t>
            </a:r>
            <a:r>
              <a:rPr b="1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 </a:t>
            </a:r>
            <a:r>
              <a:rPr b="1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1.7 </a:t>
            </a:r>
            <a:r>
              <a:rPr b="1" lang="zh-TW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中，活塞若為一圓球，則活塞與汽缸壁的接觸，就成為一圓周曲線為一高對。高對會造成較大的磨損                                                        </a:t>
            </a:r>
            <a:r>
              <a:rPr b="1" lang="en-US" sz="800" strike="noStrike" u="sng">
                <a:solidFill>
                  <a:srgbClr val="ccccff"/>
                </a:solidFill>
                <a:effectLst/>
                <a:uFillTx/>
                <a:latin typeface="Times New Roman"/>
                <a:ea typeface="標楷體"/>
                <a:hlinkClick r:id="rId2"/>
              </a:rPr>
              <a:t>PLAY</a:t>
            </a:r>
            <a:endParaRPr b="1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885960" indent="-457200">
              <a:lnSpc>
                <a:spcPct val="100000"/>
              </a:lnSpc>
              <a:spcBef>
                <a:spcPts val="213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endParaRPr b="1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2" name="" descr=""/>
          <p:cNvPicPr/>
          <p:nvPr/>
        </p:nvPicPr>
        <p:blipFill>
          <a:blip r:embed="rId3"/>
          <a:stretch/>
        </p:blipFill>
        <p:spPr>
          <a:xfrm>
            <a:off x="2484360" y="3284640"/>
            <a:ext cx="5572080" cy="1981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3" name="" descr=""/>
          <p:cNvPicPr/>
          <p:nvPr/>
        </p:nvPicPr>
        <p:blipFill>
          <a:blip r:embed="rId4"/>
          <a:srcRect l="0" t="6124" r="0" b="0"/>
          <a:stretch/>
        </p:blipFill>
        <p:spPr>
          <a:xfrm>
            <a:off x="1116000" y="3540240"/>
            <a:ext cx="1658880" cy="3317760"/>
          </a:xfrm>
          <a:prstGeom prst="rect">
            <a:avLst/>
          </a:prstGeom>
          <a:noFill/>
          <a:ln w="0">
            <a:noFill/>
          </a:ln>
        </p:spPr>
      </p:pic>
    </p:spTree>
  </p:cSld>
  <p:timing>
    <p:tnLst>
      <p:par>
        <p:cTn id="101" dur="indefinite" restart="never" nodeType="tmRoot">
          <p:childTnLst>
            <p:seq>
              <p:cTn id="102" dur="indefinite" nodeType="mainSeq">
                <p:childTnLst>
                  <p:par>
                    <p:cTn id="103" dur="indefinite" nodeType="clickEffect" fill="hold">
                      <p:stCondLst>
                        <p:cond delay="indefinite"/>
                      </p:stCondLst>
                      <p:childTnLst>
                        <p:par>
                          <p:cTn id="104" dur="indefinite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05" dur="indefinite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" descr=""/>
          <p:cNvPicPr/>
          <p:nvPr/>
        </p:nvPicPr>
        <p:blipFill>
          <a:blip r:embed="rId2"/>
          <a:stretch/>
        </p:blipFill>
        <p:spPr>
          <a:xfrm>
            <a:off x="7704000" y="4767120"/>
            <a:ext cx="1040040" cy="433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5" name=""/>
          <p:cNvSpPr/>
          <p:nvPr/>
        </p:nvSpPr>
        <p:spPr>
          <a:xfrm>
            <a:off x="7704000" y="4780080"/>
            <a:ext cx="990720" cy="38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00000"/>
              </a:lnSpc>
              <a:spcBef>
                <a:spcPts val="1012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zh-TW" sz="1600" strike="noStrike" u="sng">
                <a:solidFill>
                  <a:srgbClr val="ccccff"/>
                </a:solidFill>
                <a:effectLst/>
                <a:uFillTx/>
                <a:latin typeface="新細明體"/>
                <a:ea typeface="新細明體"/>
                <a:hlinkClick r:id="rId3"/>
              </a:rPr>
              <a:t>點接觸</a:t>
            </a:r>
            <a:r>
              <a:rPr b="1" lang="en-US" sz="1600" strike="noStrike" u="sng">
                <a:solidFill>
                  <a:srgbClr val="ccccff"/>
                </a:solidFill>
                <a:effectLst/>
                <a:uFillTx/>
                <a:latin typeface="新細明體"/>
                <a:ea typeface="新細明體"/>
                <a:hlinkClick r:id="rId4"/>
              </a:rPr>
              <a:t>(2)</a:t>
            </a:r>
            <a:endParaRPr b="1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6" name="" descr=""/>
          <p:cNvPicPr/>
          <p:nvPr/>
        </p:nvPicPr>
        <p:blipFill>
          <a:blip r:embed="rId5"/>
          <a:stretch/>
        </p:blipFill>
        <p:spPr>
          <a:xfrm>
            <a:off x="6570720" y="4754520"/>
            <a:ext cx="1039680" cy="433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7" name=""/>
          <p:cNvSpPr/>
          <p:nvPr/>
        </p:nvSpPr>
        <p:spPr>
          <a:xfrm>
            <a:off x="6570720" y="4767120"/>
            <a:ext cx="990720" cy="38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00000"/>
              </a:lnSpc>
              <a:spcBef>
                <a:spcPts val="1012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zh-TW" sz="1600" strike="noStrike" u="sng">
                <a:solidFill>
                  <a:srgbClr val="ccccff"/>
                </a:solidFill>
                <a:effectLst/>
                <a:uFillTx/>
                <a:latin typeface="新細明體"/>
                <a:ea typeface="新細明體"/>
                <a:hlinkClick r:id="rId6"/>
              </a:rPr>
              <a:t>點接觸</a:t>
            </a:r>
            <a:r>
              <a:rPr b="1" lang="en-US" sz="1600" strike="noStrike" u="sng">
                <a:solidFill>
                  <a:srgbClr val="ccccff"/>
                </a:solidFill>
                <a:effectLst/>
                <a:uFillTx/>
                <a:latin typeface="新細明體"/>
                <a:ea typeface="新細明體"/>
                <a:hlinkClick r:id="rId7"/>
              </a:rPr>
              <a:t>(1)</a:t>
            </a:r>
            <a:endParaRPr b="1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8" name="" descr=""/>
          <p:cNvPicPr/>
          <p:nvPr/>
        </p:nvPicPr>
        <p:blipFill>
          <a:blip r:embed="rId8"/>
          <a:srcRect l="-9272" t="-2597" r="53064" b="2613"/>
          <a:stretch/>
        </p:blipFill>
        <p:spPr>
          <a:xfrm>
            <a:off x="371520" y="227160"/>
            <a:ext cx="6164280" cy="540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9" name=""/>
          <p:cNvSpPr/>
          <p:nvPr/>
        </p:nvSpPr>
        <p:spPr>
          <a:xfrm>
            <a:off x="3106800" y="5769000"/>
            <a:ext cx="477036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marL="343080" indent="-343080">
              <a:lnSpc>
                <a:spcPct val="100000"/>
              </a:lnSpc>
              <a:spcBef>
                <a:spcPts val="1514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新細明體"/>
              </a:rPr>
              <a:t>《</a:t>
            </a:r>
            <a:r>
              <a:rPr b="1" lang="zh-TW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新細明體"/>
              </a:rPr>
              <a:t>高對</a:t>
            </a:r>
            <a:r>
              <a:rPr b="1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新細明體"/>
              </a:rPr>
              <a:t>》</a:t>
            </a:r>
            <a:endParaRPr b="1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0" name="" descr=""/>
          <p:cNvPicPr/>
          <p:nvPr/>
        </p:nvPicPr>
        <p:blipFill>
          <a:blip r:embed="rId9"/>
          <a:stretch/>
        </p:blipFill>
        <p:spPr>
          <a:xfrm>
            <a:off x="7705800" y="5283360"/>
            <a:ext cx="1039680" cy="433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1" name=""/>
          <p:cNvSpPr/>
          <p:nvPr/>
        </p:nvSpPr>
        <p:spPr>
          <a:xfrm>
            <a:off x="7705800" y="5295960"/>
            <a:ext cx="990360" cy="38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00000"/>
              </a:lnSpc>
              <a:spcBef>
                <a:spcPts val="1012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zh-TW" sz="1600" strike="noStrike" u="sng">
                <a:solidFill>
                  <a:srgbClr val="ccccff"/>
                </a:solidFill>
                <a:effectLst/>
                <a:uFillTx/>
                <a:latin typeface="新細明體"/>
                <a:ea typeface="新細明體"/>
                <a:hlinkClick r:id="rId10"/>
              </a:rPr>
              <a:t>線接觸</a:t>
            </a:r>
            <a:r>
              <a:rPr b="1" lang="en-US" sz="1600" strike="noStrike" u="sng">
                <a:solidFill>
                  <a:srgbClr val="ccccff"/>
                </a:solidFill>
                <a:effectLst/>
                <a:uFillTx/>
                <a:latin typeface="新細明體"/>
                <a:ea typeface="新細明體"/>
                <a:hlinkClick r:id="rId11"/>
              </a:rPr>
              <a:t>(2)</a:t>
            </a:r>
            <a:endParaRPr b="1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2" name="" descr=""/>
          <p:cNvPicPr/>
          <p:nvPr/>
        </p:nvPicPr>
        <p:blipFill>
          <a:blip r:embed="rId12"/>
          <a:stretch/>
        </p:blipFill>
        <p:spPr>
          <a:xfrm>
            <a:off x="6572160" y="5270400"/>
            <a:ext cx="1040040" cy="433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3" name=""/>
          <p:cNvSpPr/>
          <p:nvPr/>
        </p:nvSpPr>
        <p:spPr>
          <a:xfrm>
            <a:off x="6572160" y="5283360"/>
            <a:ext cx="990720" cy="38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00000"/>
              </a:lnSpc>
              <a:spcBef>
                <a:spcPts val="1012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zh-TW" sz="1600" strike="noStrike" u="sng">
                <a:solidFill>
                  <a:srgbClr val="ccccff"/>
                </a:solidFill>
                <a:effectLst/>
                <a:uFillTx/>
                <a:latin typeface="新細明體"/>
                <a:ea typeface="新細明體"/>
                <a:hlinkClick r:id="rId13"/>
              </a:rPr>
              <a:t>線接觸</a:t>
            </a:r>
            <a:r>
              <a:rPr b="1" lang="en-US" sz="1600" strike="noStrike" u="sng">
                <a:solidFill>
                  <a:srgbClr val="ccccff"/>
                </a:solidFill>
                <a:effectLst/>
                <a:uFillTx/>
                <a:latin typeface="新細明體"/>
                <a:ea typeface="新細明體"/>
                <a:hlinkClick r:id="rId14"/>
              </a:rPr>
              <a:t>(1)</a:t>
            </a:r>
            <a:endParaRPr b="1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"/>
          <p:cNvSpPr/>
          <p:nvPr/>
        </p:nvSpPr>
        <p:spPr>
          <a:xfrm>
            <a:off x="1000080" y="0"/>
            <a:ext cx="8001000" cy="371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marL="365040" indent="-282600" algn="just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buClr>
                <a:srgbClr val="3891a7"/>
              </a:buClr>
              <a:buSzPct val="80000"/>
              <a:buFont typeface="Wingdings" charset="2"/>
              <a:buChar char="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en-US" sz="3200" strike="noStrike" u="sng">
                <a:solidFill>
                  <a:srgbClr val="964305"/>
                </a:solidFill>
                <a:effectLst/>
                <a:uFillTx/>
                <a:latin typeface="Times New Roman"/>
                <a:ea typeface="標楷體"/>
              </a:rPr>
              <a:t>1.3.3</a:t>
            </a:r>
            <a:r>
              <a:rPr b="1" lang="zh-TW" sz="3200" strike="noStrike" u="none">
                <a:solidFill>
                  <a:srgbClr val="964305"/>
                </a:solidFill>
                <a:effectLst/>
                <a:uFillTx/>
                <a:latin typeface="Times New Roman"/>
                <a:ea typeface="標楷體"/>
              </a:rPr>
              <a:t>　接　頭</a:t>
            </a:r>
            <a:r>
              <a:rPr b="1" lang="en-US" sz="3200" strike="noStrike" u="none">
                <a:solidFill>
                  <a:srgbClr val="964305"/>
                </a:solidFill>
                <a:effectLst/>
                <a:uFillTx/>
                <a:latin typeface="Times New Roman"/>
                <a:ea typeface="標楷體"/>
              </a:rPr>
              <a:t> </a:t>
            </a:r>
            <a:r>
              <a:rPr b="1" lang="en-US" sz="3200" strike="noStrike" u="none">
                <a:solidFill>
                  <a:srgbClr val="964305"/>
                </a:solidFill>
                <a:effectLst/>
                <a:uFillTx/>
                <a:latin typeface="Times New Roman"/>
                <a:ea typeface="標楷體"/>
              </a:rPr>
              <a:t>(joint)</a:t>
            </a:r>
            <a:endParaRPr b="1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39720" indent="-236520" algn="just">
              <a:lnSpc>
                <a:spcPct val="100000"/>
              </a:lnSpc>
              <a:spcBef>
                <a:spcPts val="561"/>
              </a:spcBef>
              <a:spcAft>
                <a:spcPts val="11"/>
              </a:spcAft>
              <a:buClr>
                <a:srgbClr val="3891a7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在一部機械中，將連桿聯結在一起的部分。</a:t>
            </a:r>
            <a:endParaRPr b="1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39720" indent="-236520" algn="just">
              <a:lnSpc>
                <a:spcPct val="100000"/>
              </a:lnSpc>
              <a:spcBef>
                <a:spcPts val="561"/>
              </a:spcBef>
              <a:spcAft>
                <a:spcPts val="11"/>
              </a:spcAft>
              <a:buClr>
                <a:srgbClr val="3891a7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接頭允許連桿之間彼此作相對運動。</a:t>
            </a:r>
            <a:endParaRPr b="1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885960" indent="-45720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buClr>
                <a:srgbClr val="feb80a"/>
              </a:buClr>
              <a:buFont typeface="Times New Roman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zh-TW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圖</a:t>
            </a:r>
            <a:r>
              <a:rPr b="1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 </a:t>
            </a:r>
            <a:r>
              <a:rPr b="1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1.6</a:t>
            </a:r>
            <a:r>
              <a:rPr b="1" lang="zh-TW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曲柄滑塊機構中，曲柄與連桿之間的接頭即為旋轉接頭</a:t>
            </a:r>
            <a:r>
              <a:rPr b="1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 </a:t>
            </a:r>
            <a:r>
              <a:rPr b="1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(revolute joint)</a:t>
            </a:r>
            <a:r>
              <a:rPr b="1" lang="zh-TW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。</a:t>
            </a:r>
            <a:endParaRPr b="1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885960" indent="-457200">
              <a:lnSpc>
                <a:spcPct val="100000"/>
              </a:lnSpc>
              <a:spcBef>
                <a:spcPts val="213"/>
              </a:spcBef>
              <a:spcAft>
                <a:spcPts val="11"/>
              </a:spcAft>
              <a:buClr>
                <a:srgbClr val="feb80a"/>
              </a:buClr>
              <a:buFont typeface="Times New Roman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zh-TW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旋轉接頭只允許另外一根連桿作平面運動，而球接頭</a:t>
            </a:r>
            <a:r>
              <a:rPr b="1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 </a:t>
            </a:r>
            <a:r>
              <a:rPr b="1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(sphere joint) </a:t>
            </a:r>
            <a:r>
              <a:rPr b="1" lang="zh-TW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具有三個自由度，允許有三個角度的相對運動。                                                        </a:t>
            </a:r>
            <a:r>
              <a:rPr b="1" lang="en-US" sz="800" strike="noStrike" u="sng">
                <a:solidFill>
                  <a:srgbClr val="ccccff"/>
                </a:solidFill>
                <a:effectLst/>
                <a:uFillTx/>
                <a:latin typeface="Times New Roman"/>
                <a:ea typeface="標楷體"/>
                <a:hlinkClick r:id="rId2"/>
              </a:rPr>
              <a:t>PLAY</a:t>
            </a:r>
            <a:endParaRPr b="1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885960" indent="-45720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endParaRPr b="1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885960" indent="-45720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endParaRPr b="1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5" name="" descr=""/>
          <p:cNvPicPr/>
          <p:nvPr/>
        </p:nvPicPr>
        <p:blipFill>
          <a:blip r:embed="rId3"/>
          <a:stretch/>
        </p:blipFill>
        <p:spPr>
          <a:xfrm>
            <a:off x="2124000" y="3789360"/>
            <a:ext cx="5981760" cy="2362320"/>
          </a:xfrm>
          <a:prstGeom prst="rect">
            <a:avLst/>
          </a:prstGeom>
          <a:noFill/>
          <a:ln w="0">
            <a:noFill/>
          </a:ln>
        </p:spPr>
      </p:pic>
    </p:spTree>
  </p:cSld>
  <p:timing>
    <p:tnLst>
      <p:par>
        <p:cTn id="107" dur="indefinite" restart="never" nodeType="tmRoot">
          <p:childTnLst>
            <p:seq>
              <p:cTn id="108" dur="indefinite" nodeType="mainSeq">
                <p:childTnLst>
                  <p:par>
                    <p:cTn id="109" dur="indefinite" nodeType="clickEffect" fill="hold">
                      <p:stCondLst>
                        <p:cond delay="indefinite"/>
                      </p:stCondLst>
                      <p:childTnLst>
                        <p:par>
                          <p:cTn id="110" dur="indefinite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11" dur="indefinite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dur="indefinite" nodeType="clickEffect" fill="hold">
                      <p:stCondLst>
                        <p:cond delay="indefinite"/>
                      </p:stCondLst>
                      <p:childTnLst>
                        <p:par>
                          <p:cTn id="114" dur="indefinite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15" dur="indefinite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dur="indefinite" nodeType="clickEffect" fill="hold">
                      <p:stCondLst>
                        <p:cond delay="indefinite"/>
                      </p:stCondLst>
                      <p:childTnLst>
                        <p:par>
                          <p:cTn id="118" dur="indefinite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19" dur="indefinite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dur="indefinite" nodeType="clickEffect" fill="hold">
                      <p:stCondLst>
                        <p:cond delay="indefinite"/>
                      </p:stCondLst>
                      <p:childTnLst>
                        <p:par>
                          <p:cTn id="122" dur="indefinite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23" dur="indefinite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" descr=""/>
          <p:cNvPicPr/>
          <p:nvPr/>
        </p:nvPicPr>
        <p:blipFill>
          <a:blip r:embed="rId2"/>
          <a:stretch/>
        </p:blipFill>
        <p:spPr>
          <a:xfrm>
            <a:off x="7704000" y="4767120"/>
            <a:ext cx="1040040" cy="433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7" name=""/>
          <p:cNvSpPr/>
          <p:nvPr/>
        </p:nvSpPr>
        <p:spPr>
          <a:xfrm>
            <a:off x="7704000" y="4780080"/>
            <a:ext cx="990720" cy="38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00000"/>
              </a:lnSpc>
              <a:spcBef>
                <a:spcPts val="1012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zh-TW" sz="1600" strike="noStrike" u="sng">
                <a:solidFill>
                  <a:srgbClr val="ccccff"/>
                </a:solidFill>
                <a:effectLst/>
                <a:uFillTx/>
                <a:latin typeface="新細明體"/>
                <a:ea typeface="新細明體"/>
                <a:hlinkClick r:id="rId3"/>
              </a:rPr>
              <a:t>滑動對</a:t>
            </a:r>
            <a:r>
              <a:rPr b="1" lang="en-US" sz="1600" strike="noStrike" u="sng">
                <a:solidFill>
                  <a:srgbClr val="ccccff"/>
                </a:solidFill>
                <a:effectLst/>
                <a:uFillTx/>
                <a:latin typeface="新細明體"/>
                <a:ea typeface="新細明體"/>
                <a:hlinkClick r:id="rId4"/>
              </a:rPr>
              <a:t>(2)</a:t>
            </a:r>
            <a:endParaRPr b="1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8" name="" descr=""/>
          <p:cNvPicPr/>
          <p:nvPr/>
        </p:nvPicPr>
        <p:blipFill>
          <a:blip r:embed="rId5"/>
          <a:stretch/>
        </p:blipFill>
        <p:spPr>
          <a:xfrm>
            <a:off x="6570720" y="4754520"/>
            <a:ext cx="1039680" cy="433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9" name=""/>
          <p:cNvSpPr/>
          <p:nvPr/>
        </p:nvSpPr>
        <p:spPr>
          <a:xfrm>
            <a:off x="6570720" y="4767120"/>
            <a:ext cx="990720" cy="58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00000"/>
              </a:lnSpc>
              <a:spcBef>
                <a:spcPts val="1012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zh-TW" sz="1600" strike="noStrike" u="sng">
                <a:solidFill>
                  <a:srgbClr val="8dc765"/>
                </a:solidFill>
                <a:effectLst/>
                <a:uFillTx/>
                <a:latin typeface="新細明體"/>
                <a:ea typeface="新細明體"/>
              </a:rPr>
              <a:t>滑動對</a:t>
            </a:r>
            <a:r>
              <a:rPr b="1" lang="en-US" sz="1600" strike="noStrike" u="sng">
                <a:solidFill>
                  <a:srgbClr val="8dc765"/>
                </a:solidFill>
                <a:effectLst/>
                <a:uFillTx/>
                <a:latin typeface="新細明體"/>
                <a:ea typeface="新細明體"/>
              </a:rPr>
              <a:t>(1)</a:t>
            </a:r>
            <a:endParaRPr b="1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"/>
          <p:cNvSpPr/>
          <p:nvPr/>
        </p:nvSpPr>
        <p:spPr>
          <a:xfrm>
            <a:off x="3106800" y="5769000"/>
            <a:ext cx="477036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marL="343080" indent="-343080">
              <a:lnSpc>
                <a:spcPct val="100000"/>
              </a:lnSpc>
              <a:spcBef>
                <a:spcPts val="1514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新細明體"/>
              </a:rPr>
              <a:t>《</a:t>
            </a:r>
            <a:r>
              <a:rPr b="1" lang="zh-TW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新細明體"/>
              </a:rPr>
              <a:t>低對</a:t>
            </a:r>
            <a:r>
              <a:rPr b="1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新細明體"/>
              </a:rPr>
              <a:t>》</a:t>
            </a:r>
            <a:endParaRPr b="1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1" name="" descr=""/>
          <p:cNvPicPr/>
          <p:nvPr/>
        </p:nvPicPr>
        <p:blipFill>
          <a:blip r:embed="rId6"/>
          <a:stretch/>
        </p:blipFill>
        <p:spPr>
          <a:xfrm>
            <a:off x="7705800" y="5283360"/>
            <a:ext cx="1039680" cy="433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2" name=""/>
          <p:cNvSpPr/>
          <p:nvPr/>
        </p:nvSpPr>
        <p:spPr>
          <a:xfrm>
            <a:off x="7705800" y="5295960"/>
            <a:ext cx="99036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00000"/>
              </a:lnSpc>
              <a:spcBef>
                <a:spcPts val="1012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zh-TW" sz="1600" strike="noStrike" u="sng">
                <a:solidFill>
                  <a:srgbClr val="8dc765"/>
                </a:solidFill>
                <a:effectLst/>
                <a:uFillTx/>
                <a:latin typeface="新細明體"/>
                <a:ea typeface="新細明體"/>
              </a:rPr>
              <a:t>螺旋對</a:t>
            </a:r>
            <a:endParaRPr b="1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3" name="" descr=""/>
          <p:cNvPicPr/>
          <p:nvPr/>
        </p:nvPicPr>
        <p:blipFill>
          <a:blip r:embed="rId7"/>
          <a:stretch/>
        </p:blipFill>
        <p:spPr>
          <a:xfrm>
            <a:off x="6572160" y="5270400"/>
            <a:ext cx="1040040" cy="433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4" name=""/>
          <p:cNvSpPr/>
          <p:nvPr/>
        </p:nvSpPr>
        <p:spPr>
          <a:xfrm>
            <a:off x="6572160" y="5283360"/>
            <a:ext cx="99072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00000"/>
              </a:lnSpc>
              <a:spcBef>
                <a:spcPts val="1012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zh-TW" sz="1600" strike="noStrike" u="sng">
                <a:solidFill>
                  <a:srgbClr val="8dc765"/>
                </a:solidFill>
                <a:effectLst/>
                <a:uFillTx/>
                <a:latin typeface="新細明體"/>
                <a:ea typeface="新細明體"/>
              </a:rPr>
              <a:t>迴轉對</a:t>
            </a:r>
            <a:endParaRPr b="1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5" name="" descr=""/>
          <p:cNvPicPr/>
          <p:nvPr/>
        </p:nvPicPr>
        <p:blipFill>
          <a:blip r:embed="rId8"/>
          <a:srcRect l="50684" t="-439" r="926" b="455"/>
          <a:stretch/>
        </p:blipFill>
        <p:spPr>
          <a:xfrm>
            <a:off x="1071720" y="284040"/>
            <a:ext cx="5305320" cy="540720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"/>
          <p:cNvSpPr/>
          <p:nvPr/>
        </p:nvSpPr>
        <p:spPr>
          <a:xfrm>
            <a:off x="4324320" y="6242040"/>
            <a:ext cx="40680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en-US" sz="700" strike="noStrike" u="none">
                <a:solidFill>
                  <a:srgbClr val="000000"/>
                </a:solidFill>
                <a:effectLst/>
                <a:uFillTx/>
                <a:latin typeface="Arial"/>
                <a:ea typeface="標楷體"/>
              </a:rPr>
              <a:t>02-04</a:t>
            </a:r>
            <a:endParaRPr b="1" lang="en-US" sz="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7" name="" descr=""/>
          <p:cNvPicPr/>
          <p:nvPr/>
        </p:nvPicPr>
        <p:blipFill>
          <a:blip r:embed="rId2"/>
          <a:stretch/>
        </p:blipFill>
        <p:spPr>
          <a:xfrm>
            <a:off x="1979640" y="1203480"/>
            <a:ext cx="5317920" cy="4319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8" name=""/>
          <p:cNvSpPr/>
          <p:nvPr/>
        </p:nvSpPr>
        <p:spPr>
          <a:xfrm>
            <a:off x="2181240" y="5702400"/>
            <a:ext cx="4648320" cy="2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zh-TW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標楷體"/>
              </a:rPr>
              <a:t>圖 </a:t>
            </a:r>
            <a:r>
              <a:rPr b="1" lang="en-US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標楷體"/>
              </a:rPr>
              <a:t>2-1  </a:t>
            </a:r>
            <a:r>
              <a:rPr b="1" lang="zh-TW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標楷體"/>
              </a:rPr>
              <a:t>接頭的種類 </a:t>
            </a:r>
            <a:endParaRPr b="1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"/>
          <p:cNvSpPr/>
          <p:nvPr/>
        </p:nvSpPr>
        <p:spPr>
          <a:xfrm>
            <a:off x="0" y="0"/>
            <a:ext cx="9144000" cy="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5360" bIns="-45360" anchor="ctr">
            <a:noAutofit/>
          </a:bodyPr>
          <a:p>
            <a:endParaRPr b="1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"/>
          <p:cNvSpPr/>
          <p:nvPr/>
        </p:nvSpPr>
        <p:spPr>
          <a:xfrm>
            <a:off x="1000080" y="0"/>
            <a:ext cx="8001000" cy="592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marL="365040" indent="-28260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buClr>
                <a:srgbClr val="3891a7"/>
              </a:buClr>
              <a:buSzPct val="80000"/>
              <a:buFont typeface="Wingdings" charset="2"/>
              <a:buChar char="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en-US" sz="3200" strike="noStrike" u="sng">
                <a:solidFill>
                  <a:srgbClr val="964305"/>
                </a:solidFill>
                <a:effectLst/>
                <a:uFillTx/>
                <a:latin typeface="Times New Roman"/>
                <a:ea typeface="標楷體"/>
              </a:rPr>
              <a:t>1.3.4</a:t>
            </a:r>
            <a:r>
              <a:rPr b="1" lang="zh-TW" sz="3200" strike="noStrike" u="none">
                <a:solidFill>
                  <a:srgbClr val="964305"/>
                </a:solidFill>
                <a:effectLst/>
                <a:uFillTx/>
                <a:latin typeface="Times New Roman"/>
                <a:ea typeface="標楷體"/>
              </a:rPr>
              <a:t>　自由度</a:t>
            </a:r>
            <a:r>
              <a:rPr b="1" lang="en-US" sz="3200" strike="noStrike" u="none">
                <a:solidFill>
                  <a:srgbClr val="964305"/>
                </a:solidFill>
                <a:effectLst/>
                <a:uFillTx/>
                <a:latin typeface="Times New Roman"/>
                <a:ea typeface="標楷體"/>
              </a:rPr>
              <a:t> </a:t>
            </a:r>
            <a:r>
              <a:rPr b="1" lang="en-US" sz="3200" strike="noStrike" u="none">
                <a:solidFill>
                  <a:srgbClr val="964305"/>
                </a:solidFill>
                <a:effectLst/>
                <a:uFillTx/>
                <a:latin typeface="Times New Roman"/>
                <a:ea typeface="標楷體"/>
              </a:rPr>
              <a:t>(degree of freedom)</a:t>
            </a:r>
            <a:endParaRPr b="1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39720" indent="-236520" algn="just">
              <a:lnSpc>
                <a:spcPct val="100000"/>
              </a:lnSpc>
              <a:spcBef>
                <a:spcPts val="56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endParaRPr b="1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39720" indent="-236520" algn="just">
              <a:lnSpc>
                <a:spcPct val="100000"/>
              </a:lnSpc>
              <a:spcBef>
                <a:spcPts val="561"/>
              </a:spcBef>
              <a:spcAft>
                <a:spcPts val="11"/>
              </a:spcAft>
              <a:buClr>
                <a:srgbClr val="3891a7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相對於機架或固定桿而言，確定每一根連桿位置所需的最少獨立參數</a:t>
            </a:r>
            <a:r>
              <a:rPr b="1" lang="en-US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 </a:t>
            </a:r>
            <a:r>
              <a:rPr b="1" lang="en-US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(independent parameter) </a:t>
            </a: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之數目。</a:t>
            </a:r>
            <a:endParaRPr b="1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885960" indent="-45720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endParaRPr b="1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885960" indent="-45720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buClr>
                <a:srgbClr val="feb80a"/>
              </a:buClr>
              <a:buFont typeface="Times New Roman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zh-TW" sz="2400" strike="noStrike" u="none">
                <a:solidFill>
                  <a:srgbClr val="964305"/>
                </a:solidFill>
                <a:effectLst/>
                <a:uFillTx/>
                <a:latin typeface="Times New Roman"/>
                <a:ea typeface="標楷體"/>
              </a:rPr>
              <a:t>對一不受任何拘束之剛體而言，其具有六個自由度，即包括三個座標方向平移和三個座標方向旋轉。</a:t>
            </a:r>
            <a:endParaRPr b="1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885960" indent="-45720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endParaRPr b="1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885960" indent="-45720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buClr>
                <a:srgbClr val="feb80a"/>
              </a:buClr>
              <a:buFont typeface="Times New Roman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zh-TW" sz="2400" strike="noStrike" u="none">
                <a:solidFill>
                  <a:srgbClr val="964305"/>
                </a:solidFill>
                <a:effectLst/>
                <a:uFillTx/>
                <a:latin typeface="Times New Roman"/>
                <a:ea typeface="標楷體"/>
              </a:rPr>
              <a:t>一個只在平面運動之剛體則具有三個自由度，兩個座標方向平移和在該平面上之旋轉。</a:t>
            </a:r>
            <a:endParaRPr b="1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885960" indent="-45720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endParaRPr b="1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iming>
    <p:tnLst>
      <p:par>
        <p:cTn id="125" dur="indefinite" restart="never" nodeType="tmRoot">
          <p:childTnLst>
            <p:seq>
              <p:cTn id="126" dur="indefinite" nodeType="mainSeq">
                <p:childTnLst>
                  <p:par>
                    <p:cTn id="127" dur="indefinite" nodeType="clickEffect" fill="hold">
                      <p:stCondLst>
                        <p:cond delay="indefinite"/>
                      </p:stCondLst>
                      <p:childTnLst>
                        <p:par>
                          <p:cTn id="128" dur="indefinite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29" dur="indefinite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dur="indefinite" nodeType="clickEffect" fill="hold">
                      <p:stCondLst>
                        <p:cond delay="indefinite"/>
                      </p:stCondLst>
                      <p:childTnLst>
                        <p:par>
                          <p:cTn id="132" dur="indefinite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33" dur="indefinite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dur="indefinite" nodeType="clickEffect" fill="hold">
                      <p:stCondLst>
                        <p:cond delay="indefinite"/>
                      </p:stCondLst>
                      <p:childTnLst>
                        <p:par>
                          <p:cTn id="136" dur="indefinite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37" dur="indefinite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"/>
          <p:cNvSpPr/>
          <p:nvPr/>
        </p:nvSpPr>
        <p:spPr>
          <a:xfrm>
            <a:off x="0" y="0"/>
            <a:ext cx="9144000" cy="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5360" bIns="-45360" anchor="ctr">
            <a:noAutofit/>
          </a:bodyPr>
          <a:p>
            <a:endParaRPr b="1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"/>
          <p:cNvSpPr/>
          <p:nvPr/>
        </p:nvSpPr>
        <p:spPr>
          <a:xfrm>
            <a:off x="1000080" y="0"/>
            <a:ext cx="8001000" cy="635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marL="365040" indent="-28260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buClr>
                <a:srgbClr val="3891a7"/>
              </a:buClr>
              <a:buSzPct val="80000"/>
              <a:buFont typeface="Wingdings" charset="2"/>
              <a:buChar char="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en-US" sz="3200" strike="noStrike" u="sng">
                <a:solidFill>
                  <a:srgbClr val="964305"/>
                </a:solidFill>
                <a:effectLst/>
                <a:uFillTx/>
                <a:latin typeface="Times New Roman"/>
                <a:ea typeface="標楷體"/>
              </a:rPr>
              <a:t>1.3.4</a:t>
            </a:r>
            <a:r>
              <a:rPr b="1" lang="zh-TW" sz="3200" strike="noStrike" u="none">
                <a:solidFill>
                  <a:srgbClr val="964305"/>
                </a:solidFill>
                <a:effectLst/>
                <a:uFillTx/>
                <a:latin typeface="Times New Roman"/>
                <a:ea typeface="標楷體"/>
              </a:rPr>
              <a:t>　自由度</a:t>
            </a:r>
            <a:r>
              <a:rPr b="1" lang="en-US" sz="3200" strike="noStrike" u="none">
                <a:solidFill>
                  <a:srgbClr val="964305"/>
                </a:solidFill>
                <a:effectLst/>
                <a:uFillTx/>
                <a:latin typeface="Times New Roman"/>
                <a:ea typeface="標楷體"/>
              </a:rPr>
              <a:t>(degree of freedom)(</a:t>
            </a:r>
            <a:r>
              <a:rPr b="1" lang="zh-TW" sz="3200" strike="noStrike" u="none">
                <a:solidFill>
                  <a:srgbClr val="964305"/>
                </a:solidFill>
                <a:effectLst/>
                <a:uFillTx/>
                <a:latin typeface="Times New Roman"/>
                <a:ea typeface="標楷體"/>
              </a:rPr>
              <a:t>續</a:t>
            </a:r>
            <a:r>
              <a:rPr b="1" lang="en-US" sz="3200" strike="noStrike" u="none">
                <a:solidFill>
                  <a:srgbClr val="964305"/>
                </a:solidFill>
                <a:effectLst/>
                <a:uFillTx/>
                <a:latin typeface="Times New Roman"/>
                <a:ea typeface="標楷體"/>
              </a:rPr>
              <a:t>)</a:t>
            </a:r>
            <a:endParaRPr b="1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39720">
              <a:lnSpc>
                <a:spcPct val="100000"/>
              </a:lnSpc>
              <a:spcBef>
                <a:spcPts val="56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對</a:t>
            </a:r>
            <a:r>
              <a:rPr b="1" lang="zh-TW" sz="2800" strike="noStrike" u="sng">
                <a:solidFill>
                  <a:srgbClr val="ff0000"/>
                </a:solidFill>
                <a:effectLst/>
                <a:uFillTx/>
                <a:latin typeface="Times New Roman"/>
                <a:ea typeface="標楷體"/>
              </a:rPr>
              <a:t>平面運動鏈</a:t>
            </a: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的自由度可利用古柏方程式</a:t>
            </a:r>
            <a:r>
              <a:rPr b="1" lang="en-US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 </a:t>
            </a:r>
            <a:r>
              <a:rPr b="1" lang="en-US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(Gruebler’s equation)</a:t>
            </a: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計算：</a:t>
            </a:r>
            <a:endParaRPr b="1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39720">
              <a:lnSpc>
                <a:spcPct val="100000"/>
              </a:lnSpc>
              <a:spcBef>
                <a:spcPts val="56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endParaRPr b="1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39720">
              <a:lnSpc>
                <a:spcPct val="100000"/>
              </a:lnSpc>
              <a:spcBef>
                <a:spcPts val="56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en-US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                                                        </a:t>
            </a:r>
            <a:endParaRPr b="1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39720">
              <a:lnSpc>
                <a:spcPct val="100000"/>
              </a:lnSpc>
              <a:spcBef>
                <a:spcPts val="56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 其中</a:t>
            </a:r>
            <a:r>
              <a:rPr b="1" lang="en-US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F</a:t>
            </a: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代表平面運動鏈的自由度，</a:t>
            </a:r>
            <a:r>
              <a:rPr b="1" lang="en-US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L</a:t>
            </a: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為連桿數總和，</a:t>
            </a:r>
            <a:r>
              <a:rPr b="1" lang="en-US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P1</a:t>
            </a: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表示具有一個自由度之對偶數，</a:t>
            </a:r>
            <a:r>
              <a:rPr b="1" lang="en-US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P2</a:t>
            </a: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表示具有二個自由度之對偶數目。</a:t>
            </a:r>
            <a:endParaRPr b="1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5040" indent="-28260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buClr>
                <a:srgbClr val="c00000"/>
              </a:buClr>
              <a:buSzPct val="80000"/>
              <a:buFont typeface="Times New Roman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en-US" sz="3200" strike="noStrike" u="none">
                <a:solidFill>
                  <a:srgbClr val="964305"/>
                </a:solidFill>
                <a:effectLst/>
                <a:uFillTx/>
                <a:latin typeface="Times New Roman"/>
                <a:ea typeface="標楷體"/>
              </a:rPr>
              <a:t>F=1</a:t>
            </a:r>
            <a:r>
              <a:rPr b="1" lang="zh-TW" sz="3200" strike="noStrike" u="none">
                <a:solidFill>
                  <a:srgbClr val="964305"/>
                </a:solidFill>
                <a:effectLst/>
                <a:uFillTx/>
                <a:latin typeface="Times New Roman"/>
                <a:ea typeface="標楷體"/>
              </a:rPr>
              <a:t>，則為拘束運動鏈。</a:t>
            </a:r>
            <a:endParaRPr b="1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5040" indent="-28260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buClr>
                <a:srgbClr val="c00000"/>
              </a:buClr>
              <a:buSzPct val="80000"/>
              <a:buFont typeface="Times New Roman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en-US" sz="3200" strike="noStrike" u="none">
                <a:solidFill>
                  <a:srgbClr val="964305"/>
                </a:solidFill>
                <a:effectLst/>
                <a:uFillTx/>
                <a:latin typeface="Times New Roman"/>
                <a:ea typeface="標楷體"/>
              </a:rPr>
              <a:t>F&gt;1</a:t>
            </a:r>
            <a:r>
              <a:rPr b="1" lang="zh-TW" sz="3200" strike="noStrike" u="none">
                <a:solidFill>
                  <a:srgbClr val="964305"/>
                </a:solidFill>
                <a:effectLst/>
                <a:uFillTx/>
                <a:latin typeface="Times New Roman"/>
                <a:ea typeface="標楷體"/>
              </a:rPr>
              <a:t>，就是無拘束運動鏈。</a:t>
            </a:r>
            <a:endParaRPr b="1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5040" indent="-28260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buClr>
                <a:srgbClr val="c00000"/>
              </a:buClr>
              <a:buSzPct val="80000"/>
              <a:buFont typeface="Times New Roman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en-US" sz="3200" strike="noStrike" u="none">
                <a:solidFill>
                  <a:srgbClr val="964305"/>
                </a:solidFill>
                <a:effectLst/>
                <a:uFillTx/>
                <a:latin typeface="Times New Roman"/>
                <a:ea typeface="標楷體"/>
              </a:rPr>
              <a:t>F≦0</a:t>
            </a:r>
            <a:r>
              <a:rPr b="1" lang="zh-TW" sz="3200" strike="noStrike" u="none">
                <a:solidFill>
                  <a:srgbClr val="964305"/>
                </a:solidFill>
                <a:effectLst/>
                <a:uFillTx/>
                <a:latin typeface="Times New Roman"/>
                <a:ea typeface="標楷體"/>
              </a:rPr>
              <a:t>，則該運動鏈為呆鏈，也就是架構或結構</a:t>
            </a:r>
            <a:r>
              <a:rPr b="1" lang="zh-TW" sz="3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。</a:t>
            </a:r>
            <a:endParaRPr b="1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885960" indent="-45720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endParaRPr b="1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mc:AlternateContent>
        <mc:Choice xmlns:a14="http://schemas.microsoft.com/office/drawing/2010/main" Requires="a14">
          <p:sp>
            <p:nvSpPr>
              <p:cNvPr id="173" name=""/>
              <p:cNvSpPr txBox="1"/>
              <p:nvPr/>
            </p:nvSpPr>
            <p:spPr>
              <a:xfrm>
                <a:off x="2143080" y="1785960"/>
                <a:ext cx="5802480" cy="50004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rPr>
                        <m:lit/>
                        <m:nor/>
                      </m:rPr>
                      <m:t xml:space="preserve">F=</m:t>
                    </m:r>
                    <m:r>
                      <m:t xml:space="preserve">3</m:t>
                    </m:r>
                    <m:r>
                      <m:t xml:space="preserve">(</m:t>
                    </m:r>
                    <m:r>
                      <m:t xml:space="preserve">L</m:t>
                    </m:r>
                    <m:r>
                      <m:t xml:space="preserve">−</m:t>
                    </m:r>
                    <m:r>
                      <m:t xml:space="preserve">1</m:t>
                    </m:r>
                    <m:r>
                      <m:t xml:space="preserve">)</m:t>
                    </m:r>
                    <m:r>
                      <m:t xml:space="preserve">−</m:t>
                    </m:r>
                    <m:r>
                      <m:t xml:space="preserve">2</m:t>
                    </m:r>
                    <m:sSub>
                      <m:e>
                        <m:r>
                          <m:t xml:space="preserve">P</m:t>
                        </m:r>
                      </m:e>
                      <m:sub>
                        <m:r>
                          <m:t xml:space="preserve">1</m:t>
                        </m:r>
                      </m:sub>
                    </m:sSub>
                    <m:r>
                      <m:t xml:space="preserve">−</m:t>
                    </m:r>
                    <m:sSub>
                      <m:e>
                        <m:r>
                          <m:t xml:space="preserve">P</m:t>
                        </m:r>
                      </m:e>
                      <m:sub>
                        <m:r>
                          <m:t xml:space="preserve">2</m:t>
                        </m:r>
                      </m:sub>
                    </m:sSub>
                    <m:r>
                      <m:rPr>
                        <m:lit/>
                        <m:nor/>
                      </m:rPr>
                      <m:t xml:space="preserve">                         </m:t>
                    </m:r>
                    <m:r>
                      <m:t xml:space="preserve">(</m:t>
                    </m:r>
                    <m:r>
                      <m:rPr>
                        <m:lit/>
                        <m:nor/>
                      </m:rPr>
                      <m:t xml:space="preserve">1-1</m:t>
                    </m:r>
                    <m:r>
                      <m:t xml:space="preserve">)</m:t>
                    </m:r>
                  </m:oMath>
                </a14:m>
              </a:p>
            </p:txBody>
          </p:sp>
        </mc:Choice>
        <mc:Fallback>
          <p:sp>
            <p:nvSpPr>
              <p:cNvPr id="173" name=""/>
              <p:cNvSpPr txBox="1"/>
              <p:nvPr/>
            </p:nvSpPr>
            <p:spPr>
              <a:xfrm>
                <a:off x="2143080" y="1785960"/>
                <a:ext cx="5802480" cy="50004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</p:sp>
        </mc:Fallback>
      </mc:AlternateContent>
    </p:spTree>
  </p:cSld>
  <p:timing>
    <p:tnLst>
      <p:par>
        <p:cTn id="139" dur="indefinite" restart="never" nodeType="tmRoot">
          <p:childTnLst>
            <p:seq>
              <p:cTn id="140" dur="indefinite" nodeType="mainSeq">
                <p:childTnLst>
                  <p:par>
                    <p:cTn id="141" dur="indefinite" nodeType="clickEffect" fill="hold">
                      <p:stCondLst>
                        <p:cond delay="indefinite"/>
                      </p:stCondLst>
                      <p:childTnLst>
                        <p:par>
                          <p:cTn id="142" dur="indefinite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43" dur="indefinite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dur="indefinite" nodeType="clickEffect" fill="hold">
                      <p:stCondLst>
                        <p:cond delay="indefinite"/>
                      </p:stCondLst>
                      <p:childTnLst>
                        <p:par>
                          <p:cTn id="146" dur="indefinite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47" dur="indefinite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dur="indefinite" nodeType="clickEffect" fill="hold">
                      <p:stCondLst>
                        <p:cond delay="indefinite"/>
                      </p:stCondLst>
                      <p:childTnLst>
                        <p:par>
                          <p:cTn id="150" dur="indefinite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51" dur="indefinite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"/>
          <p:cNvSpPr/>
          <p:nvPr/>
        </p:nvSpPr>
        <p:spPr>
          <a:xfrm>
            <a:off x="0" y="0"/>
            <a:ext cx="9144000" cy="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5360" bIns="-45360" anchor="ctr">
            <a:noAutofit/>
          </a:bodyPr>
          <a:p>
            <a:endParaRPr b="1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"/>
          <p:cNvSpPr/>
          <p:nvPr/>
        </p:nvSpPr>
        <p:spPr>
          <a:xfrm>
            <a:off x="928800" y="0"/>
            <a:ext cx="8001000" cy="121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marL="365040" indent="-28260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例題</a:t>
            </a:r>
            <a:r>
              <a:rPr b="1" lang="en-US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1.1 </a:t>
            </a:r>
            <a:r>
              <a:rPr b="1" lang="en-US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	</a:t>
            </a:r>
            <a:endParaRPr b="1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5040" indent="-28260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　  試決定圖</a:t>
            </a:r>
            <a:r>
              <a:rPr b="1" lang="en-US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1.8</a:t>
            </a: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所示之運動鏈自由度為何？</a:t>
            </a:r>
            <a:endParaRPr b="1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"/>
          <p:cNvSpPr/>
          <p:nvPr/>
        </p:nvSpPr>
        <p:spPr>
          <a:xfrm>
            <a:off x="1357200" y="1143000"/>
            <a:ext cx="7429680" cy="309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標楷體"/>
                <a:ea typeface="標楷體"/>
              </a:rPr>
              <a:t>解：</a:t>
            </a:r>
            <a:endParaRPr b="1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標楷體"/>
                <a:ea typeface="標楷體"/>
              </a:rPr>
              <a:t>在圖</a:t>
            </a:r>
            <a:r>
              <a:rPr b="1" lang="en-US" sz="2800" strike="noStrike" u="none">
                <a:solidFill>
                  <a:srgbClr val="000000"/>
                </a:solidFill>
                <a:effectLst/>
                <a:uFillTx/>
                <a:latin typeface="標楷體"/>
                <a:ea typeface="標楷體"/>
              </a:rPr>
              <a:t> </a:t>
            </a:r>
            <a:r>
              <a:rPr b="1" lang="en-US" sz="2800" strike="noStrike" u="none">
                <a:solidFill>
                  <a:srgbClr val="000000"/>
                </a:solidFill>
                <a:effectLst/>
                <a:uFillTx/>
                <a:latin typeface="標楷體"/>
                <a:ea typeface="標楷體"/>
              </a:rPr>
              <a:t>1.8 </a:t>
            </a: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標楷體"/>
                <a:ea typeface="標楷體"/>
              </a:rPr>
              <a:t>中，    </a:t>
            </a:r>
            <a:r>
              <a:rPr b="1" lang="en-US" sz="2800" strike="noStrike" u="none">
                <a:solidFill>
                  <a:srgbClr val="000000"/>
                </a:solidFill>
                <a:effectLst/>
                <a:uFillTx/>
                <a:latin typeface="標楷體"/>
                <a:ea typeface="標楷體"/>
              </a:rPr>
              <a:t> </a:t>
            </a: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標楷體"/>
                <a:ea typeface="標楷體"/>
              </a:rPr>
              <a:t>           ，則</a:t>
            </a:r>
            <a:endParaRPr b="1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endParaRPr b="1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endParaRPr b="1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endParaRPr b="1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標楷體"/>
                <a:ea typeface="標楷體"/>
              </a:rPr>
              <a:t>故圖</a:t>
            </a:r>
            <a:r>
              <a:rPr b="1" lang="en-US" sz="2800" strike="noStrike" u="none">
                <a:solidFill>
                  <a:srgbClr val="000000"/>
                </a:solidFill>
                <a:effectLst/>
                <a:uFillTx/>
                <a:latin typeface="標楷體"/>
                <a:ea typeface="標楷體"/>
              </a:rPr>
              <a:t> </a:t>
            </a:r>
            <a:r>
              <a:rPr b="1" lang="en-US" sz="2800" strike="noStrike" u="none">
                <a:solidFill>
                  <a:srgbClr val="000000"/>
                </a:solidFill>
                <a:effectLst/>
                <a:uFillTx/>
                <a:latin typeface="標楷體"/>
                <a:ea typeface="標楷體"/>
              </a:rPr>
              <a:t>1.8 </a:t>
            </a: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標楷體"/>
                <a:ea typeface="標楷體"/>
              </a:rPr>
              <a:t>所示之運動鏈自由度為</a:t>
            </a:r>
            <a:r>
              <a:rPr b="1" lang="en-US" sz="2800" strike="noStrike" u="none">
                <a:solidFill>
                  <a:srgbClr val="000000"/>
                </a:solidFill>
                <a:effectLst/>
                <a:uFillTx/>
                <a:latin typeface="標楷體"/>
                <a:ea typeface="標楷體"/>
              </a:rPr>
              <a:t>-1</a:t>
            </a: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標楷體"/>
                <a:ea typeface="標楷體"/>
              </a:rPr>
              <a:t>，是結構。</a:t>
            </a:r>
            <a:r>
              <a:rPr b="1" lang="en-US" sz="2800" strike="noStrike" u="none">
                <a:solidFill>
                  <a:srgbClr val="000000"/>
                </a:solidFill>
                <a:effectLst/>
                <a:uFillTx/>
                <a:latin typeface="標楷體"/>
                <a:ea typeface="標楷體"/>
              </a:rPr>
              <a:t>(</a:t>
            </a: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標楷體"/>
                <a:ea typeface="標楷體"/>
              </a:rPr>
              <a:t>注意在</a:t>
            </a:r>
            <a:r>
              <a:rPr b="1" lang="en-US" sz="2800" strike="noStrike" u="none">
                <a:solidFill>
                  <a:srgbClr val="000000"/>
                </a:solidFill>
                <a:effectLst/>
                <a:uFillTx/>
                <a:latin typeface="標楷體"/>
                <a:ea typeface="標楷體"/>
              </a:rPr>
              <a:t>P</a:t>
            </a: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標楷體"/>
                <a:ea typeface="標楷體"/>
              </a:rPr>
              <a:t>點位置上之對偶數為</a:t>
            </a:r>
            <a:r>
              <a:rPr b="1" lang="en-US" sz="2800" strike="noStrike" u="none">
                <a:solidFill>
                  <a:srgbClr val="000000"/>
                </a:solidFill>
                <a:effectLst/>
                <a:uFillTx/>
                <a:latin typeface="標楷體"/>
                <a:ea typeface="標楷體"/>
              </a:rPr>
              <a:t>2)</a:t>
            </a:r>
            <a:endParaRPr b="1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"/>
          <p:cNvSpPr/>
          <p:nvPr/>
        </p:nvSpPr>
        <p:spPr>
          <a:xfrm>
            <a:off x="0" y="0"/>
            <a:ext cx="9144000" cy="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5360" bIns="-45360" anchor="ctr">
            <a:noAutofit/>
          </a:bodyPr>
          <a:p>
            <a:endParaRPr b="1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mc:AlternateContent>
        <mc:Choice xmlns:a14="http://schemas.microsoft.com/office/drawing/2010/main" Requires="a14">
          <p:sp>
            <p:nvSpPr>
              <p:cNvPr id="178" name=""/>
              <p:cNvSpPr txBox="1"/>
              <p:nvPr/>
            </p:nvSpPr>
            <p:spPr>
              <a:xfrm>
                <a:off x="3643200" y="1643040"/>
                <a:ext cx="3000600" cy="39996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rPr>
                        <m:lit/>
                        <m:nor/>
                      </m:rPr>
                      <m:t xml:space="preserve">L=</m:t>
                    </m:r>
                    <m:r>
                      <m:t xml:space="preserve">8</m:t>
                    </m:r>
                    <m:sSub>
                      <m:e>
                        <m:r>
                          <m:rPr>
                            <m:lit/>
                            <m:nor/>
                          </m:rPr>
                          <m:t xml:space="preserve">,P</m:t>
                        </m:r>
                      </m:e>
                      <m:sub>
                        <m:r>
                          <m:t xml:space="preserve">1</m:t>
                        </m:r>
                      </m:sub>
                    </m:sSub>
                    <m:r>
                      <m:t xml:space="preserve">=</m:t>
                    </m:r>
                    <m:r>
                      <m:rPr>
                        <m:lit/>
                        <m:nor/>
                      </m:rPr>
                      <m:t xml:space="preserve">11</m:t>
                    </m:r>
                    <m:sSub>
                      <m:e>
                        <m:r>
                          <m:rPr>
                            <m:lit/>
                            <m:nor/>
                          </m:rPr>
                          <m:t xml:space="preserve">,P</m:t>
                        </m:r>
                      </m:e>
                      <m:sub>
                        <m:r>
                          <m:t xml:space="preserve">2</m:t>
                        </m:r>
                      </m:sub>
                    </m:sSub>
                    <m:r>
                      <m:t xml:space="preserve">=</m:t>
                    </m:r>
                    <m:r>
                      <m:t xml:space="preserve">0</m:t>
                    </m:r>
                  </m:oMath>
                </a14:m>
              </a:p>
            </p:txBody>
          </p:sp>
        </mc:Choice>
        <mc:Fallback>
          <p:sp>
            <p:nvSpPr>
              <p:cNvPr id="178" name=""/>
              <p:cNvSpPr txBox="1"/>
              <p:nvPr/>
            </p:nvSpPr>
            <p:spPr>
              <a:xfrm>
                <a:off x="3643200" y="1643040"/>
                <a:ext cx="3000600" cy="39996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</p:sp>
        </mc:Fallback>
      </mc:AlternateContent>
      <p:sp>
        <p:nvSpPr>
          <p:cNvPr id="179" name=""/>
          <p:cNvSpPr/>
          <p:nvPr/>
        </p:nvSpPr>
        <p:spPr>
          <a:xfrm>
            <a:off x="0" y="0"/>
            <a:ext cx="9144000" cy="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5360" bIns="-45360" anchor="ctr">
            <a:noAutofit/>
          </a:bodyPr>
          <a:p>
            <a:endParaRPr b="1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mc:AlternateContent>
        <mc:Choice xmlns:a14="http://schemas.microsoft.com/office/drawing/2010/main" Requires="a14">
          <p:sp>
            <p:nvSpPr>
              <p:cNvPr id="180" name=""/>
              <p:cNvSpPr txBox="1"/>
              <p:nvPr/>
            </p:nvSpPr>
            <p:spPr>
              <a:xfrm>
                <a:off x="2928960" y="2500200"/>
                <a:ext cx="4357800" cy="49212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rPr>
                        <m:lit/>
                        <m:nor/>
                      </m:rPr>
                      <m:t xml:space="preserve">F=</m:t>
                    </m:r>
                    <m:r>
                      <m:t xml:space="preserve">3</m:t>
                    </m:r>
                    <m:r>
                      <m:t xml:space="preserve">(</m:t>
                    </m:r>
                    <m:r>
                      <m:t xml:space="preserve">8</m:t>
                    </m:r>
                    <m:r>
                      <m:t xml:space="preserve">−</m:t>
                    </m:r>
                    <m:r>
                      <m:t xml:space="preserve">1</m:t>
                    </m:r>
                    <m:r>
                      <m:t xml:space="preserve">)</m:t>
                    </m:r>
                    <m:r>
                      <m:t xml:space="preserve">−</m:t>
                    </m:r>
                    <m:r>
                      <m:t xml:space="preserve">2</m:t>
                    </m:r>
                    <m:r>
                      <m:t xml:space="preserve">´</m:t>
                    </m:r>
                    <m:r>
                      <m:rPr>
                        <m:lit/>
                        <m:nor/>
                      </m:rPr>
                      <m:t xml:space="preserve">11</m:t>
                    </m:r>
                    <m:r>
                      <m:t xml:space="preserve">−</m:t>
                    </m:r>
                    <m:r>
                      <m:rPr>
                        <m:lit/>
                        <m:nor/>
                      </m:rPr>
                      <m:t xml:space="preserve">0=-1</m:t>
                    </m:r>
                  </m:oMath>
                </a14:m>
              </a:p>
            </p:txBody>
          </p:sp>
        </mc:Choice>
        <mc:Fallback>
          <p:sp>
            <p:nvSpPr>
              <p:cNvPr id="180" name=""/>
              <p:cNvSpPr txBox="1"/>
              <p:nvPr/>
            </p:nvSpPr>
            <p:spPr>
              <a:xfrm>
                <a:off x="2928960" y="2500200"/>
                <a:ext cx="4357800" cy="4921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</p:sp>
        </mc:Fallback>
      </mc:AlternateContent>
      <p:sp>
        <p:nvSpPr>
          <p:cNvPr id="181" name=""/>
          <p:cNvSpPr/>
          <p:nvPr/>
        </p:nvSpPr>
        <p:spPr>
          <a:xfrm>
            <a:off x="1938240" y="2066760"/>
            <a:ext cx="9144000" cy="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5000" bIns="-45000" anchor="ctr">
            <a:noAutofit/>
          </a:bodyPr>
          <a:p>
            <a:endParaRPr b="1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"/>
          <p:cNvSpPr/>
          <p:nvPr/>
        </p:nvSpPr>
        <p:spPr>
          <a:xfrm>
            <a:off x="1938240" y="1938240"/>
            <a:ext cx="9144000" cy="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5000" bIns="-45000" anchor="ctr">
            <a:noAutofit/>
          </a:bodyPr>
          <a:p>
            <a:endParaRPr b="1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3" name="" descr=""/>
          <p:cNvPicPr/>
          <p:nvPr/>
        </p:nvPicPr>
        <p:blipFill>
          <a:blip r:embed="rId4"/>
          <a:stretch/>
        </p:blipFill>
        <p:spPr>
          <a:xfrm>
            <a:off x="2522520" y="4241880"/>
            <a:ext cx="4098960" cy="2435040"/>
          </a:xfrm>
          <a:prstGeom prst="rect">
            <a:avLst/>
          </a:prstGeom>
          <a:noFill/>
          <a:ln w="0">
            <a:noFill/>
          </a:ln>
        </p:spPr>
      </p:pic>
    </p:spTree>
  </p:cSld>
  <p:timing>
    <p:tnLst>
      <p:par>
        <p:cTn id="153" dur="indefinite" restart="never" nodeType="tmRoot">
          <p:childTnLst>
            <p:seq>
              <p:cTn id="154" dur="indefinite" nodeType="mainSeq">
                <p:childTnLst>
                  <p:par>
                    <p:cTn id="155" dur="indefinite" nodeType="clickEffect" fill="hold">
                      <p:stCondLst>
                        <p:cond delay="indefinite"/>
                      </p:stCondLst>
                      <p:childTnLst>
                        <p:par>
                          <p:cTn id="156" dur="indefinite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57" dur="indefinite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dur="indefinite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dur="indefinite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"/>
          <p:cNvSpPr/>
          <p:nvPr/>
        </p:nvSpPr>
        <p:spPr>
          <a:xfrm>
            <a:off x="1434960" y="274680"/>
            <a:ext cx="7499520" cy="70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zh-TW" sz="3900" strike="noStrike" u="none">
                <a:solidFill>
                  <a:srgbClr val="572314"/>
                </a:solidFill>
                <a:effectLst/>
                <a:uFillTx/>
                <a:latin typeface="Gill Sans MT"/>
                <a:ea typeface="微軟正黑體"/>
              </a:rPr>
              <a:t>範例</a:t>
            </a:r>
            <a:r>
              <a:rPr b="1" lang="en-US" sz="3900" strike="noStrike" u="none">
                <a:solidFill>
                  <a:srgbClr val="572314"/>
                </a:solidFill>
                <a:effectLst/>
                <a:uFillTx/>
                <a:latin typeface="Gill Sans MT"/>
                <a:ea typeface="微軟正黑體"/>
              </a:rPr>
              <a:t>1-2</a:t>
            </a:r>
            <a:endParaRPr b="1" lang="en-US" sz="3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"/>
          <p:cNvSpPr/>
          <p:nvPr/>
        </p:nvSpPr>
        <p:spPr>
          <a:xfrm>
            <a:off x="1187280" y="1268280"/>
            <a:ext cx="7747200" cy="547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marL="365040" indent="-28260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buClr>
                <a:srgbClr val="3891a7"/>
              </a:buClr>
              <a:buSzPct val="80000"/>
              <a:buFont typeface="Wingdings 2" charset="2"/>
              <a:buChar char="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Gill Sans MT"/>
                <a:ea typeface="微軟正黑體"/>
              </a:rPr>
              <a:t>試求圖</a:t>
            </a:r>
            <a:r>
              <a:rPr b="1" lang="en-US" sz="2800" strike="noStrike" u="none">
                <a:solidFill>
                  <a:srgbClr val="000000"/>
                </a:solidFill>
                <a:effectLst/>
                <a:uFillTx/>
                <a:latin typeface="Gill Sans MT"/>
                <a:ea typeface="微軟正黑體"/>
              </a:rPr>
              <a:t>1.6-2</a:t>
            </a: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Gill Sans MT"/>
                <a:ea typeface="微軟正黑體"/>
              </a:rPr>
              <a:t>之運動鏈自由度。</a:t>
            </a:r>
            <a:endParaRPr b="1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5040" indent="-28260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endParaRPr b="1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5040" indent="-28260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br>
              <a:rPr sz="2800"/>
            </a:br>
            <a:endParaRPr b="1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5040" indent="-28260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endParaRPr b="1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5040" indent="-28260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endParaRPr b="1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5040" indent="-28260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buClr>
                <a:srgbClr val="3891a7"/>
              </a:buClr>
              <a:buSzPct val="80000"/>
              <a:buFont typeface="Wingdings 2" charset="2"/>
              <a:buChar char="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zh-TW" sz="2800" strike="noStrike" u="none">
                <a:solidFill>
                  <a:srgbClr val="0066ac"/>
                </a:solidFill>
                <a:effectLst/>
                <a:uFillTx/>
                <a:latin typeface="Gill Sans MT"/>
                <a:ea typeface="微軟正黑體"/>
              </a:rPr>
              <a:t>解</a:t>
            </a:r>
            <a:endParaRPr b="1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5040" indent="-28260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buClr>
                <a:srgbClr val="3891a7"/>
              </a:buClr>
              <a:buSzPct val="80000"/>
              <a:buFont typeface="Wingdings 2" charset="2"/>
              <a:buChar char="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Gill Sans MT"/>
                <a:ea typeface="微軟正黑體"/>
              </a:rPr>
              <a:t>在圖</a:t>
            </a:r>
            <a:r>
              <a:rPr b="1" lang="en-US" sz="2800" strike="noStrike" u="none">
                <a:solidFill>
                  <a:srgbClr val="000000"/>
                </a:solidFill>
                <a:effectLst/>
                <a:uFillTx/>
                <a:latin typeface="Gill Sans MT"/>
                <a:ea typeface="微軟正黑體"/>
              </a:rPr>
              <a:t>1-22</a:t>
            </a: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Gill Sans MT"/>
                <a:ea typeface="微軟正黑體"/>
              </a:rPr>
              <a:t>中，</a:t>
            </a:r>
            <a:r>
              <a:rPr b="1" i="1" lang="en-US" sz="2800" strike="noStrike" u="none">
                <a:solidFill>
                  <a:srgbClr val="000000"/>
                </a:solidFill>
                <a:effectLst/>
                <a:uFillTx/>
                <a:latin typeface="Gill Sans MT"/>
                <a:ea typeface="微軟正黑體"/>
              </a:rPr>
              <a:t>L</a:t>
            </a:r>
            <a:r>
              <a:rPr b="1" lang="en-US" sz="2800" strike="noStrike" u="none">
                <a:solidFill>
                  <a:srgbClr val="000000"/>
                </a:solidFill>
                <a:effectLst/>
                <a:uFillTx/>
                <a:latin typeface="Gill Sans MT"/>
                <a:ea typeface="微軟正黑體"/>
              </a:rPr>
              <a:t> = 6</a:t>
            </a: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Gill Sans MT"/>
                <a:ea typeface="微軟正黑體"/>
              </a:rPr>
              <a:t>，</a:t>
            </a:r>
            <a:r>
              <a:rPr b="1" i="1" lang="en-US" sz="2800" strike="noStrike" u="none">
                <a:solidFill>
                  <a:srgbClr val="000000"/>
                </a:solidFill>
                <a:effectLst/>
                <a:uFillTx/>
                <a:latin typeface="Gill Sans MT"/>
                <a:ea typeface="微軟正黑體"/>
              </a:rPr>
              <a:t>P</a:t>
            </a:r>
            <a:r>
              <a:rPr b="1" lang="en-US" sz="2800" strike="noStrike" u="none" baseline="-25000">
                <a:solidFill>
                  <a:srgbClr val="000000"/>
                </a:solidFill>
                <a:effectLst/>
                <a:uFillTx/>
                <a:latin typeface="Gill Sans MT"/>
                <a:ea typeface="微軟正黑體"/>
              </a:rPr>
              <a:t>1</a:t>
            </a:r>
            <a:r>
              <a:rPr b="1" lang="en-US" sz="2800" strike="noStrike" u="none">
                <a:solidFill>
                  <a:srgbClr val="000000"/>
                </a:solidFill>
                <a:effectLst/>
                <a:uFillTx/>
                <a:latin typeface="Gill Sans MT"/>
                <a:ea typeface="微軟正黑體"/>
              </a:rPr>
              <a:t> = 7</a:t>
            </a: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Gill Sans MT"/>
                <a:ea typeface="微軟正黑體"/>
              </a:rPr>
              <a:t>，</a:t>
            </a:r>
            <a:r>
              <a:rPr b="1" i="1" lang="en-US" sz="2800" strike="noStrike" u="none">
                <a:solidFill>
                  <a:srgbClr val="000000"/>
                </a:solidFill>
                <a:effectLst/>
                <a:uFillTx/>
                <a:latin typeface="Gill Sans MT"/>
                <a:ea typeface="微軟正黑體"/>
              </a:rPr>
              <a:t>P</a:t>
            </a:r>
            <a:r>
              <a:rPr b="1" lang="en-US" sz="2800" strike="noStrike" u="none" baseline="-25000">
                <a:solidFill>
                  <a:srgbClr val="000000"/>
                </a:solidFill>
                <a:effectLst/>
                <a:uFillTx/>
                <a:latin typeface="Gill Sans MT"/>
                <a:ea typeface="微軟正黑體"/>
              </a:rPr>
              <a:t>2</a:t>
            </a:r>
            <a:r>
              <a:rPr b="1" lang="en-US" sz="2800" strike="noStrike" u="none">
                <a:solidFill>
                  <a:srgbClr val="000000"/>
                </a:solidFill>
                <a:effectLst/>
                <a:uFillTx/>
                <a:latin typeface="Gill Sans MT"/>
                <a:ea typeface="微軟正黑體"/>
              </a:rPr>
              <a:t> = 0</a:t>
            </a: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Gill Sans MT"/>
                <a:ea typeface="微軟正黑體"/>
              </a:rPr>
              <a:t>，則</a:t>
            </a:r>
            <a:endParaRPr b="1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5040" indent="-28260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buClr>
                <a:srgbClr val="3891a7"/>
              </a:buClr>
              <a:buSzPct val="80000"/>
              <a:buFont typeface="Wingdings 2" charset="2"/>
              <a:buChar char="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Gill Sans MT"/>
                <a:ea typeface="微軟正黑體"/>
              </a:rPr>
              <a:t>　　　　 </a:t>
            </a: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Gill Sans MT"/>
                <a:ea typeface="微軟正黑體"/>
              </a:rPr>
              <a:t>	</a:t>
            </a: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Gill Sans MT"/>
                <a:ea typeface="微軟正黑體"/>
              </a:rPr>
              <a:t>   </a:t>
            </a:r>
            <a:r>
              <a:rPr b="1" i="1" lang="en-US" sz="2800" strike="noStrike" u="none">
                <a:solidFill>
                  <a:srgbClr val="000000"/>
                </a:solidFill>
                <a:effectLst/>
                <a:uFillTx/>
                <a:latin typeface="Gill Sans MT"/>
                <a:ea typeface="微軟正黑體"/>
              </a:rPr>
              <a:t>F</a:t>
            </a:r>
            <a:r>
              <a:rPr b="1" lang="en-US" sz="2800" strike="noStrike" u="none">
                <a:solidFill>
                  <a:srgbClr val="000000"/>
                </a:solidFill>
                <a:effectLst/>
                <a:uFillTx/>
                <a:latin typeface="Gill Sans MT"/>
                <a:ea typeface="微軟正黑體"/>
              </a:rPr>
              <a:t> = </a:t>
            </a:r>
            <a:r>
              <a:rPr b="1" lang="en-US" sz="2800" strike="noStrike" u="non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</a:t>
            </a:r>
            <a:r>
              <a:rPr b="1" lang="en-US" sz="2800" strike="noStrike" u="none">
                <a:solidFill>
                  <a:srgbClr val="000000"/>
                </a:solidFill>
                <a:effectLst/>
                <a:uFillTx/>
                <a:latin typeface="Gill Sans MT"/>
                <a:ea typeface="微軟正黑體"/>
              </a:rPr>
              <a:t>6</a:t>
            </a:r>
            <a:r>
              <a:rPr b="1" lang="en-US" sz="2800" strike="noStrike" u="non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</a:t>
            </a:r>
            <a:r>
              <a:rPr b="1" lang="en-US" sz="2800" strike="noStrike" u="none">
                <a:solidFill>
                  <a:srgbClr val="000000"/>
                </a:solidFill>
                <a:effectLst/>
                <a:uFillTx/>
                <a:latin typeface="Gill Sans MT"/>
                <a:ea typeface="微軟正黑體"/>
              </a:rPr>
              <a:t> 1) </a:t>
            </a:r>
            <a:r>
              <a:rPr b="1" lang="en-US" sz="2800" strike="noStrike" u="non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</a:t>
            </a:r>
            <a:r>
              <a:rPr b="1" lang="en-US" sz="2800" strike="noStrike" u="none">
                <a:solidFill>
                  <a:srgbClr val="000000"/>
                </a:solidFill>
                <a:effectLst/>
                <a:uFillTx/>
                <a:latin typeface="Gill Sans MT"/>
                <a:ea typeface="微軟正黑體"/>
              </a:rPr>
              <a:t> 2×7 </a:t>
            </a:r>
            <a:r>
              <a:rPr b="1" lang="en-US" sz="2800" strike="noStrike" u="non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</a:t>
            </a:r>
            <a:r>
              <a:rPr b="1" lang="en-US" sz="2800" strike="noStrike" u="none">
                <a:solidFill>
                  <a:srgbClr val="000000"/>
                </a:solidFill>
                <a:effectLst/>
                <a:uFillTx/>
                <a:latin typeface="Gill Sans MT"/>
                <a:ea typeface="微軟正黑體"/>
              </a:rPr>
              <a:t> 0 = 1</a:t>
            </a:r>
            <a:endParaRPr b="1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5040" indent="-28260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buClr>
                <a:srgbClr val="3891a7"/>
              </a:buClr>
              <a:buSzPct val="80000"/>
              <a:buFont typeface="Wingdings 2" charset="2"/>
              <a:buChar char="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Gill Sans MT"/>
                <a:ea typeface="微軟正黑體"/>
              </a:rPr>
              <a:t>故圖</a:t>
            </a:r>
            <a:r>
              <a:rPr b="1" lang="en-US" sz="2800" strike="noStrike" u="none">
                <a:solidFill>
                  <a:srgbClr val="000000"/>
                </a:solidFill>
                <a:effectLst/>
                <a:uFillTx/>
                <a:latin typeface="Gill Sans MT"/>
                <a:ea typeface="微軟正黑體"/>
              </a:rPr>
              <a:t>1-22</a:t>
            </a: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Gill Sans MT"/>
                <a:ea typeface="微軟正黑體"/>
              </a:rPr>
              <a:t>所示之運動鏈自由度為</a:t>
            </a:r>
            <a:r>
              <a:rPr b="1" lang="en-US" sz="2800" strike="noStrike" u="none">
                <a:solidFill>
                  <a:srgbClr val="000000"/>
                </a:solidFill>
                <a:effectLst/>
                <a:uFillTx/>
                <a:latin typeface="Gill Sans MT"/>
                <a:ea typeface="微軟正黑體"/>
              </a:rPr>
              <a:t>1</a:t>
            </a: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Gill Sans MT"/>
                <a:ea typeface="微軟正黑體"/>
              </a:rPr>
              <a:t>，是機構。</a:t>
            </a:r>
            <a:endParaRPr b="1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6" name="" descr=""/>
          <p:cNvPicPr/>
          <p:nvPr/>
        </p:nvPicPr>
        <p:blipFill>
          <a:blip r:embed="rId2"/>
          <a:stretch/>
        </p:blipFill>
        <p:spPr>
          <a:xfrm>
            <a:off x="2268360" y="1700280"/>
            <a:ext cx="5372280" cy="2687400"/>
          </a:xfrm>
          <a:prstGeom prst="rect">
            <a:avLst/>
          </a:prstGeom>
          <a:noFill/>
          <a:ln w="0">
            <a:noFill/>
          </a:ln>
        </p:spPr>
      </p:pic>
    </p:spTree>
  </p:cSld>
  <p:timing>
    <p:tnLst>
      <p:par>
        <p:cTn id="163" dur="indefinite" restart="never" nodeType="tmRoot">
          <p:childTnLst>
            <p:seq>
              <p:cTn id="164" dur="indefinite" nodeType="mainSeq">
                <p:childTnLst>
                  <p:par>
                    <p:cTn id="165" dur="indefinite" nodeType="clickEffect" fill="hold">
                      <p:stCondLst>
                        <p:cond delay="indefinite"/>
                      </p:stCondLst>
                      <p:childTnLst>
                        <p:par>
                          <p:cTn id="166" dur="indefinite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67" dur="indefinite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dur="indefinite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dur="indefinite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"/>
          <p:cNvSpPr/>
          <p:nvPr/>
        </p:nvSpPr>
        <p:spPr>
          <a:xfrm>
            <a:off x="1000080" y="1800"/>
            <a:ext cx="8143920" cy="95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sp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r" pos="471636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例題</a:t>
            </a:r>
            <a:r>
              <a:rPr b="1" lang="en-US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1.3 </a:t>
            </a:r>
            <a:r>
              <a:rPr b="1" lang="en-US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	</a:t>
            </a:r>
            <a:endParaRPr b="1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r" pos="471636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　　試計算圖 </a:t>
            </a:r>
            <a:r>
              <a:rPr b="1" lang="en-US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1.9 </a:t>
            </a: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所示之運動鏈自由度。 </a:t>
            </a:r>
            <a:endParaRPr b="1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"/>
          <p:cNvSpPr/>
          <p:nvPr/>
        </p:nvSpPr>
        <p:spPr>
          <a:xfrm>
            <a:off x="1357200" y="857160"/>
            <a:ext cx="7429680" cy="364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解：</a:t>
            </a:r>
            <a:endParaRPr b="1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在圖</a:t>
            </a:r>
            <a:r>
              <a:rPr b="1" lang="en-US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 </a:t>
            </a:r>
            <a:r>
              <a:rPr b="1" lang="en-US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1.9 </a:t>
            </a: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中，                    </a:t>
            </a:r>
            <a:r>
              <a:rPr b="1" lang="en-US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 </a:t>
            </a: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          ，則</a:t>
            </a:r>
            <a:endParaRPr b="1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endParaRPr b="1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endParaRPr b="1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故圖</a:t>
            </a:r>
            <a:r>
              <a:rPr b="1" lang="en-US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 </a:t>
            </a:r>
            <a:r>
              <a:rPr b="1" lang="en-US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1.9 </a:t>
            </a: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所示之運動鏈自由度為</a:t>
            </a:r>
            <a:r>
              <a:rPr b="1" lang="en-US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 </a:t>
            </a:r>
            <a:r>
              <a:rPr b="1" lang="en-US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1</a:t>
            </a: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，是拘束運動鏈或稱機構。</a:t>
            </a:r>
            <a:r>
              <a:rPr b="1" lang="en-US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( </a:t>
            </a: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注意在</a:t>
            </a:r>
            <a:r>
              <a:rPr b="1" lang="en-US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P</a:t>
            </a: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點位置上有一低對偶數，在</a:t>
            </a:r>
            <a:r>
              <a:rPr b="1" lang="en-US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Q</a:t>
            </a: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點上，則有一高對偶數存在。</a:t>
            </a:r>
            <a:r>
              <a:rPr b="1" lang="en-US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) </a:t>
            </a:r>
            <a:r>
              <a:rPr b="1" lang="en-US" sz="1800" strike="noStrike" u="none">
                <a:solidFill>
                  <a:srgbClr val="c00000"/>
                </a:solidFill>
                <a:effectLst/>
                <a:uFillTx/>
                <a:latin typeface="Arial"/>
                <a:ea typeface="標楷體"/>
              </a:rPr>
              <a:t>PLAY</a:t>
            </a:r>
            <a:endParaRPr b="1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endParaRPr b="1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"/>
          <p:cNvSpPr/>
          <p:nvPr/>
        </p:nvSpPr>
        <p:spPr>
          <a:xfrm>
            <a:off x="0" y="0"/>
            <a:ext cx="9144000" cy="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5360" bIns="-45360" anchor="ctr">
            <a:noAutofit/>
          </a:bodyPr>
          <a:p>
            <a:endParaRPr b="1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mc:AlternateContent>
        <mc:Choice xmlns:a14="http://schemas.microsoft.com/office/drawing/2010/main" Requires="a14">
          <p:sp>
            <p:nvSpPr>
              <p:cNvPr id="190" name=""/>
              <p:cNvSpPr txBox="1"/>
              <p:nvPr/>
            </p:nvSpPr>
            <p:spPr>
              <a:xfrm>
                <a:off x="3429000" y="1357200"/>
                <a:ext cx="2714760" cy="44136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rPr>
                        <m:lit/>
                        <m:nor/>
                      </m:rPr>
                      <m:t xml:space="preserve">L=</m:t>
                    </m:r>
                    <m:r>
                      <m:t xml:space="preserve">5</m:t>
                    </m:r>
                    <m:sSub>
                      <m:e>
                        <m:r>
                          <m:rPr>
                            <m:lit/>
                            <m:nor/>
                          </m:rPr>
                          <m:t xml:space="preserve">,P</m:t>
                        </m:r>
                      </m:e>
                      <m:sub>
                        <m:r>
                          <m:t xml:space="preserve">1</m:t>
                        </m:r>
                      </m:sub>
                    </m:sSub>
                    <m:r>
                      <m:t xml:space="preserve">=</m:t>
                    </m:r>
                    <m:r>
                      <m:t xml:space="preserve">5</m:t>
                    </m:r>
                    <m:sSub>
                      <m:e>
                        <m:r>
                          <m:rPr>
                            <m:lit/>
                            <m:nor/>
                          </m:rPr>
                          <m:t xml:space="preserve">,P</m:t>
                        </m:r>
                      </m:e>
                      <m:sub>
                        <m:r>
                          <m:t xml:space="preserve">2</m:t>
                        </m:r>
                      </m:sub>
                    </m:sSub>
                    <m:r>
                      <m:t xml:space="preserve">=</m:t>
                    </m:r>
                    <m:r>
                      <m:t xml:space="preserve">1</m:t>
                    </m:r>
                  </m:oMath>
                </a14:m>
              </a:p>
            </p:txBody>
          </p:sp>
        </mc:Choice>
        <mc:Fallback>
          <p:sp>
            <p:nvSpPr>
              <p:cNvPr id="190" name=""/>
              <p:cNvSpPr txBox="1"/>
              <p:nvPr/>
            </p:nvSpPr>
            <p:spPr>
              <a:xfrm>
                <a:off x="3429000" y="1357200"/>
                <a:ext cx="2714760" cy="44136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</p:sp>
        </mc:Fallback>
      </mc:AlternateContent>
      <p:sp>
        <p:nvSpPr>
          <p:cNvPr id="191" name=""/>
          <p:cNvSpPr/>
          <p:nvPr/>
        </p:nvSpPr>
        <p:spPr>
          <a:xfrm>
            <a:off x="0" y="0"/>
            <a:ext cx="9144000" cy="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5360" bIns="-45360" anchor="ctr">
            <a:noAutofit/>
          </a:bodyPr>
          <a:p>
            <a:endParaRPr b="1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mc:AlternateContent>
        <mc:Choice xmlns:a14="http://schemas.microsoft.com/office/drawing/2010/main" Requires="a14">
          <p:sp>
            <p:nvSpPr>
              <p:cNvPr id="192" name=""/>
              <p:cNvSpPr txBox="1"/>
              <p:nvPr/>
            </p:nvSpPr>
            <p:spPr>
              <a:xfrm>
                <a:off x="2357280" y="2000160"/>
                <a:ext cx="4500720" cy="46692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rPr>
                        <m:lit/>
                        <m:nor/>
                      </m:rPr>
                      <m:t xml:space="preserve">F=</m:t>
                    </m:r>
                    <m:r>
                      <m:t xml:space="preserve">3</m:t>
                    </m:r>
                    <m:r>
                      <m:t xml:space="preserve">(</m:t>
                    </m:r>
                    <m:r>
                      <m:t xml:space="preserve">5</m:t>
                    </m:r>
                    <m:r>
                      <m:t xml:space="preserve">−</m:t>
                    </m:r>
                    <m:r>
                      <m:t xml:space="preserve">1</m:t>
                    </m:r>
                    <m:r>
                      <m:t xml:space="preserve">)</m:t>
                    </m:r>
                    <m:r>
                      <m:t xml:space="preserve">−</m:t>
                    </m:r>
                    <m:r>
                      <m:t xml:space="preserve">2</m:t>
                    </m:r>
                    <m:r>
                      <m:t xml:space="preserve">´</m:t>
                    </m:r>
                    <m:r>
                      <m:t xml:space="preserve">5</m:t>
                    </m:r>
                    <m:r>
                      <m:t xml:space="preserve">−</m:t>
                    </m:r>
                    <m:r>
                      <m:t xml:space="preserve">1</m:t>
                    </m:r>
                    <m:r>
                      <m:t xml:space="preserve">=</m:t>
                    </m:r>
                    <m:r>
                      <m:t xml:space="preserve">1</m:t>
                    </m:r>
                  </m:oMath>
                </a14:m>
              </a:p>
            </p:txBody>
          </p:sp>
        </mc:Choice>
        <mc:Fallback>
          <p:sp>
            <p:nvSpPr>
              <p:cNvPr id="192" name=""/>
              <p:cNvSpPr txBox="1"/>
              <p:nvPr/>
            </p:nvSpPr>
            <p:spPr>
              <a:xfrm>
                <a:off x="2357280" y="2000160"/>
                <a:ext cx="4500720" cy="4669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</p:sp>
        </mc:Fallback>
      </mc:AlternateContent>
      <p:pic>
        <p:nvPicPr>
          <p:cNvPr id="193" name="" descr=""/>
          <p:cNvPicPr/>
          <p:nvPr/>
        </p:nvPicPr>
        <p:blipFill>
          <a:blip r:embed="rId4"/>
          <a:stretch/>
        </p:blipFill>
        <p:spPr>
          <a:xfrm>
            <a:off x="2833560" y="3906720"/>
            <a:ext cx="3476880" cy="2835360"/>
          </a:xfrm>
          <a:prstGeom prst="rect">
            <a:avLst/>
          </a:prstGeom>
          <a:noFill/>
          <a:ln w="0">
            <a:noFill/>
          </a:ln>
        </p:spPr>
      </p:pic>
    </p:spTree>
  </p:cSld>
  <p:timing>
    <p:tnLst>
      <p:par>
        <p:cTn id="173" dur="indefinite" restart="never" nodeType="tmRoot">
          <p:childTnLst>
            <p:seq>
              <p:cTn id="174" dur="indefinite" nodeType="mainSeq">
                <p:childTnLst>
                  <p:par>
                    <p:cTn id="175" dur="indefinite" nodeType="clickEffect" fill="hold">
                      <p:stCondLst>
                        <p:cond delay="indefinite"/>
                      </p:stCondLst>
                      <p:childTnLst>
                        <p:par>
                          <p:cTn id="176" dur="indefinite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77" dur="indefinite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dur="indefinite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"/>
          <p:cNvSpPr/>
          <p:nvPr/>
        </p:nvSpPr>
        <p:spPr>
          <a:xfrm>
            <a:off x="1434960" y="274680"/>
            <a:ext cx="7499520" cy="11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zh-TW" sz="4300" strike="noStrike" u="none">
                <a:solidFill>
                  <a:srgbClr val="572314"/>
                </a:solidFill>
                <a:effectLst/>
                <a:uFillTx/>
                <a:latin typeface="Gill Sans MT"/>
                <a:ea typeface="微軟正黑體"/>
              </a:rPr>
              <a:t>範例</a:t>
            </a:r>
            <a:r>
              <a:rPr b="1" lang="en-US" sz="4300" strike="noStrike" u="none">
                <a:solidFill>
                  <a:srgbClr val="572314"/>
                </a:solidFill>
                <a:effectLst/>
                <a:uFillTx/>
                <a:latin typeface="Gill Sans MT"/>
                <a:ea typeface="微軟正黑體"/>
              </a:rPr>
              <a:t>1-4</a:t>
            </a:r>
            <a:endParaRPr b="1" lang="en-US" sz="4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"/>
          <p:cNvSpPr/>
          <p:nvPr/>
        </p:nvSpPr>
        <p:spPr>
          <a:xfrm>
            <a:off x="1258920" y="1268280"/>
            <a:ext cx="7675560" cy="540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marL="365040" indent="-28260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buClr>
                <a:srgbClr val="3891a7"/>
              </a:buClr>
              <a:buSzPct val="80000"/>
              <a:buFont typeface="Wingdings 2" charset="2"/>
              <a:buChar char="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zh-TW" sz="3200" strike="noStrike" u="none">
                <a:solidFill>
                  <a:srgbClr val="000000"/>
                </a:solidFill>
                <a:effectLst/>
                <a:uFillTx/>
                <a:latin typeface="Gill Sans MT"/>
                <a:ea typeface="微軟正黑體"/>
              </a:rPr>
              <a:t>試計算圖</a:t>
            </a:r>
            <a:r>
              <a:rPr b="1" lang="en-US" sz="3200" strike="noStrike" u="none">
                <a:solidFill>
                  <a:srgbClr val="000000"/>
                </a:solidFill>
                <a:effectLst/>
                <a:uFillTx/>
                <a:latin typeface="Gill Sans MT"/>
                <a:ea typeface="微軟正黑體"/>
              </a:rPr>
              <a:t>1.6-2</a:t>
            </a:r>
            <a:r>
              <a:rPr b="1" lang="zh-TW" sz="3200" strike="noStrike" u="none">
                <a:solidFill>
                  <a:srgbClr val="000000"/>
                </a:solidFill>
                <a:effectLst/>
                <a:uFillTx/>
                <a:latin typeface="Gill Sans MT"/>
                <a:ea typeface="微軟正黑體"/>
              </a:rPr>
              <a:t>所示之運動鏈自由度。</a:t>
            </a:r>
            <a:endParaRPr b="1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5040" indent="-28260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buClr>
                <a:srgbClr val="3891a7"/>
              </a:buClr>
              <a:buSzPct val="80000"/>
              <a:buFont typeface="Wingdings 2" charset="2"/>
              <a:buChar char="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br>
              <a:rPr sz="3200"/>
            </a:br>
            <a:br>
              <a:rPr sz="3200"/>
            </a:br>
            <a:r>
              <a:rPr b="1" lang="zh-TW" sz="3200" strike="noStrike" u="none">
                <a:solidFill>
                  <a:srgbClr val="000000"/>
                </a:solidFill>
                <a:effectLst/>
                <a:uFillTx/>
                <a:latin typeface="Gill Sans MT"/>
              </a:rPr>
              <a:t> </a:t>
            </a:r>
            <a:endParaRPr b="1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5040" indent="-28260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buClr>
                <a:srgbClr val="3891a7"/>
              </a:buClr>
              <a:buSzPct val="80000"/>
              <a:buFont typeface="Wingdings 2" charset="2"/>
              <a:buChar char="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zh-TW" sz="3200" strike="noStrike" u="none">
                <a:solidFill>
                  <a:srgbClr val="0066ac"/>
                </a:solidFill>
                <a:effectLst/>
                <a:uFillTx/>
                <a:latin typeface="Gill Sans MT"/>
                <a:ea typeface="微軟正黑體"/>
              </a:rPr>
              <a:t>解</a:t>
            </a:r>
            <a:endParaRPr b="1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5040" indent="-28260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buClr>
                <a:srgbClr val="3891a7"/>
              </a:buClr>
              <a:buSzPct val="80000"/>
              <a:buFont typeface="Wingdings 2" charset="2"/>
              <a:buChar char="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Gill Sans MT"/>
                <a:ea typeface="微軟正黑體"/>
              </a:rPr>
              <a:t>由圖</a:t>
            </a:r>
            <a:r>
              <a:rPr b="1" lang="en-US" sz="2800" strike="noStrike" u="none">
                <a:solidFill>
                  <a:srgbClr val="000000"/>
                </a:solidFill>
                <a:effectLst/>
                <a:uFillTx/>
                <a:latin typeface="Gill Sans MT"/>
                <a:ea typeface="微軟正黑體"/>
              </a:rPr>
              <a:t>1-23</a:t>
            </a: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Gill Sans MT"/>
                <a:ea typeface="微軟正黑體"/>
              </a:rPr>
              <a:t>中得知，</a:t>
            </a:r>
            <a:r>
              <a:rPr b="1" i="1" lang="en-US" sz="2800" strike="noStrike" u="none">
                <a:solidFill>
                  <a:srgbClr val="000000"/>
                </a:solidFill>
                <a:effectLst/>
                <a:uFillTx/>
                <a:latin typeface="Gill Sans MT"/>
                <a:ea typeface="微軟正黑體"/>
              </a:rPr>
              <a:t>L</a:t>
            </a:r>
            <a:r>
              <a:rPr b="1" lang="en-US" sz="2800" strike="noStrike" u="none">
                <a:solidFill>
                  <a:srgbClr val="000000"/>
                </a:solidFill>
                <a:effectLst/>
                <a:uFillTx/>
                <a:latin typeface="Gill Sans MT"/>
                <a:ea typeface="微軟正黑體"/>
              </a:rPr>
              <a:t> = 4</a:t>
            </a: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Gill Sans MT"/>
                <a:ea typeface="微軟正黑體"/>
              </a:rPr>
              <a:t>，</a:t>
            </a:r>
            <a:r>
              <a:rPr b="1" i="1" lang="en-US" sz="2800" strike="noStrike" u="none">
                <a:solidFill>
                  <a:srgbClr val="000000"/>
                </a:solidFill>
                <a:effectLst/>
                <a:uFillTx/>
                <a:latin typeface="Gill Sans MT"/>
                <a:ea typeface="微軟正黑體"/>
              </a:rPr>
              <a:t>P</a:t>
            </a:r>
            <a:r>
              <a:rPr b="1" lang="en-US" sz="2800" strike="noStrike" u="none" baseline="-25000">
                <a:solidFill>
                  <a:srgbClr val="000000"/>
                </a:solidFill>
                <a:effectLst/>
                <a:uFillTx/>
                <a:latin typeface="Gill Sans MT"/>
                <a:ea typeface="微軟正黑體"/>
              </a:rPr>
              <a:t>1</a:t>
            </a:r>
            <a:r>
              <a:rPr b="1" lang="en-US" sz="2800" strike="noStrike" u="none">
                <a:solidFill>
                  <a:srgbClr val="000000"/>
                </a:solidFill>
                <a:effectLst/>
                <a:uFillTx/>
                <a:latin typeface="Gill Sans MT"/>
                <a:ea typeface="微軟正黑體"/>
              </a:rPr>
              <a:t> = 3</a:t>
            </a: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Gill Sans MT"/>
                <a:ea typeface="微軟正黑體"/>
              </a:rPr>
              <a:t>，</a:t>
            </a:r>
            <a:r>
              <a:rPr b="1" i="1" lang="en-US" sz="2800" strike="noStrike" u="none">
                <a:solidFill>
                  <a:srgbClr val="000000"/>
                </a:solidFill>
                <a:effectLst/>
                <a:uFillTx/>
                <a:latin typeface="Gill Sans MT"/>
                <a:ea typeface="微軟正黑體"/>
              </a:rPr>
              <a:t>P</a:t>
            </a:r>
            <a:r>
              <a:rPr b="1" lang="en-US" sz="2800" strike="noStrike" u="none" baseline="-25000">
                <a:solidFill>
                  <a:srgbClr val="000000"/>
                </a:solidFill>
                <a:effectLst/>
                <a:uFillTx/>
                <a:latin typeface="Gill Sans MT"/>
                <a:ea typeface="微軟正黑體"/>
              </a:rPr>
              <a:t>2</a:t>
            </a:r>
            <a:r>
              <a:rPr b="1" lang="en-US" sz="2800" strike="noStrike" u="none">
                <a:solidFill>
                  <a:srgbClr val="000000"/>
                </a:solidFill>
                <a:effectLst/>
                <a:uFillTx/>
                <a:latin typeface="Gill Sans MT"/>
                <a:ea typeface="微軟正黑體"/>
              </a:rPr>
              <a:t> = 2</a:t>
            </a: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Gill Sans MT"/>
                <a:ea typeface="微軟正黑體"/>
              </a:rPr>
              <a:t>，則</a:t>
            </a:r>
            <a:endParaRPr b="1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5040" indent="-28260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buClr>
                <a:srgbClr val="3891a7"/>
              </a:buClr>
              <a:buSzPct val="80000"/>
              <a:buFont typeface="Wingdings 2" charset="2"/>
              <a:buChar char="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i="1" lang="en-US" sz="2800" strike="noStrike" u="none">
                <a:solidFill>
                  <a:srgbClr val="000000"/>
                </a:solidFill>
                <a:effectLst/>
                <a:uFillTx/>
                <a:latin typeface="Gill Sans MT"/>
                <a:ea typeface="微軟正黑體"/>
              </a:rPr>
              <a:t>F</a:t>
            </a:r>
            <a:r>
              <a:rPr b="1" lang="en-US" sz="2800" strike="noStrike" u="none">
                <a:solidFill>
                  <a:srgbClr val="000000"/>
                </a:solidFill>
                <a:effectLst/>
                <a:uFillTx/>
                <a:latin typeface="Gill Sans MT"/>
                <a:ea typeface="微軟正黑體"/>
              </a:rPr>
              <a:t> = 3(4 </a:t>
            </a:r>
            <a:r>
              <a:rPr b="1" lang="en-US" sz="2800" strike="noStrike" u="non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</a:t>
            </a:r>
            <a:r>
              <a:rPr b="1" lang="en-US" sz="2800" strike="noStrike" u="none">
                <a:solidFill>
                  <a:srgbClr val="000000"/>
                </a:solidFill>
                <a:effectLst/>
                <a:uFillTx/>
                <a:latin typeface="Gill Sans MT"/>
                <a:ea typeface="微軟正黑體"/>
              </a:rPr>
              <a:t> 1) </a:t>
            </a:r>
            <a:r>
              <a:rPr b="1" lang="en-US" sz="2800" strike="noStrike" u="non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</a:t>
            </a:r>
            <a:r>
              <a:rPr b="1" lang="en-US" sz="2800" strike="noStrike" u="none">
                <a:solidFill>
                  <a:srgbClr val="000000"/>
                </a:solidFill>
                <a:effectLst/>
                <a:uFillTx/>
                <a:latin typeface="Gill Sans MT"/>
                <a:ea typeface="微軟正黑體"/>
              </a:rPr>
              <a:t>2×3 </a:t>
            </a:r>
            <a:r>
              <a:rPr b="1" lang="en-US" sz="2800" strike="noStrike" u="non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</a:t>
            </a:r>
            <a:r>
              <a:rPr b="1" lang="en-US" sz="2800" strike="noStrike" u="none">
                <a:solidFill>
                  <a:srgbClr val="000000"/>
                </a:solidFill>
                <a:effectLst/>
                <a:uFillTx/>
                <a:latin typeface="Gill Sans MT"/>
                <a:ea typeface="微軟正黑體"/>
              </a:rPr>
              <a:t> 2 = 1</a:t>
            </a:r>
            <a:endParaRPr b="1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5040" indent="-28260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buClr>
                <a:srgbClr val="3891a7"/>
              </a:buClr>
              <a:buSzPct val="80000"/>
              <a:buFont typeface="Wingdings 2" charset="2"/>
              <a:buChar char="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Gill Sans MT"/>
                <a:ea typeface="微軟正黑體"/>
              </a:rPr>
              <a:t>故圖</a:t>
            </a:r>
            <a:r>
              <a:rPr b="1" lang="en-US" sz="2800" strike="noStrike" u="none">
                <a:solidFill>
                  <a:srgbClr val="000000"/>
                </a:solidFill>
                <a:effectLst/>
                <a:uFillTx/>
                <a:latin typeface="Gill Sans MT"/>
                <a:ea typeface="微軟正黑體"/>
              </a:rPr>
              <a:t>1-23</a:t>
            </a: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Gill Sans MT"/>
                <a:ea typeface="微軟正黑體"/>
              </a:rPr>
              <a:t>所示之運動鏈自由度為</a:t>
            </a:r>
            <a:r>
              <a:rPr b="1" lang="en-US" sz="2800" strike="noStrike" u="none">
                <a:solidFill>
                  <a:srgbClr val="000000"/>
                </a:solidFill>
                <a:effectLst/>
                <a:uFillTx/>
                <a:latin typeface="Gill Sans MT"/>
                <a:ea typeface="微軟正黑體"/>
              </a:rPr>
              <a:t>1</a:t>
            </a: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Gill Sans MT"/>
                <a:ea typeface="微軟正黑體"/>
              </a:rPr>
              <a:t>，是機構。</a:t>
            </a:r>
            <a:endParaRPr b="1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5040" indent="-28260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buClr>
                <a:srgbClr val="3891a7"/>
              </a:buClr>
              <a:buSzPct val="80000"/>
              <a:buFont typeface="Wingdings 2" charset="2"/>
              <a:buChar char="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en-US" sz="2800" strike="noStrike" u="none">
                <a:solidFill>
                  <a:srgbClr val="000000"/>
                </a:solidFill>
                <a:effectLst/>
                <a:uFillTx/>
                <a:latin typeface="Gill Sans MT"/>
                <a:ea typeface="微軟正黑體"/>
              </a:rPr>
              <a:t>(</a:t>
            </a: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Gill Sans MT"/>
                <a:ea typeface="微軟正黑體"/>
              </a:rPr>
              <a:t>其中在</a:t>
            </a:r>
            <a:r>
              <a:rPr b="1" lang="en-US" sz="2800" strike="noStrike" u="none">
                <a:solidFill>
                  <a:srgbClr val="000000"/>
                </a:solidFill>
                <a:effectLst/>
                <a:uFillTx/>
                <a:latin typeface="Gill Sans MT"/>
                <a:ea typeface="微軟正黑體"/>
              </a:rPr>
              <a:t>R</a:t>
            </a: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Gill Sans MT"/>
                <a:ea typeface="微軟正黑體"/>
              </a:rPr>
              <a:t>及</a:t>
            </a:r>
            <a:r>
              <a:rPr b="1" lang="en-US" sz="2800" strike="noStrike" u="none">
                <a:solidFill>
                  <a:srgbClr val="000000"/>
                </a:solidFill>
                <a:effectLst/>
                <a:uFillTx/>
                <a:latin typeface="Gill Sans MT"/>
                <a:ea typeface="微軟正黑體"/>
              </a:rPr>
              <a:t>Q</a:t>
            </a: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Gill Sans MT"/>
                <a:ea typeface="微軟正黑體"/>
              </a:rPr>
              <a:t>點上之對偶數為</a:t>
            </a:r>
            <a:r>
              <a:rPr b="1" lang="en-US" sz="2800" strike="noStrike" u="none">
                <a:solidFill>
                  <a:srgbClr val="000000"/>
                </a:solidFill>
                <a:effectLst/>
                <a:uFillTx/>
                <a:latin typeface="Gill Sans MT"/>
                <a:ea typeface="微軟正黑體"/>
              </a:rPr>
              <a:t>2)</a:t>
            </a:r>
            <a:endParaRPr b="1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6" name="" descr=""/>
          <p:cNvPicPr/>
          <p:nvPr/>
        </p:nvPicPr>
        <p:blipFill>
          <a:blip r:embed="rId2"/>
          <a:stretch/>
        </p:blipFill>
        <p:spPr>
          <a:xfrm>
            <a:off x="2886120" y="1828800"/>
            <a:ext cx="3371760" cy="2247840"/>
          </a:xfrm>
          <a:prstGeom prst="rect">
            <a:avLst/>
          </a:prstGeom>
          <a:noFill/>
          <a:ln w="0">
            <a:noFill/>
          </a:ln>
        </p:spPr>
      </p:pic>
    </p:spTree>
  </p:cSld>
  <p:timing>
    <p:tnLst>
      <p:par>
        <p:cTn id="181" dur="indefinite" restart="never" nodeType="tmRoot">
          <p:childTnLst>
            <p:seq>
              <p:cTn id="182" dur="indefinite" nodeType="mainSeq">
                <p:childTnLst>
                  <p:par>
                    <p:cTn id="183" dur="indefinite" nodeType="clickEffect" fill="hold">
                      <p:stCondLst>
                        <p:cond delay="indefinite"/>
                      </p:stCondLst>
                      <p:childTnLst>
                        <p:par>
                          <p:cTn id="184" dur="indefinite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85" dur="indefinite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dur="indefinite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dur="indefinite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dur="indefinite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"/>
          <p:cNvSpPr/>
          <p:nvPr/>
        </p:nvSpPr>
        <p:spPr>
          <a:xfrm>
            <a:off x="1000080" y="1800"/>
            <a:ext cx="8143920" cy="95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sp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r" pos="471636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例題</a:t>
            </a:r>
            <a:r>
              <a:rPr b="1" lang="en-US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1.5</a:t>
            </a:r>
            <a:r>
              <a:rPr b="1" lang="en-US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	</a:t>
            </a:r>
            <a:endParaRPr b="1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r" pos="471636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　如圖</a:t>
            </a:r>
            <a:r>
              <a:rPr b="1" lang="en-US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 </a:t>
            </a:r>
            <a:r>
              <a:rPr b="1" lang="en-US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1.10 </a:t>
            </a: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所示為一挖土機，試決定其自由度。</a:t>
            </a:r>
            <a:endParaRPr b="1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"/>
          <p:cNvSpPr/>
          <p:nvPr/>
        </p:nvSpPr>
        <p:spPr>
          <a:xfrm>
            <a:off x="0" y="0"/>
            <a:ext cx="9144000" cy="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5360" bIns="-45360" anchor="ctr">
            <a:noAutofit/>
          </a:bodyPr>
          <a:p>
            <a:endParaRPr b="1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"/>
          <p:cNvSpPr/>
          <p:nvPr/>
        </p:nvSpPr>
        <p:spPr>
          <a:xfrm>
            <a:off x="6721560" y="981000"/>
            <a:ext cx="183168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lvl="2" marL="914400">
              <a:lnSpc>
                <a:spcPct val="100000"/>
              </a:lnSpc>
              <a:spcBef>
                <a:spcPts val="462"/>
              </a:spcBef>
              <a:spcAft>
                <a:spcPts val="11"/>
              </a:spcAft>
              <a:buClr>
                <a:srgbClr val="feb80a"/>
              </a:buClr>
              <a:buFont typeface="Arial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en-US" sz="1800" strike="noStrike" u="none">
                <a:solidFill>
                  <a:srgbClr val="c00000"/>
                </a:solidFill>
                <a:effectLst/>
                <a:uFillTx/>
                <a:latin typeface="Arial"/>
                <a:ea typeface="新細明體"/>
              </a:rPr>
              <a:t>PLAY</a:t>
            </a:r>
            <a:endParaRPr b="1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0" name="" descr=""/>
          <p:cNvPicPr/>
          <p:nvPr/>
        </p:nvPicPr>
        <p:blipFill>
          <a:blip r:embed="rId2"/>
          <a:stretch/>
        </p:blipFill>
        <p:spPr>
          <a:xfrm>
            <a:off x="1120680" y="1347840"/>
            <a:ext cx="7338960" cy="531504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"/>
          <p:cNvSpPr/>
          <p:nvPr/>
        </p:nvSpPr>
        <p:spPr>
          <a:xfrm>
            <a:off x="1143000" y="0"/>
            <a:ext cx="7429680" cy="30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解：</a:t>
            </a:r>
            <a:endParaRPr b="1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此挖土機有</a:t>
            </a:r>
            <a:r>
              <a:rPr b="1" lang="en-US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 </a:t>
            </a:r>
            <a:r>
              <a:rPr b="1" lang="en-US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12 </a:t>
            </a: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根連根</a:t>
            </a:r>
            <a:r>
              <a:rPr b="1" lang="en-US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 </a:t>
            </a:r>
            <a:r>
              <a:rPr b="1" lang="en-US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( </a:t>
            </a: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駕駛座視為固定連桿</a:t>
            </a:r>
            <a:r>
              <a:rPr b="1" lang="en-US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 </a:t>
            </a:r>
            <a:r>
              <a:rPr b="1" lang="en-US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)</a:t>
            </a: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，</a:t>
            </a:r>
            <a:r>
              <a:rPr b="1" lang="en-US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12</a:t>
            </a: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個旋轉接頭，及</a:t>
            </a:r>
            <a:r>
              <a:rPr b="1" lang="en-US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 </a:t>
            </a:r>
            <a:r>
              <a:rPr b="1" lang="en-US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3 </a:t>
            </a: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個滑動接頭</a:t>
            </a:r>
            <a:r>
              <a:rPr b="1" lang="en-US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 </a:t>
            </a:r>
            <a:r>
              <a:rPr b="1" lang="en-US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( </a:t>
            </a: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活塞與液力筒之聯合體</a:t>
            </a:r>
            <a:r>
              <a:rPr b="1" lang="en-US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 </a:t>
            </a:r>
            <a:r>
              <a:rPr b="1" lang="en-US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)</a:t>
            </a: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 </a:t>
            </a: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，故</a:t>
            </a:r>
            <a:endParaRPr b="1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endParaRPr b="1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為無拘束運動鏈。</a:t>
            </a:r>
            <a:endParaRPr b="1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endParaRPr b="1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"/>
          <p:cNvSpPr/>
          <p:nvPr/>
        </p:nvSpPr>
        <p:spPr>
          <a:xfrm>
            <a:off x="0" y="0"/>
            <a:ext cx="9144000" cy="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5360" bIns="-45360" anchor="ctr">
            <a:noAutofit/>
          </a:bodyPr>
          <a:p>
            <a:endParaRPr b="1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mc:AlternateContent>
        <mc:Choice xmlns:a14="http://schemas.microsoft.com/office/drawing/2010/main" Requires="a14">
          <p:sp>
            <p:nvSpPr>
              <p:cNvPr id="203" name=""/>
              <p:cNvSpPr txBox="1"/>
              <p:nvPr/>
            </p:nvSpPr>
            <p:spPr>
              <a:xfrm>
                <a:off x="3214800" y="1785960"/>
                <a:ext cx="3900240" cy="50004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rPr>
                        <m:lit/>
                        <m:nor/>
                      </m:rPr>
                      <m:t xml:space="preserve">F=</m:t>
                    </m:r>
                    <m:r>
                      <m:t xml:space="preserve">3</m:t>
                    </m:r>
                    <m:r>
                      <m:t xml:space="preserve">(</m:t>
                    </m:r>
                    <m:r>
                      <m:rPr>
                        <m:lit/>
                        <m:nor/>
                      </m:rPr>
                      <m:t xml:space="preserve">12</m:t>
                    </m:r>
                    <m:r>
                      <m:t xml:space="preserve">−</m:t>
                    </m:r>
                    <m:r>
                      <m:t xml:space="preserve">1</m:t>
                    </m:r>
                    <m:r>
                      <m:t xml:space="preserve">)</m:t>
                    </m:r>
                    <m:r>
                      <m:t xml:space="preserve">−</m:t>
                    </m:r>
                    <m:r>
                      <m:t xml:space="preserve">2</m:t>
                    </m:r>
                    <m:r>
                      <m:t xml:space="preserve">´</m:t>
                    </m:r>
                    <m:r>
                      <m:rPr>
                        <m:lit/>
                        <m:nor/>
                      </m:rPr>
                      <m:t xml:space="preserve">15</m:t>
                    </m:r>
                    <m:r>
                      <m:t xml:space="preserve">=</m:t>
                    </m:r>
                    <m:r>
                      <m:t xml:space="preserve">3</m:t>
                    </m:r>
                  </m:oMath>
                </a14:m>
              </a:p>
            </p:txBody>
          </p:sp>
        </mc:Choice>
        <mc:Fallback>
          <p:sp>
            <p:nvSpPr>
              <p:cNvPr id="203" name=""/>
              <p:cNvSpPr txBox="1"/>
              <p:nvPr/>
            </p:nvSpPr>
            <p:spPr>
              <a:xfrm>
                <a:off x="3214800" y="1785960"/>
                <a:ext cx="3900240" cy="50004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</p:sp>
        </mc:Fallback>
      </mc:AlternateContent>
      <p:sp>
        <p:nvSpPr>
          <p:cNvPr id="204" name=""/>
          <p:cNvSpPr/>
          <p:nvPr/>
        </p:nvSpPr>
        <p:spPr>
          <a:xfrm>
            <a:off x="1943280" y="1590840"/>
            <a:ext cx="9144000" cy="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5360" bIns="-45360" anchor="ctr">
            <a:noAutofit/>
          </a:bodyPr>
          <a:p>
            <a:endParaRPr b="1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5" name="" descr=""/>
          <p:cNvPicPr/>
          <p:nvPr/>
        </p:nvPicPr>
        <p:blipFill>
          <a:blip r:embed="rId3"/>
          <a:stretch/>
        </p:blipFill>
        <p:spPr>
          <a:xfrm>
            <a:off x="2209680" y="2658960"/>
            <a:ext cx="5486400" cy="3837240"/>
          </a:xfrm>
          <a:prstGeom prst="rect">
            <a:avLst/>
          </a:prstGeom>
          <a:noFill/>
          <a:ln w="0">
            <a:noFill/>
          </a:ln>
        </p:spPr>
      </p:pic>
    </p:spTree>
  </p:cSld>
  <p:timing>
    <p:tnLst>
      <p:par>
        <p:cTn id="193" dur="indefinite" restart="never" nodeType="tmRoot">
          <p:childTnLst>
            <p:seq>
              <p:cTn id="194" dur="indefinite" nodeType="mainSeq">
                <p:childTnLst>
                  <p:par>
                    <p:cTn id="195" dur="indefinite" nodeType="clickEffect" fill="hold">
                      <p:stCondLst>
                        <p:cond delay="indefinite"/>
                      </p:stCondLst>
                      <p:childTnLst>
                        <p:par>
                          <p:cTn id="196" dur="indefinite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97" dur="indefinite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dur="indefinite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"/>
          <p:cNvSpPr/>
          <p:nvPr/>
        </p:nvSpPr>
        <p:spPr>
          <a:xfrm>
            <a:off x="1000080" y="0"/>
            <a:ext cx="8001000" cy="371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marL="365040" indent="-28260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buClr>
                <a:srgbClr val="3891a7"/>
              </a:buClr>
              <a:buSzPct val="80000"/>
              <a:buFont typeface="Wingdings" charset="2"/>
              <a:buChar char="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en-US" sz="3200" strike="noStrike" u="sng">
                <a:solidFill>
                  <a:srgbClr val="964305"/>
                </a:solidFill>
                <a:effectLst/>
                <a:uFillTx/>
                <a:latin typeface="Times New Roman"/>
                <a:ea typeface="標楷體"/>
              </a:rPr>
              <a:t>1.3.5</a:t>
            </a:r>
            <a:r>
              <a:rPr b="1" lang="zh-TW" sz="3200" strike="noStrike" u="none">
                <a:solidFill>
                  <a:srgbClr val="964305"/>
                </a:solidFill>
                <a:effectLst/>
                <a:uFillTx/>
                <a:latin typeface="Times New Roman"/>
                <a:ea typeface="標楷體"/>
              </a:rPr>
              <a:t>　常用之簡圖符號</a:t>
            </a:r>
            <a:endParaRPr b="1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39720" indent="-236520" algn="just">
              <a:lnSpc>
                <a:spcPct val="100000"/>
              </a:lnSpc>
              <a:spcBef>
                <a:spcPts val="561"/>
              </a:spcBef>
              <a:spcAft>
                <a:spcPts val="11"/>
              </a:spcAft>
              <a:buClr>
                <a:srgbClr val="3891a7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zh-TW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研究機構之運動情形，常需用簡圖來說明機件間的相關位置，但研究機構之運動情形並不涉及機件受力的問題，且與機件之強度和實際大小無關。若將其實際圖形畫出，不但對運動分析助益不大反而費時費工。因此，在機動學中常祗用簡單之圖形，說明機件之連配情形與相關位置，使分析更明瞭。</a:t>
            </a:r>
            <a:endParaRPr b="1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"/>
          <p:cNvSpPr/>
          <p:nvPr/>
        </p:nvSpPr>
        <p:spPr>
          <a:xfrm>
            <a:off x="2071800" y="4000680"/>
            <a:ext cx="6715080" cy="312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marL="639720" indent="-236520">
              <a:lnSpc>
                <a:spcPct val="100000"/>
              </a:lnSpc>
              <a:spcBef>
                <a:spcPts val="1213"/>
              </a:spcBef>
              <a:spcAft>
                <a:spcPts val="11"/>
              </a:spcAft>
              <a:buClr>
                <a:srgbClr val="000000"/>
              </a:buClr>
              <a:buFont typeface="Wingdings" charset="2"/>
              <a:buChar char="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zh-TW" sz="2400" strike="noStrike" u="none">
                <a:solidFill>
                  <a:srgbClr val="000000"/>
                </a:solidFill>
                <a:effectLst/>
                <a:uFillTx/>
                <a:latin typeface="標楷體"/>
                <a:ea typeface="標楷體"/>
              </a:rPr>
              <a:t>機件之一質點或一點</a:t>
            </a:r>
            <a:endParaRPr b="1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39720" indent="-236520">
              <a:lnSpc>
                <a:spcPct val="100000"/>
              </a:lnSpc>
              <a:spcBef>
                <a:spcPts val="1213"/>
              </a:spcBef>
              <a:spcAft>
                <a:spcPts val="11"/>
              </a:spcAft>
              <a:buClr>
                <a:srgbClr val="000000"/>
              </a:buClr>
              <a:buFont typeface="Wingdings" charset="2"/>
              <a:buChar char="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zh-TW" sz="2400" strike="noStrike" u="none">
                <a:solidFill>
                  <a:srgbClr val="000000"/>
                </a:solidFill>
                <a:effectLst/>
                <a:uFillTx/>
                <a:latin typeface="標楷體"/>
                <a:ea typeface="標楷體"/>
              </a:rPr>
              <a:t>旋轉對，相當於用銷所形成之樞軸</a:t>
            </a:r>
            <a:r>
              <a:rPr b="1" lang="en-US" sz="2400" strike="noStrike" u="none">
                <a:solidFill>
                  <a:srgbClr val="000000"/>
                </a:solidFill>
                <a:effectLst/>
                <a:uFillTx/>
                <a:latin typeface="標楷體"/>
                <a:ea typeface="標楷體"/>
              </a:rPr>
              <a:t> </a:t>
            </a:r>
            <a:r>
              <a:rPr b="1" lang="en-US" sz="2400" strike="noStrike" u="none">
                <a:solidFill>
                  <a:srgbClr val="000000"/>
                </a:solidFill>
                <a:effectLst/>
                <a:uFillTx/>
                <a:latin typeface="標楷體"/>
                <a:ea typeface="標楷體"/>
              </a:rPr>
              <a:t>(pivot)</a:t>
            </a:r>
            <a:r>
              <a:rPr b="1" lang="zh-TW" sz="2400" strike="noStrike" u="none">
                <a:solidFill>
                  <a:srgbClr val="000000"/>
                </a:solidFill>
                <a:effectLst/>
                <a:uFillTx/>
                <a:latin typeface="標楷體"/>
                <a:ea typeface="標楷體"/>
              </a:rPr>
              <a:t>，也代表由旋轉對所形成之接頭</a:t>
            </a:r>
            <a:r>
              <a:rPr b="1" lang="en-US" sz="2400" strike="noStrike" u="none">
                <a:solidFill>
                  <a:srgbClr val="000000"/>
                </a:solidFill>
                <a:effectLst/>
                <a:uFillTx/>
                <a:latin typeface="標楷體"/>
                <a:ea typeface="標楷體"/>
              </a:rPr>
              <a:t> </a:t>
            </a:r>
            <a:r>
              <a:rPr b="1" lang="en-US" sz="2400" strike="noStrike" u="none">
                <a:solidFill>
                  <a:srgbClr val="000000"/>
                </a:solidFill>
                <a:effectLst/>
                <a:uFillTx/>
                <a:latin typeface="標楷體"/>
                <a:ea typeface="標楷體"/>
              </a:rPr>
              <a:t>(joint)</a:t>
            </a:r>
            <a:r>
              <a:rPr b="1" lang="zh-TW" sz="2400" strike="noStrike" u="none">
                <a:solidFill>
                  <a:srgbClr val="000000"/>
                </a:solidFill>
                <a:effectLst/>
                <a:uFillTx/>
                <a:latin typeface="標楷體"/>
                <a:ea typeface="標楷體"/>
              </a:rPr>
              <a:t>。</a:t>
            </a:r>
            <a:endParaRPr b="1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39720" indent="-236520">
              <a:lnSpc>
                <a:spcPct val="100000"/>
              </a:lnSpc>
              <a:spcBef>
                <a:spcPts val="1213"/>
              </a:spcBef>
              <a:spcAft>
                <a:spcPts val="11"/>
              </a:spcAft>
              <a:buClr>
                <a:srgbClr val="000000"/>
              </a:buClr>
              <a:buFont typeface="Wingdings" charset="2"/>
              <a:buChar char="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zh-TW" sz="2400" strike="noStrike" u="none">
                <a:solidFill>
                  <a:srgbClr val="000000"/>
                </a:solidFill>
                <a:effectLst/>
                <a:uFillTx/>
                <a:latin typeface="標楷體"/>
                <a:ea typeface="標楷體"/>
              </a:rPr>
              <a:t>代表位置固定之旋轉對。</a:t>
            </a:r>
            <a:endParaRPr b="1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39720" indent="-236520">
              <a:lnSpc>
                <a:spcPct val="100000"/>
              </a:lnSpc>
              <a:spcBef>
                <a:spcPts val="1213"/>
              </a:spcBef>
              <a:spcAft>
                <a:spcPts val="11"/>
              </a:spcAft>
              <a:buClr>
                <a:srgbClr val="000000"/>
              </a:buClr>
              <a:buFont typeface="Wingdings" charset="2"/>
              <a:buChar char="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zh-TW" sz="2400" strike="noStrike" u="none">
                <a:solidFill>
                  <a:srgbClr val="000000"/>
                </a:solidFill>
                <a:effectLst/>
                <a:uFillTx/>
                <a:latin typeface="標楷體"/>
                <a:ea typeface="標楷體"/>
              </a:rPr>
              <a:t>連桿，若連桿為彎曲者，可畫為曲線。</a:t>
            </a:r>
            <a:endParaRPr b="1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39720" indent="-236520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endParaRPr b="1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"/>
          <p:cNvSpPr/>
          <p:nvPr/>
        </p:nvSpPr>
        <p:spPr>
          <a:xfrm>
            <a:off x="1643040" y="3929040"/>
            <a:ext cx="642960" cy="58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en-US" sz="3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新細明體"/>
              </a:rPr>
              <a:t>‧</a:t>
            </a:r>
            <a:endParaRPr b="1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9" name="" descr=""/>
          <p:cNvPicPr/>
          <p:nvPr/>
        </p:nvPicPr>
        <p:blipFill>
          <a:blip r:embed="rId2"/>
          <a:stretch/>
        </p:blipFill>
        <p:spPr>
          <a:xfrm>
            <a:off x="1692360" y="4581360"/>
            <a:ext cx="533160" cy="333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0" name="" descr=""/>
          <p:cNvPicPr/>
          <p:nvPr/>
        </p:nvPicPr>
        <p:blipFill>
          <a:blip r:embed="rId3"/>
          <a:stretch/>
        </p:blipFill>
        <p:spPr>
          <a:xfrm>
            <a:off x="1692360" y="5256360"/>
            <a:ext cx="647640" cy="447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1" name="" descr=""/>
          <p:cNvPicPr/>
          <p:nvPr/>
        </p:nvPicPr>
        <p:blipFill>
          <a:blip r:embed="rId4"/>
          <a:stretch/>
        </p:blipFill>
        <p:spPr>
          <a:xfrm>
            <a:off x="1619280" y="5999040"/>
            <a:ext cx="771480" cy="23832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"/>
          <p:cNvSpPr/>
          <p:nvPr/>
        </p:nvSpPr>
        <p:spPr>
          <a:xfrm>
            <a:off x="1000080" y="0"/>
            <a:ext cx="8001000" cy="71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marL="365040" indent="-28260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buClr>
                <a:srgbClr val="3891a7"/>
              </a:buClr>
              <a:buSzPct val="80000"/>
              <a:buFont typeface="Wingdings" charset="2"/>
              <a:buChar char="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en-US" sz="3200" strike="noStrike" u="sng">
                <a:solidFill>
                  <a:srgbClr val="964305"/>
                </a:solidFill>
                <a:effectLst/>
                <a:uFillTx/>
                <a:latin typeface="Times New Roman"/>
                <a:ea typeface="標楷體"/>
              </a:rPr>
              <a:t>1.3.5</a:t>
            </a:r>
            <a:r>
              <a:rPr b="1" lang="zh-TW" sz="3200" strike="noStrike" u="none">
                <a:solidFill>
                  <a:srgbClr val="964305"/>
                </a:solidFill>
                <a:effectLst/>
                <a:uFillTx/>
                <a:latin typeface="Times New Roman"/>
                <a:ea typeface="標楷體"/>
              </a:rPr>
              <a:t>　常用之簡圖符號</a:t>
            </a:r>
            <a:r>
              <a:rPr b="1" lang="en-US" sz="3200" strike="noStrike" u="none">
                <a:solidFill>
                  <a:srgbClr val="964305"/>
                </a:solidFill>
                <a:effectLst/>
                <a:uFillTx/>
                <a:latin typeface="Times New Roman"/>
                <a:ea typeface="標楷體"/>
              </a:rPr>
              <a:t>(</a:t>
            </a:r>
            <a:r>
              <a:rPr b="1" lang="zh-TW" sz="3200" strike="noStrike" u="none">
                <a:solidFill>
                  <a:srgbClr val="964305"/>
                </a:solidFill>
                <a:effectLst/>
                <a:uFillTx/>
                <a:latin typeface="Times New Roman"/>
                <a:ea typeface="標楷體"/>
              </a:rPr>
              <a:t>續</a:t>
            </a:r>
            <a:r>
              <a:rPr b="1" lang="en-US" sz="3200" strike="noStrike" u="none">
                <a:solidFill>
                  <a:srgbClr val="964305"/>
                </a:solidFill>
                <a:effectLst/>
                <a:uFillTx/>
                <a:latin typeface="Times New Roman"/>
                <a:ea typeface="標楷體"/>
              </a:rPr>
              <a:t>)</a:t>
            </a:r>
            <a:endParaRPr b="1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885960" indent="-45720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endParaRPr b="1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"/>
          <p:cNvSpPr/>
          <p:nvPr/>
        </p:nvSpPr>
        <p:spPr>
          <a:xfrm>
            <a:off x="2057400" y="1295280"/>
            <a:ext cx="6715080" cy="489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marL="639720" indent="-236520">
              <a:lnSpc>
                <a:spcPct val="100000"/>
              </a:lnSpc>
              <a:spcBef>
                <a:spcPts val="1213"/>
              </a:spcBef>
              <a:spcAft>
                <a:spcPts val="11"/>
              </a:spcAft>
              <a:buClr>
                <a:srgbClr val="000000"/>
              </a:buClr>
              <a:buSzPct val="80000"/>
              <a:buFont typeface="Wingdings" charset="2"/>
              <a:buChar char="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zh-TW" sz="2400" strike="noStrike" u="none">
                <a:solidFill>
                  <a:srgbClr val="000000"/>
                </a:solidFill>
                <a:effectLst/>
                <a:uFillTx/>
                <a:latin typeface="標楷體"/>
                <a:ea typeface="標楷體"/>
              </a:rPr>
              <a:t>固定件或分析運動時當作靜止之機件。</a:t>
            </a:r>
            <a:endParaRPr b="1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39720" indent="-236520">
              <a:lnSpc>
                <a:spcPct val="100000"/>
              </a:lnSpc>
              <a:spcBef>
                <a:spcPts val="1213"/>
              </a:spcBef>
              <a:spcAft>
                <a:spcPts val="11"/>
              </a:spcAft>
              <a:buClr>
                <a:srgbClr val="000000"/>
              </a:buClr>
              <a:buSzPct val="80000"/>
              <a:buFont typeface="Wingdings" charset="2"/>
              <a:buChar char="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zh-TW" sz="2400" strike="noStrike" u="none">
                <a:solidFill>
                  <a:srgbClr val="000000"/>
                </a:solidFill>
                <a:effectLst/>
                <a:uFillTx/>
                <a:latin typeface="標楷體"/>
                <a:ea typeface="標楷體"/>
              </a:rPr>
              <a:t>由一旋轉對，連接兩個可相對運動之機件，接點本身亦可以運動，其中一個機件需要與其他機件連接。</a:t>
            </a:r>
            <a:endParaRPr b="1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39720" indent="-236520">
              <a:lnSpc>
                <a:spcPct val="100000"/>
              </a:lnSpc>
              <a:spcBef>
                <a:spcPts val="1213"/>
              </a:spcBef>
              <a:spcAft>
                <a:spcPts val="11"/>
              </a:spcAft>
              <a:buClr>
                <a:srgbClr val="000000"/>
              </a:buClr>
              <a:buSzPct val="80000"/>
              <a:buFont typeface="Wingdings" charset="2"/>
              <a:buChar char="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zh-TW" sz="2400" strike="noStrike" u="none">
                <a:solidFill>
                  <a:srgbClr val="000000"/>
                </a:solidFill>
                <a:effectLst/>
                <a:uFillTx/>
                <a:latin typeface="標楷體"/>
                <a:ea typeface="標楷體"/>
              </a:rPr>
              <a:t>由一個旋轉對連接之兩個機件，兩個機件可以作相對運動，接點本身亦可以運動。</a:t>
            </a:r>
            <a:endParaRPr b="1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39720" indent="-236520">
              <a:lnSpc>
                <a:spcPct val="100000"/>
              </a:lnSpc>
              <a:spcBef>
                <a:spcPts val="1213"/>
              </a:spcBef>
              <a:spcAft>
                <a:spcPts val="11"/>
              </a:spcAft>
              <a:buClr>
                <a:srgbClr val="000000"/>
              </a:buClr>
              <a:buSzPct val="80000"/>
              <a:buFont typeface="Wingdings" charset="2"/>
              <a:buChar char="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zh-TW" sz="2400" strike="noStrike" u="none">
                <a:solidFill>
                  <a:srgbClr val="000000"/>
                </a:solidFill>
                <a:effectLst/>
                <a:uFillTx/>
                <a:latin typeface="標楷體"/>
                <a:ea typeface="標楷體"/>
              </a:rPr>
              <a:t>三個機件由旋轉對連接，機件相互之間都可以作相對運動，接點本身亦可運動。</a:t>
            </a:r>
            <a:endParaRPr b="1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39720" indent="-236520">
              <a:lnSpc>
                <a:spcPct val="100000"/>
              </a:lnSpc>
              <a:spcBef>
                <a:spcPts val="1213"/>
              </a:spcBef>
              <a:spcAft>
                <a:spcPts val="11"/>
              </a:spcAft>
              <a:buClr>
                <a:srgbClr val="000000"/>
              </a:buClr>
              <a:buSzPct val="80000"/>
              <a:buFont typeface="Wingdings" charset="2"/>
              <a:buChar char="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zh-TW" sz="2400" strike="noStrike" u="none">
                <a:solidFill>
                  <a:srgbClr val="000000"/>
                </a:solidFill>
                <a:effectLst/>
                <a:uFillTx/>
                <a:latin typeface="標楷體"/>
                <a:ea typeface="標楷體"/>
              </a:rPr>
              <a:t>一個位置固定之旋轉對，連接兩個可相對運動之機件。</a:t>
            </a:r>
            <a:endParaRPr b="1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39720" indent="-236520">
              <a:lnSpc>
                <a:spcPct val="100000"/>
              </a:lnSpc>
              <a:spcBef>
                <a:spcPts val="1213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endParaRPr b="1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14" name="" descr=""/>
          <p:cNvPicPr/>
          <p:nvPr/>
        </p:nvPicPr>
        <p:blipFill>
          <a:blip r:embed="rId2"/>
          <a:stretch/>
        </p:blipFill>
        <p:spPr>
          <a:xfrm>
            <a:off x="1692360" y="1328760"/>
            <a:ext cx="695160" cy="228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5" name="" descr=""/>
          <p:cNvPicPr/>
          <p:nvPr/>
        </p:nvPicPr>
        <p:blipFill>
          <a:blip r:embed="rId3"/>
          <a:stretch/>
        </p:blipFill>
        <p:spPr>
          <a:xfrm>
            <a:off x="1434960" y="1773360"/>
            <a:ext cx="952560" cy="504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6" name="" descr=""/>
          <p:cNvPicPr/>
          <p:nvPr/>
        </p:nvPicPr>
        <p:blipFill>
          <a:blip r:embed="rId4"/>
          <a:stretch/>
        </p:blipFill>
        <p:spPr>
          <a:xfrm>
            <a:off x="1547640" y="3141720"/>
            <a:ext cx="895680" cy="390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7" name="" descr=""/>
          <p:cNvPicPr/>
          <p:nvPr/>
        </p:nvPicPr>
        <p:blipFill>
          <a:blip r:embed="rId5"/>
          <a:stretch/>
        </p:blipFill>
        <p:spPr>
          <a:xfrm>
            <a:off x="1628640" y="3860640"/>
            <a:ext cx="857520" cy="495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8" name="" descr=""/>
          <p:cNvPicPr/>
          <p:nvPr/>
        </p:nvPicPr>
        <p:blipFill>
          <a:blip r:embed="rId6"/>
          <a:stretch/>
        </p:blipFill>
        <p:spPr>
          <a:xfrm>
            <a:off x="1720800" y="4724280"/>
            <a:ext cx="876240" cy="56196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"/>
          <p:cNvSpPr/>
          <p:nvPr/>
        </p:nvSpPr>
        <p:spPr>
          <a:xfrm>
            <a:off x="1000080" y="0"/>
            <a:ext cx="8001000" cy="71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marL="365040" indent="-28260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buClr>
                <a:srgbClr val="3891a7"/>
              </a:buClr>
              <a:buSzPct val="80000"/>
              <a:buFont typeface="Wingdings" charset="2"/>
              <a:buChar char="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en-US" sz="3200" strike="noStrike" u="sng">
                <a:solidFill>
                  <a:srgbClr val="964305"/>
                </a:solidFill>
                <a:effectLst/>
                <a:uFillTx/>
                <a:latin typeface="Times New Roman"/>
                <a:ea typeface="標楷體"/>
              </a:rPr>
              <a:t>1.3.5</a:t>
            </a:r>
            <a:r>
              <a:rPr b="1" lang="zh-TW" sz="3200" strike="noStrike" u="none">
                <a:solidFill>
                  <a:srgbClr val="964305"/>
                </a:solidFill>
                <a:effectLst/>
                <a:uFillTx/>
                <a:latin typeface="Times New Roman"/>
                <a:ea typeface="標楷體"/>
              </a:rPr>
              <a:t>　常用之簡圖符號</a:t>
            </a:r>
            <a:r>
              <a:rPr b="1" lang="en-US" sz="3200" strike="noStrike" u="none">
                <a:solidFill>
                  <a:srgbClr val="964305"/>
                </a:solidFill>
                <a:effectLst/>
                <a:uFillTx/>
                <a:latin typeface="Times New Roman"/>
                <a:ea typeface="標楷體"/>
              </a:rPr>
              <a:t>(</a:t>
            </a:r>
            <a:r>
              <a:rPr b="1" lang="zh-TW" sz="3200" strike="noStrike" u="none">
                <a:solidFill>
                  <a:srgbClr val="964305"/>
                </a:solidFill>
                <a:effectLst/>
                <a:uFillTx/>
                <a:latin typeface="Times New Roman"/>
                <a:ea typeface="標楷體"/>
              </a:rPr>
              <a:t>續</a:t>
            </a:r>
            <a:r>
              <a:rPr b="1" lang="en-US" sz="3200" strike="noStrike" u="none">
                <a:solidFill>
                  <a:srgbClr val="964305"/>
                </a:solidFill>
                <a:effectLst/>
                <a:uFillTx/>
                <a:latin typeface="Times New Roman"/>
                <a:ea typeface="標楷體"/>
              </a:rPr>
              <a:t>)</a:t>
            </a:r>
            <a:endParaRPr b="1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885960" indent="-45720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endParaRPr b="1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"/>
          <p:cNvSpPr/>
          <p:nvPr/>
        </p:nvSpPr>
        <p:spPr>
          <a:xfrm>
            <a:off x="2071800" y="1857240"/>
            <a:ext cx="6715080" cy="37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marL="639720" indent="-236520">
              <a:lnSpc>
                <a:spcPct val="100000"/>
              </a:lnSpc>
              <a:spcBef>
                <a:spcPts val="1213"/>
              </a:spcBef>
              <a:spcAft>
                <a:spcPts val="11"/>
              </a:spcAft>
              <a:buClr>
                <a:srgbClr val="000000"/>
              </a:buClr>
              <a:buSzPct val="80000"/>
              <a:buFont typeface="Wingdings" charset="2"/>
              <a:buChar char="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zh-TW" sz="2400" strike="noStrike" u="none">
                <a:solidFill>
                  <a:srgbClr val="000000"/>
                </a:solidFill>
                <a:effectLst/>
                <a:uFillTx/>
                <a:latin typeface="標楷體"/>
                <a:ea typeface="標楷體"/>
              </a:rPr>
              <a:t>兩個機件連成整體，其間沒有相對運動者。與一連桿或一剛體之情形相同。</a:t>
            </a:r>
            <a:endParaRPr b="1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39720" indent="-236520">
              <a:lnSpc>
                <a:spcPct val="100000"/>
              </a:lnSpc>
              <a:spcBef>
                <a:spcPts val="1213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endParaRPr b="1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39720" indent="-236520">
              <a:lnSpc>
                <a:spcPct val="100000"/>
              </a:lnSpc>
              <a:spcBef>
                <a:spcPts val="1213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endParaRPr b="1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39720" indent="-236520">
              <a:lnSpc>
                <a:spcPct val="100000"/>
              </a:lnSpc>
              <a:spcBef>
                <a:spcPts val="1213"/>
              </a:spcBef>
              <a:spcAft>
                <a:spcPts val="11"/>
              </a:spcAft>
              <a:buClr>
                <a:srgbClr val="000000"/>
              </a:buClr>
              <a:buSzPct val="80000"/>
              <a:buFont typeface="Wingdings" charset="2"/>
              <a:buChar char="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zh-TW" sz="2400" strike="noStrike" u="none">
                <a:solidFill>
                  <a:srgbClr val="000000"/>
                </a:solidFill>
                <a:effectLst/>
                <a:uFillTx/>
                <a:latin typeface="標楷體"/>
                <a:ea typeface="標楷體"/>
              </a:rPr>
              <a:t>由四個或更多之機件連成一個整體，彼此之間無相對運動之整體剛體，但可以整體運動。</a:t>
            </a:r>
            <a:endParaRPr b="1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39720" indent="-236520">
              <a:lnSpc>
                <a:spcPct val="100000"/>
              </a:lnSpc>
              <a:spcBef>
                <a:spcPts val="1213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endParaRPr b="1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39720" indent="-236520">
              <a:lnSpc>
                <a:spcPct val="100000"/>
              </a:lnSpc>
              <a:spcBef>
                <a:spcPts val="1213"/>
              </a:spcBef>
              <a:spcAft>
                <a:spcPts val="11"/>
              </a:spcAft>
              <a:buClr>
                <a:srgbClr val="000000"/>
              </a:buClr>
              <a:buSzPct val="80000"/>
              <a:buFont typeface="Wingdings" charset="2"/>
              <a:buChar char="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zh-TW" sz="2400" strike="noStrike" u="none">
                <a:solidFill>
                  <a:srgbClr val="000000"/>
                </a:solidFill>
                <a:effectLst/>
                <a:uFillTx/>
                <a:latin typeface="標楷體"/>
                <a:ea typeface="標楷體"/>
              </a:rPr>
              <a:t>導路和滑件所形成之滑行對。</a:t>
            </a:r>
            <a:endParaRPr b="1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21" name="" descr=""/>
          <p:cNvPicPr/>
          <p:nvPr/>
        </p:nvPicPr>
        <p:blipFill>
          <a:blip r:embed="rId2"/>
          <a:stretch/>
        </p:blipFill>
        <p:spPr>
          <a:xfrm>
            <a:off x="1258920" y="1197000"/>
            <a:ext cx="2467080" cy="561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2" name="" descr=""/>
          <p:cNvPicPr/>
          <p:nvPr/>
        </p:nvPicPr>
        <p:blipFill>
          <a:blip r:embed="rId3"/>
          <a:stretch/>
        </p:blipFill>
        <p:spPr>
          <a:xfrm>
            <a:off x="1258920" y="3684600"/>
            <a:ext cx="1095480" cy="561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3" name="" descr=""/>
          <p:cNvPicPr/>
          <p:nvPr/>
        </p:nvPicPr>
        <p:blipFill>
          <a:blip r:embed="rId4"/>
          <a:stretch/>
        </p:blipFill>
        <p:spPr>
          <a:xfrm>
            <a:off x="1716120" y="5157720"/>
            <a:ext cx="638280" cy="44784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"/>
          <p:cNvSpPr/>
          <p:nvPr/>
        </p:nvSpPr>
        <p:spPr>
          <a:xfrm>
            <a:off x="1042920" y="189000"/>
            <a:ext cx="7921800" cy="669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103733640"/>
              </a:tabLst>
            </a:pPr>
            <a:r>
              <a:rPr b="1" lang="en-US" sz="2400" strike="noStrike" u="none">
                <a:solidFill>
                  <a:srgbClr val="f88631"/>
                </a:solidFill>
                <a:effectLst/>
                <a:uFillTx/>
                <a:latin typeface="Times New Roman"/>
                <a:ea typeface="標楷體"/>
              </a:rPr>
              <a:t>[</a:t>
            </a:r>
            <a:r>
              <a:rPr b="1" lang="zh-TW" sz="2400" strike="noStrike" u="none">
                <a:solidFill>
                  <a:srgbClr val="f88631"/>
                </a:solidFill>
                <a:effectLst/>
                <a:uFillTx/>
                <a:latin typeface="Times New Roman"/>
                <a:ea typeface="標楷體"/>
              </a:rPr>
              <a:t>例</a:t>
            </a:r>
            <a:r>
              <a:rPr b="1" lang="en-US" sz="2400" strike="noStrike" u="none">
                <a:solidFill>
                  <a:srgbClr val="f88631"/>
                </a:solidFill>
                <a:effectLst/>
                <a:uFillTx/>
                <a:latin typeface="Times New Roman"/>
                <a:ea typeface="標楷體"/>
              </a:rPr>
              <a:t>]</a:t>
            </a:r>
            <a:r>
              <a:rPr b="1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 </a:t>
            </a:r>
            <a:r>
              <a:rPr b="1" lang="zh-TW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圖</a:t>
            </a:r>
            <a:r>
              <a:rPr b="1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 </a:t>
            </a:r>
            <a:r>
              <a:rPr b="1" lang="zh-TW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所示者為一種飛機</a:t>
            </a:r>
            <a:r>
              <a:rPr b="1" lang="zh-TW" sz="2400" strike="noStrike" u="none">
                <a:solidFill>
                  <a:srgbClr val="ff0000"/>
                </a:solidFill>
                <a:effectLst/>
                <a:uFillTx/>
                <a:latin typeface="Times New Roman"/>
                <a:ea typeface="標楷體"/>
              </a:rPr>
              <a:t>水平尾翼</a:t>
            </a:r>
            <a:r>
              <a:rPr b="1" lang="zh-TW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操縱機構的簡圖；其中，輸入 </a:t>
            </a:r>
            <a:r>
              <a:rPr b="1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I (</a:t>
            </a:r>
            <a:r>
              <a:rPr b="1" lang="zh-TW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桿</a:t>
            </a:r>
            <a:r>
              <a:rPr b="1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2) </a:t>
            </a:r>
            <a:r>
              <a:rPr b="1" lang="zh-TW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為操縱桿輸入，輸入 </a:t>
            </a:r>
            <a:r>
              <a:rPr b="1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II (</a:t>
            </a:r>
            <a:r>
              <a:rPr b="1" lang="zh-TW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桿 </a:t>
            </a:r>
            <a:r>
              <a:rPr b="1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12) </a:t>
            </a:r>
            <a:r>
              <a:rPr b="1" lang="zh-TW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為襟翼輸入，輸入 </a:t>
            </a:r>
            <a:r>
              <a:rPr b="1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III (</a:t>
            </a:r>
            <a:r>
              <a:rPr b="1" lang="zh-TW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桿 </a:t>
            </a:r>
            <a:r>
              <a:rPr b="1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7 </a:t>
            </a:r>
            <a:r>
              <a:rPr b="1" lang="zh-TW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和桿 </a:t>
            </a:r>
            <a:r>
              <a:rPr b="1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14)</a:t>
            </a:r>
            <a:r>
              <a:rPr b="1" lang="zh-TW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為穩定增效器輸入，而桿 </a:t>
            </a:r>
            <a:r>
              <a:rPr b="1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8 </a:t>
            </a:r>
            <a:r>
              <a:rPr b="1" lang="zh-TW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則為輸出桿。試討論這個機構在各種不同之輸入組合狀況下的自由度。 </a:t>
            </a:r>
            <a:r>
              <a:rPr b="1" lang="zh-TW" sz="1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 </a:t>
            </a:r>
            <a:endParaRPr b="1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103733640"/>
              </a:tabLst>
            </a:pPr>
            <a:r>
              <a:rPr b="1" lang="zh-TW" sz="1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 </a:t>
            </a:r>
            <a:endParaRPr b="1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103733640"/>
              </a:tabLst>
            </a:pPr>
            <a:r>
              <a:rPr b="1" lang="zh-TW" sz="1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 </a:t>
            </a:r>
            <a:endParaRPr b="1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103733640"/>
              </a:tabLst>
            </a:pPr>
            <a:r>
              <a:rPr b="1" lang="zh-TW" sz="1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 </a:t>
            </a:r>
            <a:endParaRPr b="1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103733640"/>
              </a:tabLst>
            </a:pPr>
            <a:r>
              <a:rPr b="1" lang="zh-TW" sz="1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 </a:t>
            </a:r>
            <a:endParaRPr b="1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103733640"/>
              </a:tabLst>
            </a:pPr>
            <a:r>
              <a:rPr b="1" lang="zh-TW" sz="1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 </a:t>
            </a:r>
            <a:endParaRPr b="1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103733640"/>
              </a:tabLst>
            </a:pPr>
            <a:r>
              <a:rPr b="1" lang="zh-TW" sz="1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 </a:t>
            </a:r>
            <a:endParaRPr b="1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103733640"/>
              </a:tabLst>
            </a:pPr>
            <a:r>
              <a:rPr b="1" lang="zh-TW" sz="1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 </a:t>
            </a:r>
            <a:endParaRPr b="1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103733640"/>
              </a:tabLst>
            </a:pPr>
            <a:r>
              <a:rPr b="1" lang="zh-TW" sz="1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 </a:t>
            </a:r>
            <a:endParaRPr b="1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103733640"/>
              </a:tabLst>
            </a:pPr>
            <a:r>
              <a:rPr b="1" lang="zh-TW" sz="1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 </a:t>
            </a:r>
            <a:endParaRPr b="1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103733640"/>
              </a:tabLst>
            </a:pPr>
            <a:r>
              <a:rPr b="1" lang="zh-TW" sz="1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 </a:t>
            </a:r>
            <a:endParaRPr b="1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103733640"/>
              </a:tabLst>
            </a:pPr>
            <a:r>
              <a:rPr b="1" lang="zh-TW" sz="1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 </a:t>
            </a:r>
            <a:endParaRPr b="1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103733640"/>
              </a:tabLst>
            </a:pPr>
            <a:r>
              <a:rPr b="1" lang="zh-TW" sz="1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 </a:t>
            </a:r>
            <a:endParaRPr b="1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103733640"/>
              </a:tabLst>
            </a:pPr>
            <a:r>
              <a:rPr b="1" lang="zh-TW" sz="1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 </a:t>
            </a:r>
            <a:endParaRPr b="1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103733640"/>
              </a:tabLst>
            </a:pPr>
            <a:endParaRPr b="1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103733640"/>
              </a:tabLst>
            </a:pPr>
            <a:endParaRPr b="1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103733640"/>
              </a:tabLst>
            </a:pPr>
            <a:endParaRPr b="1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103733640"/>
              </a:tabLst>
            </a:pPr>
            <a:r>
              <a:rPr b="1" lang="en-US" sz="3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                              </a:t>
            </a:r>
            <a:r>
              <a:rPr b="1" lang="zh-TW" sz="3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飛機水平尾翼操縱機構</a:t>
            </a:r>
            <a:endParaRPr b="1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25" name="" descr=""/>
          <p:cNvPicPr/>
          <p:nvPr/>
        </p:nvPicPr>
        <p:blipFill>
          <a:blip r:embed="rId2"/>
          <a:stretch/>
        </p:blipFill>
        <p:spPr>
          <a:xfrm>
            <a:off x="2916360" y="1916280"/>
            <a:ext cx="5948280" cy="3922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6" name="" descr=""/>
          <p:cNvPicPr/>
          <p:nvPr/>
        </p:nvPicPr>
        <p:blipFill>
          <a:blip r:embed="rId3"/>
          <a:stretch/>
        </p:blipFill>
        <p:spPr>
          <a:xfrm>
            <a:off x="0" y="4815000"/>
            <a:ext cx="3182760" cy="204768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"/>
          <p:cNvSpPr/>
          <p:nvPr/>
        </p:nvSpPr>
        <p:spPr>
          <a:xfrm>
            <a:off x="1116000" y="189000"/>
            <a:ext cx="7666200" cy="638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◎</a:t>
            </a:r>
            <a:r>
              <a:rPr b="1" lang="zh-TW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這個機構具有十四根連桿</a:t>
            </a:r>
            <a:r>
              <a:rPr b="1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(</a:t>
            </a:r>
            <a:r>
              <a:rPr b="1" lang="zh-TW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桿</a:t>
            </a:r>
            <a:r>
              <a:rPr b="1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1</a:t>
            </a:r>
            <a:r>
              <a:rPr b="1" lang="zh-TW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、</a:t>
            </a:r>
            <a:r>
              <a:rPr b="1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2</a:t>
            </a:r>
            <a:r>
              <a:rPr b="1" lang="zh-TW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、</a:t>
            </a:r>
            <a:r>
              <a:rPr b="1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3</a:t>
            </a:r>
            <a:r>
              <a:rPr b="1" lang="zh-TW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、</a:t>
            </a:r>
            <a:r>
              <a:rPr b="1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4</a:t>
            </a:r>
            <a:r>
              <a:rPr b="1" lang="zh-TW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、</a:t>
            </a:r>
            <a:r>
              <a:rPr b="1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5</a:t>
            </a:r>
            <a:r>
              <a:rPr b="1" lang="zh-TW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、</a:t>
            </a:r>
            <a:r>
              <a:rPr b="1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6</a:t>
            </a:r>
            <a:r>
              <a:rPr b="1" lang="zh-TW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、</a:t>
            </a:r>
            <a:r>
              <a:rPr b="1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7</a:t>
            </a:r>
            <a:r>
              <a:rPr b="1" lang="zh-TW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、</a:t>
            </a:r>
            <a:r>
              <a:rPr b="1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8</a:t>
            </a:r>
            <a:r>
              <a:rPr b="1" lang="zh-TW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、</a:t>
            </a:r>
            <a:r>
              <a:rPr b="1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9</a:t>
            </a:r>
            <a:r>
              <a:rPr b="1" lang="zh-TW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、</a:t>
            </a:r>
            <a:r>
              <a:rPr b="1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10</a:t>
            </a:r>
            <a:r>
              <a:rPr b="1" lang="zh-TW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、</a:t>
            </a:r>
            <a:r>
              <a:rPr b="1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11</a:t>
            </a:r>
            <a:r>
              <a:rPr b="1" lang="zh-TW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、</a:t>
            </a:r>
            <a:r>
              <a:rPr b="1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12</a:t>
            </a:r>
            <a:r>
              <a:rPr b="1" lang="zh-TW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、</a:t>
            </a:r>
            <a:r>
              <a:rPr b="1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13</a:t>
            </a:r>
            <a:r>
              <a:rPr b="1" lang="zh-TW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、</a:t>
            </a:r>
            <a:r>
              <a:rPr b="1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14)</a:t>
            </a:r>
            <a:r>
              <a:rPr b="1" lang="zh-TW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與十七個接頭</a:t>
            </a:r>
            <a:r>
              <a:rPr b="1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(</a:t>
            </a:r>
            <a:r>
              <a:rPr b="1" lang="zh-TW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接頭 </a:t>
            </a:r>
            <a:r>
              <a:rPr b="1" i="1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a</a:t>
            </a:r>
            <a:r>
              <a:rPr b="1" i="1" lang="en-US" sz="2000" strike="noStrike" u="none" baseline="-30000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o</a:t>
            </a:r>
            <a:r>
              <a:rPr b="1" i="1" lang="zh-TW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、</a:t>
            </a:r>
            <a:r>
              <a:rPr b="1" i="1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b</a:t>
            </a:r>
            <a:r>
              <a:rPr b="1" i="1" lang="en-US" sz="2000" strike="noStrike" u="none" baseline="-30000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o</a:t>
            </a:r>
            <a:r>
              <a:rPr b="1" i="1" lang="zh-TW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、</a:t>
            </a:r>
            <a:r>
              <a:rPr b="1" i="1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e</a:t>
            </a:r>
            <a:r>
              <a:rPr b="1" i="1" lang="en-US" sz="2000" strike="noStrike" u="none" baseline="-30000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o</a:t>
            </a:r>
            <a:r>
              <a:rPr b="1" i="1" lang="zh-TW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、</a:t>
            </a:r>
            <a:r>
              <a:rPr b="1" i="1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g</a:t>
            </a:r>
            <a:r>
              <a:rPr b="1" i="1" lang="en-US" sz="2000" strike="noStrike" u="none" baseline="-30000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o</a:t>
            </a:r>
            <a:r>
              <a:rPr b="1" i="1" lang="zh-TW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、</a:t>
            </a:r>
            <a:r>
              <a:rPr b="1" i="1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h</a:t>
            </a:r>
            <a:r>
              <a:rPr b="1" i="1" lang="en-US" sz="2000" strike="noStrike" u="none" baseline="-30000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o</a:t>
            </a:r>
            <a:r>
              <a:rPr b="1" i="1" lang="zh-TW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、</a:t>
            </a:r>
            <a:r>
              <a:rPr b="1" i="1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j</a:t>
            </a:r>
            <a:r>
              <a:rPr b="1" i="1" lang="en-US" sz="2000" strike="noStrike" u="none" baseline="-30000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o</a:t>
            </a:r>
            <a:r>
              <a:rPr b="1" i="1" lang="zh-TW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、</a:t>
            </a:r>
            <a:r>
              <a:rPr b="1" i="1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a</a:t>
            </a:r>
            <a:r>
              <a:rPr b="1" i="1" lang="zh-TW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、</a:t>
            </a:r>
            <a:r>
              <a:rPr b="1" i="1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b</a:t>
            </a:r>
            <a:r>
              <a:rPr b="1" i="1" lang="zh-TW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、</a:t>
            </a:r>
            <a:r>
              <a:rPr b="1" i="1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c</a:t>
            </a:r>
            <a:r>
              <a:rPr b="1" i="1" lang="zh-TW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、</a:t>
            </a:r>
            <a:r>
              <a:rPr b="1" i="1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d</a:t>
            </a:r>
            <a:r>
              <a:rPr b="1" i="1" lang="zh-TW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、</a:t>
            </a:r>
            <a:r>
              <a:rPr b="1" i="1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e</a:t>
            </a:r>
            <a:r>
              <a:rPr b="1" i="1" lang="zh-TW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、</a:t>
            </a:r>
            <a:r>
              <a:rPr b="1" i="1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f</a:t>
            </a:r>
            <a:r>
              <a:rPr b="1" i="1" lang="zh-TW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、</a:t>
            </a:r>
            <a:r>
              <a:rPr b="1" i="1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g</a:t>
            </a:r>
            <a:r>
              <a:rPr b="1" i="1" lang="zh-TW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、</a:t>
            </a:r>
            <a:r>
              <a:rPr b="1" i="1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h</a:t>
            </a:r>
            <a:r>
              <a:rPr b="1" i="1" lang="zh-TW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、</a:t>
            </a:r>
            <a:r>
              <a:rPr b="1" i="1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i</a:t>
            </a:r>
            <a:r>
              <a:rPr b="1" i="1" lang="zh-TW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、</a:t>
            </a:r>
            <a:r>
              <a:rPr b="1" i="1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j</a:t>
            </a:r>
            <a:r>
              <a:rPr b="1" i="1" lang="zh-TW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、 </a:t>
            </a:r>
            <a:r>
              <a:rPr b="1" i="1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k</a:t>
            </a:r>
            <a:r>
              <a:rPr b="1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)</a:t>
            </a:r>
            <a:r>
              <a:rPr b="1" lang="zh-TW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，為平面機構；其中，除接頭</a:t>
            </a:r>
            <a:r>
              <a:rPr b="1" i="1" lang="zh-TW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 </a:t>
            </a:r>
            <a:r>
              <a:rPr b="1" i="1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k </a:t>
            </a:r>
            <a:r>
              <a:rPr b="1" lang="zh-TW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為滑動對外，其餘皆為旋轉對，而接頭</a:t>
            </a:r>
            <a:r>
              <a:rPr b="1" i="1" lang="zh-TW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 </a:t>
            </a:r>
            <a:r>
              <a:rPr b="1" i="1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g </a:t>
            </a:r>
            <a:r>
              <a:rPr b="1" lang="zh-TW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為與桿 </a:t>
            </a:r>
            <a:r>
              <a:rPr b="1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8</a:t>
            </a:r>
            <a:r>
              <a:rPr b="1" lang="zh-TW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、桿 </a:t>
            </a:r>
            <a:r>
              <a:rPr b="1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9</a:t>
            </a:r>
            <a:r>
              <a:rPr b="1" lang="zh-TW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、以及桿 </a:t>
            </a:r>
            <a:r>
              <a:rPr b="1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13 </a:t>
            </a:r>
            <a:r>
              <a:rPr b="1" lang="zh-TW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附隨的複接頭。</a:t>
            </a:r>
            <a:endParaRPr b="1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zh-TW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 </a:t>
            </a:r>
            <a:endParaRPr b="1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zh-TW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◎當襟翼輸入</a:t>
            </a:r>
            <a:r>
              <a:rPr b="1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(</a:t>
            </a:r>
            <a:r>
              <a:rPr b="1" lang="zh-TW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輸入</a:t>
            </a:r>
            <a:r>
              <a:rPr b="1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II)</a:t>
            </a:r>
            <a:r>
              <a:rPr b="1" lang="zh-TW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不作用時，桿 </a:t>
            </a:r>
            <a:r>
              <a:rPr b="1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9</a:t>
            </a:r>
            <a:r>
              <a:rPr b="1" lang="zh-TW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、桿 </a:t>
            </a:r>
            <a:r>
              <a:rPr b="1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10</a:t>
            </a:r>
            <a:r>
              <a:rPr b="1" lang="zh-TW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、桿 </a:t>
            </a:r>
            <a:r>
              <a:rPr b="1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11</a:t>
            </a:r>
            <a:r>
              <a:rPr b="1" lang="zh-TW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、桿 </a:t>
            </a:r>
            <a:r>
              <a:rPr b="1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12</a:t>
            </a:r>
            <a:r>
              <a:rPr b="1" lang="zh-TW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、以及桿 </a:t>
            </a:r>
            <a:r>
              <a:rPr b="1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13 </a:t>
            </a:r>
            <a:r>
              <a:rPr b="1" lang="zh-TW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均不動而形同結構，接頭</a:t>
            </a:r>
            <a:r>
              <a:rPr b="1" i="1" lang="zh-TW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 </a:t>
            </a:r>
            <a:r>
              <a:rPr b="1" i="1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g </a:t>
            </a:r>
            <a:r>
              <a:rPr b="1" lang="zh-TW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成為固定軸樞。</a:t>
            </a:r>
            <a:endParaRPr b="1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zh-TW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 </a:t>
            </a:r>
            <a:endParaRPr b="1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zh-TW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◎當穩定增效器輸入</a:t>
            </a:r>
            <a:r>
              <a:rPr b="1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(</a:t>
            </a:r>
            <a:r>
              <a:rPr b="1" lang="zh-TW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輸入</a:t>
            </a:r>
            <a:r>
              <a:rPr b="1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III)</a:t>
            </a:r>
            <a:r>
              <a:rPr b="1" lang="zh-TW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不作用時，桿 </a:t>
            </a:r>
            <a:r>
              <a:rPr b="1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7 </a:t>
            </a:r>
            <a:r>
              <a:rPr b="1" lang="zh-TW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與桿 </a:t>
            </a:r>
            <a:r>
              <a:rPr b="1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14 </a:t>
            </a:r>
            <a:r>
              <a:rPr b="1" lang="zh-TW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可視同一定長的桿件 。</a:t>
            </a:r>
            <a:endParaRPr b="1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zh-TW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 </a:t>
            </a:r>
            <a:endParaRPr b="1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zh-TW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◎本機構依情況的不同，其輸入有下列四種組合：</a:t>
            </a:r>
            <a:endParaRPr b="1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zh-TW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 </a:t>
            </a:r>
            <a:endParaRPr b="1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en-US" sz="2000" strike="noStrike" u="none">
                <a:solidFill>
                  <a:srgbClr val="ff0000"/>
                </a:solidFill>
                <a:effectLst/>
                <a:uFillTx/>
                <a:latin typeface="Times New Roman"/>
                <a:ea typeface="標楷體"/>
              </a:rPr>
              <a:t>(1) </a:t>
            </a:r>
            <a:r>
              <a:rPr b="1" lang="zh-TW" sz="2000" strike="noStrike" u="none">
                <a:solidFill>
                  <a:srgbClr val="ff0000"/>
                </a:solidFill>
                <a:effectLst/>
                <a:uFillTx/>
                <a:latin typeface="Times New Roman"/>
                <a:ea typeface="標楷體"/>
              </a:rPr>
              <a:t>三個輸入同時作用</a:t>
            </a:r>
            <a:endParaRPr b="1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zh-TW" sz="1800" strike="noStrike" u="none">
                <a:solidFill>
                  <a:srgbClr val="ff0000"/>
                </a:solidFill>
                <a:effectLst/>
                <a:uFillTx/>
                <a:latin typeface="Times New Roman"/>
                <a:ea typeface="標楷體"/>
              </a:rPr>
              <a:t>     </a:t>
            </a:r>
            <a:endParaRPr b="1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zh-TW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      </a:t>
            </a:r>
            <a:r>
              <a:rPr b="1" lang="zh-TW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這個情況之下，機構有 </a:t>
            </a:r>
            <a:r>
              <a:rPr b="1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14 </a:t>
            </a:r>
            <a:r>
              <a:rPr b="1" lang="zh-TW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桿、</a:t>
            </a:r>
            <a:r>
              <a:rPr b="1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17 </a:t>
            </a:r>
            <a:r>
              <a:rPr b="1" lang="zh-TW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個旋轉對、</a:t>
            </a:r>
            <a:r>
              <a:rPr b="1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1 </a:t>
            </a:r>
            <a:r>
              <a:rPr b="1" lang="zh-TW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個滑動對；因此，</a:t>
            </a:r>
            <a:r>
              <a:rPr b="1" i="1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N</a:t>
            </a:r>
            <a:r>
              <a:rPr b="1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 = 14, </a:t>
            </a:r>
            <a:r>
              <a:rPr b="1" i="1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J</a:t>
            </a:r>
            <a:r>
              <a:rPr b="1" i="1" lang="en-US" sz="2000" strike="noStrike" u="none" baseline="-30000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R</a:t>
            </a:r>
            <a:r>
              <a:rPr b="1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 = 17, </a:t>
            </a:r>
            <a:r>
              <a:rPr b="1" i="1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J</a:t>
            </a:r>
            <a:r>
              <a:rPr b="1" i="1" lang="en-US" sz="2000" strike="noStrike" u="none" baseline="-30000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P</a:t>
            </a:r>
            <a:r>
              <a:rPr b="1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 = 1</a:t>
            </a:r>
            <a:r>
              <a:rPr b="1" lang="zh-TW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。根據式</a:t>
            </a:r>
            <a:r>
              <a:rPr b="1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(3-2)</a:t>
            </a:r>
            <a:r>
              <a:rPr b="1" lang="zh-TW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，機構的自由度為</a:t>
            </a:r>
            <a:r>
              <a:rPr b="1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:</a:t>
            </a:r>
            <a:r>
              <a:rPr b="1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	</a:t>
            </a:r>
            <a:endParaRPr b="1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 </a:t>
            </a:r>
            <a:endParaRPr b="1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	</a:t>
            </a:r>
            <a:r>
              <a:rPr b="1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          </a:t>
            </a:r>
            <a:r>
              <a:rPr b="1" i="1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F</a:t>
            </a:r>
            <a:r>
              <a:rPr b="1" i="1" lang="en-US" sz="2000" strike="noStrike" u="none" baseline="-30000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p</a:t>
            </a:r>
            <a:r>
              <a:rPr b="1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 = 3(</a:t>
            </a:r>
            <a:r>
              <a:rPr b="1" i="1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N</a:t>
            </a:r>
            <a:r>
              <a:rPr b="1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 - 1) - 2(</a:t>
            </a:r>
            <a:r>
              <a:rPr b="1" i="1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J</a:t>
            </a:r>
            <a:r>
              <a:rPr b="1" i="1" lang="en-US" sz="2000" strike="noStrike" u="none" baseline="-30000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R</a:t>
            </a:r>
            <a:r>
              <a:rPr b="1" lang="en-US" sz="2000" strike="noStrike" u="none" baseline="-30000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 </a:t>
            </a:r>
            <a:r>
              <a:rPr b="1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+ </a:t>
            </a:r>
            <a:r>
              <a:rPr b="1" i="1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J</a:t>
            </a:r>
            <a:r>
              <a:rPr b="1" i="1" lang="en-US" sz="2000" strike="noStrike" u="none" baseline="-30000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P</a:t>
            </a:r>
            <a:r>
              <a:rPr b="1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) = 3(14 - 1) - 2(17 + 1) = 3 </a:t>
            </a:r>
            <a:endParaRPr b="1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"/>
          <p:cNvSpPr/>
          <p:nvPr/>
        </p:nvSpPr>
        <p:spPr>
          <a:xfrm>
            <a:off x="944640" y="115920"/>
            <a:ext cx="7596000" cy="65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r" pos="533412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en-US" sz="2000" strike="noStrike" u="none">
                <a:solidFill>
                  <a:srgbClr val="ff0000"/>
                </a:solidFill>
                <a:effectLst/>
                <a:uFillTx/>
                <a:latin typeface="Times New Roman"/>
                <a:ea typeface="標楷體"/>
              </a:rPr>
              <a:t>(2) </a:t>
            </a:r>
            <a:r>
              <a:rPr b="1" lang="zh-TW" sz="2000" strike="noStrike" u="none">
                <a:solidFill>
                  <a:srgbClr val="ff0000"/>
                </a:solidFill>
                <a:effectLst/>
                <a:uFillTx/>
                <a:latin typeface="Times New Roman"/>
                <a:ea typeface="標楷體"/>
              </a:rPr>
              <a:t>僅操縱桿輸入與襟翼輸入作用</a:t>
            </a:r>
            <a:endParaRPr b="1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r" pos="533412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endParaRPr b="1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r" pos="533412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zh-TW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     此情況下，機構有 </a:t>
            </a:r>
            <a:r>
              <a:rPr b="1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13 </a:t>
            </a:r>
            <a:r>
              <a:rPr b="1" lang="zh-TW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桿、 </a:t>
            </a:r>
            <a:r>
              <a:rPr b="1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17 </a:t>
            </a:r>
            <a:r>
              <a:rPr b="1" lang="zh-TW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個旋轉對；因此，</a:t>
            </a:r>
            <a:r>
              <a:rPr b="1" i="1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N</a:t>
            </a:r>
            <a:r>
              <a:rPr b="1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  = 13</a:t>
            </a:r>
            <a:r>
              <a:rPr b="1" lang="zh-TW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，</a:t>
            </a:r>
            <a:r>
              <a:rPr b="1" i="1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J</a:t>
            </a:r>
            <a:r>
              <a:rPr b="1" i="1" lang="en-US" sz="2000" strike="noStrike" u="none" baseline="-30000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R</a:t>
            </a:r>
            <a:r>
              <a:rPr b="1" lang="en-US" sz="2000" strike="noStrike" u="none" baseline="-30000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 </a:t>
            </a:r>
            <a:r>
              <a:rPr b="1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 = 17</a:t>
            </a:r>
            <a:r>
              <a:rPr b="1" lang="zh-TW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。機構的自由度為</a:t>
            </a:r>
            <a:r>
              <a:rPr b="1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:</a:t>
            </a:r>
            <a:endParaRPr b="1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r" pos="533412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 </a:t>
            </a:r>
            <a:endParaRPr b="1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r" pos="533412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	</a:t>
            </a:r>
            <a:r>
              <a:rPr b="1" i="1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F</a:t>
            </a:r>
            <a:r>
              <a:rPr b="1" i="1" lang="en-US" sz="2000" strike="noStrike" u="none" baseline="-30000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p</a:t>
            </a:r>
            <a:r>
              <a:rPr b="1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 = 3(</a:t>
            </a:r>
            <a:r>
              <a:rPr b="1" i="1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N</a:t>
            </a:r>
            <a:r>
              <a:rPr b="1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 - 1) - 2</a:t>
            </a:r>
            <a:r>
              <a:rPr b="1" i="1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J</a:t>
            </a:r>
            <a:r>
              <a:rPr b="1" i="1" lang="en-US" sz="2000" strike="noStrike" u="none" baseline="-30000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R</a:t>
            </a:r>
            <a:r>
              <a:rPr b="1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 = 3(13 - 1) - 2(17) = 2</a:t>
            </a:r>
            <a:endParaRPr b="1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r" pos="533412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 </a:t>
            </a:r>
            <a:endParaRPr b="1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r" pos="533412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en-US" sz="2000" strike="noStrike" u="none">
                <a:solidFill>
                  <a:srgbClr val="ff0000"/>
                </a:solidFill>
                <a:effectLst/>
                <a:uFillTx/>
                <a:latin typeface="Times New Roman"/>
                <a:ea typeface="標楷體"/>
              </a:rPr>
              <a:t>(3) </a:t>
            </a:r>
            <a:r>
              <a:rPr b="1" lang="zh-TW" sz="2000" strike="noStrike" u="none">
                <a:solidFill>
                  <a:srgbClr val="ff0000"/>
                </a:solidFill>
                <a:effectLst/>
                <a:uFillTx/>
                <a:latin typeface="Times New Roman"/>
                <a:ea typeface="標楷體"/>
              </a:rPr>
              <a:t>僅操縱桿輸入與穩定增效器輸入作用</a:t>
            </a:r>
            <a:endParaRPr b="1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r" pos="533412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endParaRPr b="1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r" pos="533412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zh-TW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     此情況下，機構有 </a:t>
            </a:r>
            <a:r>
              <a:rPr b="1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9 </a:t>
            </a:r>
            <a:r>
              <a:rPr b="1" lang="zh-TW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桿、</a:t>
            </a:r>
            <a:r>
              <a:rPr b="1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10 </a:t>
            </a:r>
            <a:r>
              <a:rPr b="1" lang="zh-TW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個旋轉對、</a:t>
            </a:r>
            <a:r>
              <a:rPr b="1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1 </a:t>
            </a:r>
            <a:r>
              <a:rPr b="1" lang="zh-TW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個滑動對；因此，</a:t>
            </a:r>
            <a:r>
              <a:rPr b="1" i="1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N</a:t>
            </a:r>
            <a:r>
              <a:rPr b="1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  = 9</a:t>
            </a:r>
            <a:r>
              <a:rPr b="1" lang="zh-TW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，</a:t>
            </a:r>
            <a:r>
              <a:rPr b="1" i="1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J</a:t>
            </a:r>
            <a:r>
              <a:rPr b="1" i="1" lang="en-US" sz="2000" strike="noStrike" u="none" baseline="-30000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R</a:t>
            </a:r>
            <a:r>
              <a:rPr b="1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 = 10</a:t>
            </a:r>
            <a:r>
              <a:rPr b="1" lang="zh-TW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，</a:t>
            </a:r>
            <a:r>
              <a:rPr b="1" i="1" lang="zh-TW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 </a:t>
            </a:r>
            <a:r>
              <a:rPr b="1" i="1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J</a:t>
            </a:r>
            <a:r>
              <a:rPr b="1" i="1" lang="en-US" sz="2000" strike="noStrike" u="none" baseline="-30000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P</a:t>
            </a:r>
            <a:r>
              <a:rPr b="1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 = 1</a:t>
            </a:r>
            <a:r>
              <a:rPr b="1" lang="zh-TW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。機構的自由度為</a:t>
            </a:r>
            <a:r>
              <a:rPr b="1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:</a:t>
            </a:r>
            <a:r>
              <a:rPr b="1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	</a:t>
            </a:r>
            <a:endParaRPr b="1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r" pos="533412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 </a:t>
            </a:r>
            <a:endParaRPr b="1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r" pos="533412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	</a:t>
            </a:r>
            <a:r>
              <a:rPr b="1" i="1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F</a:t>
            </a:r>
            <a:r>
              <a:rPr b="1" i="1" lang="en-US" sz="2000" strike="noStrike" u="none" baseline="-30000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p</a:t>
            </a:r>
            <a:r>
              <a:rPr b="1" i="1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 = </a:t>
            </a:r>
            <a:r>
              <a:rPr b="1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3(</a:t>
            </a:r>
            <a:r>
              <a:rPr b="1" i="1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N</a:t>
            </a:r>
            <a:r>
              <a:rPr b="1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 - 1) - </a:t>
            </a:r>
            <a:r>
              <a:rPr b="1" i="1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2(J</a:t>
            </a:r>
            <a:r>
              <a:rPr b="1" i="1" lang="en-US" sz="2000" strike="noStrike" u="none" baseline="-30000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R </a:t>
            </a:r>
            <a:r>
              <a:rPr b="1" i="1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+ J</a:t>
            </a:r>
            <a:r>
              <a:rPr b="1" i="1" lang="en-US" sz="2000" strike="noStrike" u="none" baseline="-30000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P</a:t>
            </a:r>
            <a:r>
              <a:rPr b="1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) = 3(9 - 1) - 2(10 + 1) = 2</a:t>
            </a:r>
            <a:endParaRPr b="1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r" pos="533412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 </a:t>
            </a:r>
            <a:endParaRPr b="1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r" pos="533412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en-US" sz="2000" strike="noStrike" u="none">
                <a:solidFill>
                  <a:srgbClr val="ff0000"/>
                </a:solidFill>
                <a:effectLst/>
                <a:uFillTx/>
                <a:latin typeface="Times New Roman"/>
                <a:ea typeface="標楷體"/>
              </a:rPr>
              <a:t>(4) </a:t>
            </a:r>
            <a:r>
              <a:rPr b="1" lang="zh-TW" sz="2000" strike="noStrike" u="none">
                <a:solidFill>
                  <a:srgbClr val="ff0000"/>
                </a:solidFill>
                <a:effectLst/>
                <a:uFillTx/>
                <a:latin typeface="Times New Roman"/>
                <a:ea typeface="標楷體"/>
              </a:rPr>
              <a:t>僅操縱桿輸入作用</a:t>
            </a:r>
            <a:r>
              <a:rPr b="1" lang="zh-TW" sz="2000" strike="noStrike" u="sng">
                <a:solidFill>
                  <a:srgbClr val="ff0000"/>
                </a:solidFill>
                <a:effectLst/>
                <a:uFillTx/>
                <a:latin typeface="Times New Roman"/>
                <a:ea typeface="標楷體"/>
              </a:rPr>
              <a:t>  </a:t>
            </a:r>
            <a:r>
              <a:rPr b="1" lang="zh-TW" sz="2000" strike="noStrike" u="none">
                <a:solidFill>
                  <a:srgbClr val="ff0000"/>
                </a:solidFill>
                <a:effectLst/>
                <a:uFillTx/>
                <a:latin typeface="Times New Roman"/>
                <a:ea typeface="標楷體"/>
              </a:rPr>
              <a:t>                                     </a:t>
            </a:r>
            <a:endParaRPr b="1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r" pos="533412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                                                (</a:t>
            </a:r>
            <a:r>
              <a:rPr b="1" lang="en-US" sz="2000" strike="noStrike" u="none">
                <a:solidFill>
                  <a:srgbClr val="00b0f0"/>
                </a:solidFill>
                <a:effectLst/>
                <a:uFillTx/>
                <a:latin typeface="Times New Roman"/>
                <a:ea typeface="標楷體"/>
              </a:rPr>
              <a:t>a0,a,c,b,b0,d,g0,f,e,e0</a:t>
            </a:r>
            <a:r>
              <a:rPr b="1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)</a:t>
            </a:r>
            <a:endParaRPr b="1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r" pos="533412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zh-TW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     此情況下，機構有 </a:t>
            </a:r>
            <a:r>
              <a:rPr b="1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8 </a:t>
            </a:r>
            <a:r>
              <a:rPr b="1" lang="zh-TW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桿、</a:t>
            </a:r>
            <a:r>
              <a:rPr b="1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10 </a:t>
            </a:r>
            <a:r>
              <a:rPr b="1" lang="zh-TW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個旋轉對；因此，</a:t>
            </a:r>
            <a:r>
              <a:rPr b="1" i="1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N</a:t>
            </a:r>
            <a:r>
              <a:rPr b="1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 = 8</a:t>
            </a:r>
            <a:r>
              <a:rPr b="1" lang="zh-TW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，</a:t>
            </a:r>
            <a:r>
              <a:rPr b="1" i="1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J</a:t>
            </a:r>
            <a:r>
              <a:rPr b="1" i="1" lang="en-US" sz="2000" strike="noStrike" u="none" baseline="-30000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R</a:t>
            </a:r>
            <a:r>
              <a:rPr b="1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 = 10</a:t>
            </a:r>
            <a:r>
              <a:rPr b="1" lang="zh-TW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。機構的自由度為</a:t>
            </a:r>
            <a:r>
              <a:rPr b="1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:</a:t>
            </a:r>
            <a:endParaRPr b="1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r" pos="533412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 </a:t>
            </a:r>
            <a:endParaRPr b="1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r" pos="533412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	</a:t>
            </a:r>
            <a:r>
              <a:rPr b="1" i="1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F</a:t>
            </a:r>
            <a:r>
              <a:rPr b="1" i="1" lang="en-US" sz="2000" strike="noStrike" u="none" baseline="-30000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p</a:t>
            </a:r>
            <a:r>
              <a:rPr b="1" i="1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 = </a:t>
            </a:r>
            <a:r>
              <a:rPr b="1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3(</a:t>
            </a:r>
            <a:r>
              <a:rPr b="1" i="1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N</a:t>
            </a:r>
            <a:r>
              <a:rPr b="1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 - 1) - 2</a:t>
            </a:r>
            <a:r>
              <a:rPr b="1" i="1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J</a:t>
            </a:r>
            <a:r>
              <a:rPr b="1" i="1" lang="en-US" sz="2000" strike="noStrike" u="none" baseline="-30000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R</a:t>
            </a:r>
            <a:r>
              <a:rPr b="1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標楷體"/>
              </a:rPr>
              <a:t> = 3(8 - 1) - 2(10) = 1 </a:t>
            </a:r>
            <a:endParaRPr b="1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"/>
          <p:cNvSpPr/>
          <p:nvPr/>
        </p:nvSpPr>
        <p:spPr>
          <a:xfrm>
            <a:off x="1000080" y="0"/>
            <a:ext cx="7497720" cy="85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en-US" sz="4000" strike="noStrike" u="sng">
                <a:solidFill>
                  <a:srgbClr val="964305"/>
                </a:solidFill>
                <a:effectLst/>
                <a:uFillTx/>
                <a:latin typeface="Times New Roman"/>
                <a:ea typeface="標楷體"/>
              </a:rPr>
              <a:t>1.4</a:t>
            </a:r>
            <a:r>
              <a:rPr b="1" lang="zh-TW" sz="4000" strike="noStrike" u="none">
                <a:solidFill>
                  <a:srgbClr val="964305"/>
                </a:solidFill>
                <a:effectLst/>
                <a:uFillTx/>
                <a:latin typeface="Times New Roman"/>
                <a:ea typeface="標楷體"/>
              </a:rPr>
              <a:t>　應用實例</a:t>
            </a:r>
            <a:endParaRPr b="1" lang="en-US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"/>
          <p:cNvSpPr/>
          <p:nvPr/>
        </p:nvSpPr>
        <p:spPr>
          <a:xfrm>
            <a:off x="1143000" y="785880"/>
            <a:ext cx="8001000" cy="71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marL="365040" indent="-28260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buClr>
                <a:srgbClr val="3891a7"/>
              </a:buClr>
              <a:buSzPct val="80000"/>
              <a:buFont typeface="Wingdings" charset="2"/>
              <a:buChar char="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zh-TW" sz="3200" strike="noStrike" u="none">
                <a:solidFill>
                  <a:srgbClr val="000000"/>
                </a:solidFill>
                <a:effectLst/>
                <a:uFillTx/>
                <a:latin typeface="標楷體"/>
                <a:ea typeface="標楷體"/>
              </a:rPr>
              <a:t>汽車主要構造</a:t>
            </a:r>
            <a:endParaRPr b="1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1" name="" descr=""/>
          <p:cNvPicPr/>
          <p:nvPr/>
        </p:nvPicPr>
        <p:blipFill>
          <a:blip r:embed="rId2"/>
          <a:stretch/>
        </p:blipFill>
        <p:spPr>
          <a:xfrm>
            <a:off x="1160640" y="1557360"/>
            <a:ext cx="7732440" cy="501156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"/>
          <p:cNvSpPr/>
          <p:nvPr/>
        </p:nvSpPr>
        <p:spPr>
          <a:xfrm>
            <a:off x="1000080" y="0"/>
            <a:ext cx="7497720" cy="85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en-US" sz="4300" strike="noStrike" u="sng">
                <a:solidFill>
                  <a:srgbClr val="964305"/>
                </a:solidFill>
                <a:effectLst/>
                <a:uFillTx/>
                <a:latin typeface="Times New Roman"/>
                <a:ea typeface="標楷體"/>
              </a:rPr>
              <a:t>1.4</a:t>
            </a:r>
            <a:r>
              <a:rPr b="1" lang="zh-TW" sz="4300" strike="noStrike" u="none">
                <a:solidFill>
                  <a:srgbClr val="964305"/>
                </a:solidFill>
                <a:effectLst/>
                <a:uFillTx/>
                <a:latin typeface="Times New Roman"/>
                <a:ea typeface="標楷體"/>
              </a:rPr>
              <a:t>　應用實例</a:t>
            </a:r>
            <a:r>
              <a:rPr b="1" lang="en-US" sz="4300" strike="noStrike" u="none">
                <a:solidFill>
                  <a:srgbClr val="964305"/>
                </a:solidFill>
                <a:effectLst/>
                <a:uFillTx/>
                <a:latin typeface="Times New Roman"/>
                <a:ea typeface="標楷體"/>
              </a:rPr>
              <a:t>(</a:t>
            </a:r>
            <a:r>
              <a:rPr b="1" lang="zh-TW" sz="4300" strike="noStrike" u="none">
                <a:solidFill>
                  <a:srgbClr val="964305"/>
                </a:solidFill>
                <a:effectLst/>
                <a:uFillTx/>
                <a:latin typeface="Times New Roman"/>
                <a:ea typeface="標楷體"/>
              </a:rPr>
              <a:t>續</a:t>
            </a:r>
            <a:r>
              <a:rPr b="1" lang="en-US" sz="4300" strike="noStrike" u="none">
                <a:solidFill>
                  <a:srgbClr val="964305"/>
                </a:solidFill>
                <a:effectLst/>
                <a:uFillTx/>
                <a:latin typeface="Times New Roman"/>
                <a:ea typeface="標楷體"/>
              </a:rPr>
              <a:t>)</a:t>
            </a:r>
            <a:endParaRPr b="1" lang="en-US" sz="4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"/>
          <p:cNvSpPr/>
          <p:nvPr/>
        </p:nvSpPr>
        <p:spPr>
          <a:xfrm>
            <a:off x="1143000" y="785880"/>
            <a:ext cx="8001000" cy="71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marL="365040" indent="-28260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buClr>
                <a:srgbClr val="3891a7"/>
              </a:buClr>
              <a:buSzPct val="80000"/>
              <a:buFont typeface="Wingdings" charset="2"/>
              <a:buChar char="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zh-TW" sz="3200" strike="noStrike" u="none">
                <a:solidFill>
                  <a:srgbClr val="000000"/>
                </a:solidFill>
                <a:effectLst/>
                <a:uFillTx/>
                <a:latin typeface="標楷體"/>
                <a:ea typeface="標楷體"/>
              </a:rPr>
              <a:t>拳擊賽的遊樂機械</a:t>
            </a:r>
            <a:r>
              <a:rPr b="1" lang="en-US" sz="3200" strike="noStrike" u="none">
                <a:solidFill>
                  <a:srgbClr val="000000"/>
                </a:solidFill>
                <a:effectLst/>
                <a:uFillTx/>
                <a:latin typeface="標楷體"/>
                <a:ea typeface="標楷體"/>
              </a:rPr>
              <a:t>--</a:t>
            </a:r>
            <a:r>
              <a:rPr b="1" lang="zh-TW" sz="3200" strike="noStrike" u="none">
                <a:solidFill>
                  <a:srgbClr val="000000"/>
                </a:solidFill>
                <a:effectLst/>
                <a:uFillTx/>
                <a:latin typeface="標楷體"/>
                <a:ea typeface="標楷體"/>
              </a:rPr>
              <a:t>無拘束運動鏈之一例</a:t>
            </a:r>
            <a:endParaRPr b="1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"/>
          <p:cNvSpPr/>
          <p:nvPr/>
        </p:nvSpPr>
        <p:spPr>
          <a:xfrm>
            <a:off x="6866280" y="1268280"/>
            <a:ext cx="183168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lvl="2" marL="914400">
              <a:lnSpc>
                <a:spcPct val="100000"/>
              </a:lnSpc>
              <a:spcBef>
                <a:spcPts val="462"/>
              </a:spcBef>
              <a:spcAft>
                <a:spcPts val="11"/>
              </a:spcAft>
              <a:buClr>
                <a:srgbClr val="feb80a"/>
              </a:buClr>
              <a:buFont typeface="Arial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en-US" sz="1800" strike="noStrike" u="none">
                <a:solidFill>
                  <a:srgbClr val="c00000"/>
                </a:solidFill>
                <a:effectLst/>
                <a:uFillTx/>
                <a:latin typeface="Arial"/>
                <a:ea typeface="新細明體"/>
              </a:rPr>
              <a:t>PLAY</a:t>
            </a:r>
            <a:endParaRPr b="1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5" name="" descr=""/>
          <p:cNvPicPr/>
          <p:nvPr/>
        </p:nvPicPr>
        <p:blipFill>
          <a:blip r:embed="rId2"/>
          <a:stretch/>
        </p:blipFill>
        <p:spPr>
          <a:xfrm>
            <a:off x="3095640" y="1519200"/>
            <a:ext cx="3421080" cy="442440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"/>
          <p:cNvSpPr/>
          <p:nvPr/>
        </p:nvSpPr>
        <p:spPr>
          <a:xfrm>
            <a:off x="3635280" y="6093000"/>
            <a:ext cx="115092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888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en-US" sz="3000" strike="noStrike" u="none">
                <a:solidFill>
                  <a:srgbClr val="000000"/>
                </a:solidFill>
                <a:effectLst/>
                <a:uFillTx/>
                <a:latin typeface="Arial"/>
                <a:ea typeface="新細明體"/>
              </a:rPr>
              <a:t>END</a:t>
            </a:r>
            <a:endParaRPr b="1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"/>
          <p:cNvSpPr/>
          <p:nvPr/>
        </p:nvSpPr>
        <p:spPr>
          <a:xfrm>
            <a:off x="1000080" y="857160"/>
            <a:ext cx="8001000" cy="71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marL="365040" indent="-28260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buClr>
                <a:srgbClr val="3891a7"/>
              </a:buClr>
              <a:buSzPct val="80000"/>
              <a:buFont typeface="Wingdings" charset="2"/>
              <a:buChar char="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zh-TW" sz="3200" strike="noStrike" u="none">
                <a:solidFill>
                  <a:srgbClr val="000000"/>
                </a:solidFill>
                <a:effectLst/>
                <a:uFillTx/>
                <a:latin typeface="標楷體"/>
                <a:ea typeface="標楷體"/>
              </a:rPr>
              <a:t>搖動自行車</a:t>
            </a:r>
            <a:endParaRPr b="1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"/>
          <p:cNvSpPr/>
          <p:nvPr/>
        </p:nvSpPr>
        <p:spPr>
          <a:xfrm>
            <a:off x="1000080" y="0"/>
            <a:ext cx="7497720" cy="85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en-US" sz="4300" strike="noStrike" u="sng">
                <a:solidFill>
                  <a:srgbClr val="964305"/>
                </a:solidFill>
                <a:effectLst/>
                <a:uFillTx/>
                <a:latin typeface="Times New Roman"/>
                <a:ea typeface="標楷體"/>
              </a:rPr>
              <a:t>1.4</a:t>
            </a:r>
            <a:r>
              <a:rPr b="1" lang="zh-TW" sz="4300" strike="noStrike" u="none">
                <a:solidFill>
                  <a:srgbClr val="964305"/>
                </a:solidFill>
                <a:effectLst/>
                <a:uFillTx/>
                <a:latin typeface="Times New Roman"/>
                <a:ea typeface="標楷體"/>
              </a:rPr>
              <a:t>　應用實例</a:t>
            </a:r>
            <a:r>
              <a:rPr b="1" lang="en-US" sz="4300" strike="noStrike" u="none">
                <a:solidFill>
                  <a:srgbClr val="964305"/>
                </a:solidFill>
                <a:effectLst/>
                <a:uFillTx/>
                <a:latin typeface="Times New Roman"/>
                <a:ea typeface="標楷體"/>
              </a:rPr>
              <a:t>(</a:t>
            </a:r>
            <a:r>
              <a:rPr b="1" lang="zh-TW" sz="4300" strike="noStrike" u="none">
                <a:solidFill>
                  <a:srgbClr val="964305"/>
                </a:solidFill>
                <a:effectLst/>
                <a:uFillTx/>
                <a:latin typeface="Times New Roman"/>
                <a:ea typeface="標楷體"/>
              </a:rPr>
              <a:t>續</a:t>
            </a:r>
            <a:r>
              <a:rPr b="1" lang="en-US" sz="4300" strike="noStrike" u="none">
                <a:solidFill>
                  <a:srgbClr val="964305"/>
                </a:solidFill>
                <a:effectLst/>
                <a:uFillTx/>
                <a:latin typeface="Times New Roman"/>
                <a:ea typeface="標楷體"/>
              </a:rPr>
              <a:t>)</a:t>
            </a:r>
            <a:endParaRPr b="1" lang="en-US" sz="4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"/>
          <p:cNvSpPr/>
          <p:nvPr/>
        </p:nvSpPr>
        <p:spPr>
          <a:xfrm>
            <a:off x="6216840" y="1052640"/>
            <a:ext cx="183168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lvl="2" marL="914400">
              <a:lnSpc>
                <a:spcPct val="100000"/>
              </a:lnSpc>
              <a:spcBef>
                <a:spcPts val="462"/>
              </a:spcBef>
              <a:spcAft>
                <a:spcPts val="11"/>
              </a:spcAft>
              <a:buClr>
                <a:srgbClr val="feb80a"/>
              </a:buClr>
              <a:buFont typeface="Arial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en-US" sz="1800" strike="noStrike" u="none">
                <a:solidFill>
                  <a:srgbClr val="c00000"/>
                </a:solidFill>
                <a:effectLst/>
                <a:uFillTx/>
                <a:latin typeface="Arial"/>
                <a:ea typeface="新細明體"/>
              </a:rPr>
              <a:t>PLAY</a:t>
            </a:r>
            <a:endParaRPr b="1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0" name="" descr=""/>
          <p:cNvPicPr/>
          <p:nvPr/>
        </p:nvPicPr>
        <p:blipFill>
          <a:blip r:embed="rId2"/>
          <a:stretch/>
        </p:blipFill>
        <p:spPr>
          <a:xfrm>
            <a:off x="2019240" y="1914480"/>
            <a:ext cx="5951520" cy="353052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"/>
          <p:cNvSpPr/>
          <p:nvPr/>
        </p:nvSpPr>
        <p:spPr>
          <a:xfrm>
            <a:off x="633240" y="5046840"/>
            <a:ext cx="800100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en-US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標楷體"/>
              </a:rPr>
              <a:t>                     </a:t>
            </a:r>
            <a:r>
              <a:rPr b="1" lang="zh-TW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標楷體"/>
              </a:rPr>
              <a:t>圖 </a:t>
            </a:r>
            <a:r>
              <a:rPr b="1" lang="en-US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標楷體"/>
              </a:rPr>
              <a:t>2-2  </a:t>
            </a:r>
            <a:r>
              <a:rPr b="1" lang="zh-TW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標楷體"/>
              </a:rPr>
              <a:t>引擎機構</a:t>
            </a:r>
            <a:r>
              <a:rPr b="1" lang="en-US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標楷體"/>
              </a:rPr>
              <a:t>(</a:t>
            </a:r>
            <a:r>
              <a:rPr b="1" lang="zh-TW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標楷體"/>
              </a:rPr>
              <a:t>平面</a:t>
            </a:r>
            <a:r>
              <a:rPr b="1" lang="zh-TW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標楷體"/>
              </a:rPr>
              <a:t>機構</a:t>
            </a:r>
            <a:r>
              <a:rPr b="1" lang="en-US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標楷體"/>
              </a:rPr>
              <a:t>)</a:t>
            </a:r>
            <a:r>
              <a:rPr b="1" lang="en-US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標楷體"/>
              </a:rPr>
              <a:t>	</a:t>
            </a:r>
            <a:r>
              <a:rPr b="1" lang="en-US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標楷體"/>
              </a:rPr>
              <a:t>	</a:t>
            </a:r>
            <a:r>
              <a:rPr b="1" lang="en-US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標楷體"/>
              </a:rPr>
              <a:t>	</a:t>
            </a:r>
            <a:r>
              <a:rPr b="1" lang="en-US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標楷體"/>
              </a:rPr>
              <a:t>	</a:t>
            </a:r>
            <a:r>
              <a:rPr b="1" lang="en-US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標楷體"/>
              </a:rPr>
              <a:t>        </a:t>
            </a:r>
            <a:r>
              <a:rPr b="1" lang="zh-TW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標楷體"/>
              </a:rPr>
              <a:t>圖 </a:t>
            </a:r>
            <a:r>
              <a:rPr b="1" lang="en-US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標楷體"/>
              </a:rPr>
              <a:t>2-3  </a:t>
            </a:r>
            <a:r>
              <a:rPr b="1" lang="zh-TW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標楷體"/>
              </a:rPr>
              <a:t>動力鋸機構 </a:t>
            </a:r>
            <a:r>
              <a:rPr b="1" lang="en-US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標楷體"/>
              </a:rPr>
              <a:t>(</a:t>
            </a:r>
            <a:r>
              <a:rPr b="1" lang="zh-TW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標楷體"/>
              </a:rPr>
              <a:t>空間</a:t>
            </a:r>
            <a:r>
              <a:rPr b="1" lang="zh-TW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標楷體"/>
              </a:rPr>
              <a:t>機構</a:t>
            </a:r>
            <a:r>
              <a:rPr b="1" lang="zh-TW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標楷體"/>
              </a:rPr>
              <a:t> </a:t>
            </a:r>
            <a:r>
              <a:rPr b="1" lang="en-US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標楷體"/>
              </a:rPr>
              <a:t>)</a:t>
            </a:r>
            <a:endParaRPr b="1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2" name="" descr=""/>
          <p:cNvPicPr/>
          <p:nvPr/>
        </p:nvPicPr>
        <p:blipFill>
          <a:blip r:embed="rId2"/>
          <a:srcRect l="0" t="0" r="0" b="1820"/>
          <a:stretch/>
        </p:blipFill>
        <p:spPr>
          <a:xfrm>
            <a:off x="716040" y="2631960"/>
            <a:ext cx="3587760" cy="1920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3" name=""/>
          <p:cNvSpPr/>
          <p:nvPr/>
        </p:nvSpPr>
        <p:spPr>
          <a:xfrm>
            <a:off x="4324320" y="6242040"/>
            <a:ext cx="40680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en-US" sz="700" strike="noStrike" u="none">
                <a:solidFill>
                  <a:srgbClr val="000000"/>
                </a:solidFill>
                <a:effectLst/>
                <a:uFillTx/>
                <a:latin typeface="Arial"/>
                <a:ea typeface="標楷體"/>
              </a:rPr>
              <a:t>02-06</a:t>
            </a:r>
            <a:endParaRPr b="1" lang="en-US" sz="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4" name="" descr=""/>
          <p:cNvPicPr/>
          <p:nvPr/>
        </p:nvPicPr>
        <p:blipFill>
          <a:blip r:embed="rId3"/>
          <a:stretch/>
        </p:blipFill>
        <p:spPr>
          <a:xfrm>
            <a:off x="4836960" y="2830680"/>
            <a:ext cx="3587760" cy="1822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45" name="" descr=""/>
          <p:cNvPicPr/>
          <p:nvPr/>
        </p:nvPicPr>
        <p:blipFill>
          <a:blip r:embed="rId4"/>
          <a:stretch/>
        </p:blipFill>
        <p:spPr>
          <a:xfrm>
            <a:off x="5219640" y="19080"/>
            <a:ext cx="3114720" cy="283356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"/>
          <p:cNvSpPr/>
          <p:nvPr/>
        </p:nvSpPr>
        <p:spPr>
          <a:xfrm>
            <a:off x="1434960" y="274680"/>
            <a:ext cx="7499520" cy="11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zh-TW" sz="4300" strike="noStrike" u="none">
                <a:solidFill>
                  <a:srgbClr val="572314"/>
                </a:solidFill>
                <a:effectLst/>
                <a:uFillTx/>
                <a:latin typeface="Gill Sans MT"/>
                <a:ea typeface="微軟正黑體"/>
              </a:rPr>
              <a:t>影片連結</a:t>
            </a:r>
            <a:endParaRPr b="1" lang="en-US" sz="4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"/>
          <p:cNvSpPr/>
          <p:nvPr/>
        </p:nvSpPr>
        <p:spPr>
          <a:xfrm>
            <a:off x="1434960" y="1447920"/>
            <a:ext cx="7499520" cy="480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marL="365040" indent="-28260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buClr>
                <a:srgbClr val="3891a7"/>
              </a:buClr>
              <a:buSzPct val="80000"/>
              <a:buFont typeface="Wingdings 2" charset="2"/>
              <a:buChar char="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en-US" sz="3200" strike="noStrike" u="none">
                <a:solidFill>
                  <a:srgbClr val="00479d"/>
                </a:solidFill>
                <a:effectLst/>
                <a:uFillTx/>
                <a:latin typeface="Times New Roman"/>
                <a:ea typeface="標楷體"/>
              </a:rPr>
              <a:t>1.</a:t>
            </a:r>
            <a:r>
              <a:rPr b="1" lang="zh-TW" sz="3200" strike="noStrike" u="none">
                <a:solidFill>
                  <a:srgbClr val="00479d"/>
                </a:solidFill>
                <a:effectLst/>
                <a:uFillTx/>
                <a:latin typeface="Times New Roman"/>
                <a:ea typeface="標楷體"/>
              </a:rPr>
              <a:t>固定機件</a:t>
            </a:r>
            <a:endParaRPr b="1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5040" indent="-28260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buClr>
                <a:srgbClr val="3891a7"/>
              </a:buClr>
              <a:buSzPct val="80000"/>
              <a:buFont typeface="Wingdings 2" charset="2"/>
              <a:buChar char="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en-US" sz="3200" strike="noStrike" u="none">
                <a:solidFill>
                  <a:srgbClr val="00479d"/>
                </a:solidFill>
                <a:effectLst/>
                <a:uFillTx/>
                <a:latin typeface="Times New Roman"/>
                <a:ea typeface="標楷體"/>
              </a:rPr>
              <a:t>2.</a:t>
            </a:r>
            <a:r>
              <a:rPr b="1" lang="zh-TW" sz="3200" strike="noStrike" u="none">
                <a:solidFill>
                  <a:srgbClr val="00479d"/>
                </a:solidFill>
                <a:effectLst/>
                <a:uFillTx/>
                <a:latin typeface="Times New Roman"/>
                <a:ea typeface="標楷體"/>
              </a:rPr>
              <a:t>機構</a:t>
            </a:r>
            <a:endParaRPr b="1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5040" indent="-28260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buClr>
                <a:srgbClr val="3891a7"/>
              </a:buClr>
              <a:buSzPct val="80000"/>
              <a:buFont typeface="Wingdings 2" charset="2"/>
              <a:buChar char="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en-US" sz="3200" strike="noStrike" u="none">
                <a:solidFill>
                  <a:srgbClr val="00479d"/>
                </a:solidFill>
                <a:effectLst/>
                <a:uFillTx/>
                <a:latin typeface="Times New Roman"/>
                <a:ea typeface="標楷體"/>
              </a:rPr>
              <a:t>3.</a:t>
            </a:r>
            <a:r>
              <a:rPr b="1" lang="zh-TW" sz="3200" strike="noStrike" u="none">
                <a:solidFill>
                  <a:srgbClr val="00479d"/>
                </a:solidFill>
                <a:effectLst/>
                <a:uFillTx/>
                <a:latin typeface="Times New Roman"/>
                <a:ea typeface="標楷體"/>
              </a:rPr>
              <a:t>自由度</a:t>
            </a:r>
            <a:endParaRPr b="1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5040" indent="-28260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buClr>
                <a:srgbClr val="3891a7"/>
              </a:buClr>
              <a:buSzPct val="80000"/>
              <a:buFont typeface="Wingdings 2" charset="2"/>
              <a:buChar char="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en-US" sz="3200" strike="noStrike" u="none">
                <a:solidFill>
                  <a:srgbClr val="00479d"/>
                </a:solidFill>
                <a:effectLst/>
                <a:uFillTx/>
                <a:latin typeface="Times New Roman"/>
                <a:ea typeface="標楷體"/>
              </a:rPr>
              <a:t>4.</a:t>
            </a:r>
            <a:r>
              <a:rPr b="1" lang="zh-TW" sz="3200" strike="noStrike" u="none">
                <a:solidFill>
                  <a:srgbClr val="00479d"/>
                </a:solidFill>
                <a:effectLst/>
                <a:uFillTx/>
                <a:latin typeface="Times New Roman"/>
                <a:ea typeface="標楷體"/>
              </a:rPr>
              <a:t>自由度</a:t>
            </a:r>
            <a:endParaRPr b="1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5040" indent="-28260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buClr>
                <a:srgbClr val="3891a7"/>
              </a:buClr>
              <a:buSzPct val="80000"/>
              <a:buFont typeface="Wingdings 2" charset="2"/>
              <a:buChar char="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en-US" sz="3200" strike="noStrike" u="none">
                <a:solidFill>
                  <a:srgbClr val="00479d"/>
                </a:solidFill>
                <a:effectLst/>
                <a:uFillTx/>
                <a:latin typeface="Times New Roman"/>
                <a:ea typeface="標楷體"/>
              </a:rPr>
              <a:t>5.</a:t>
            </a:r>
            <a:r>
              <a:rPr b="1" lang="zh-TW" sz="3200" strike="noStrike" u="none">
                <a:solidFill>
                  <a:srgbClr val="00479d"/>
                </a:solidFill>
                <a:effectLst/>
                <a:uFillTx/>
                <a:latin typeface="Times New Roman"/>
                <a:ea typeface="標楷體"/>
              </a:rPr>
              <a:t>無拘束鏈</a:t>
            </a:r>
            <a:endParaRPr b="1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5040" indent="-28260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endParaRPr b="1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"/>
          <p:cNvSpPr/>
          <p:nvPr/>
        </p:nvSpPr>
        <p:spPr>
          <a:xfrm>
            <a:off x="1434960" y="274680"/>
            <a:ext cx="7499520" cy="11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1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"/>
          <p:cNvSpPr/>
          <p:nvPr/>
        </p:nvSpPr>
        <p:spPr>
          <a:xfrm>
            <a:off x="3780000" y="2924280"/>
            <a:ext cx="1511280" cy="72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marL="365040" indent="-282600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buClr>
                <a:srgbClr val="3891a7"/>
              </a:buClr>
              <a:buSzPct val="81000"/>
              <a:buFont typeface="Wingdings 2" charset="2"/>
              <a:buChar char="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515600"/>
              </a:tabLst>
            </a:pPr>
            <a:r>
              <a:rPr b="1" lang="en-US" sz="3200" strike="noStrike" u="none">
                <a:solidFill>
                  <a:srgbClr val="000000"/>
                </a:solidFill>
                <a:effectLst/>
                <a:uFillTx/>
                <a:latin typeface="Gill Sans MT"/>
                <a:ea typeface="微軟正黑體"/>
              </a:rPr>
              <a:t>FIN</a:t>
            </a:r>
            <a:endParaRPr b="1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1654</TotalTime>
  <Application>LibreOffice/25.8.1.1$Linux_X86_64 LibreOffice_project/580$Build-1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2008-09-15T23:20:57Z</dcterms:created>
  <dc:creator>TIGER-XP</dc:creator>
  <dc:description/>
  <dc:language>en-US</dc:language>
  <cp:lastModifiedBy/>
  <dcterms:modified xsi:type="dcterms:W3CDTF">2025-09-17T14:56:34Z</dcterms:modified>
  <cp:revision>110</cp:revision>
  <dc:subject/>
  <dc:title>投影片 1</dc:title>
</cp:coreProperties>
</file>